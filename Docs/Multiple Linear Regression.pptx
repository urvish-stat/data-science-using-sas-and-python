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 id="2147483660" r:id="rId2"/>
  </p:sldMasterIdLst>
  <p:notesMasterIdLst>
    <p:notesMasterId r:id="rId31"/>
  </p:notesMasterIdLst>
  <p:sldIdLst>
    <p:sldId id="297" r:id="rId3"/>
    <p:sldId id="257" r:id="rId4"/>
    <p:sldId id="298" r:id="rId5"/>
    <p:sldId id="299" r:id="rId6"/>
    <p:sldId id="300" r:id="rId7"/>
    <p:sldId id="301" r:id="rId8"/>
    <p:sldId id="302" r:id="rId9"/>
    <p:sldId id="303" r:id="rId10"/>
    <p:sldId id="304" r:id="rId11"/>
    <p:sldId id="305" r:id="rId12"/>
    <p:sldId id="306" r:id="rId13"/>
    <p:sldId id="307" r:id="rId14"/>
    <p:sldId id="294" r:id="rId15"/>
    <p:sldId id="308" r:id="rId16"/>
    <p:sldId id="309" r:id="rId17"/>
    <p:sldId id="310" r:id="rId18"/>
    <p:sldId id="311" r:id="rId19"/>
    <p:sldId id="313" r:id="rId20"/>
    <p:sldId id="314" r:id="rId21"/>
    <p:sldId id="315" r:id="rId22"/>
    <p:sldId id="316" r:id="rId23"/>
    <p:sldId id="317" r:id="rId24"/>
    <p:sldId id="318" r:id="rId25"/>
    <p:sldId id="319" r:id="rId26"/>
    <p:sldId id="320" r:id="rId27"/>
    <p:sldId id="321" r:id="rId28"/>
    <p:sldId id="322" r:id="rId29"/>
    <p:sldId id="27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autoAdjust="0"/>
    <p:restoredTop sz="91499" autoAdjust="0"/>
  </p:normalViewPr>
  <p:slideViewPr>
    <p:cSldViewPr snapToGrid="0">
      <p:cViewPr varScale="1">
        <p:scale>
          <a:sx n="79" d="100"/>
          <a:sy n="79" d="100"/>
        </p:scale>
        <p:origin x="821"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C100F-DE61-4D54-8450-A9B8CE5023B1}" type="datetimeFigureOut">
              <a:rPr lang="en-US" smtClean="0"/>
              <a:t>7/29/2020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39B35-E5C0-4422-AAF8-BFFA2F238F42}" type="slidenum">
              <a:rPr lang="en-US" smtClean="0"/>
              <a:t>‹#›</a:t>
            </a:fld>
            <a:endParaRPr lang="en-US"/>
          </a:p>
        </p:txBody>
      </p:sp>
    </p:spTree>
    <p:extLst>
      <p:ext uri="{BB962C8B-B14F-4D97-AF65-F5344CB8AC3E}">
        <p14:creationId xmlns:p14="http://schemas.microsoft.com/office/powerpoint/2010/main" val="4084085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692150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11106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749100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283615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7/29/2020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47436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7/29/2020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73286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7/29/2020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32205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123073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35642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90941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21248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43871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21680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846619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8468DF-067B-4708-BF4E-888660123DFC}" type="datetimeFigureOut">
              <a:rPr lang="en-US" smtClean="0"/>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661528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8468DF-067B-4708-BF4E-888660123DFC}" type="datetimeFigureOut">
              <a:rPr lang="en-US" smtClean="0"/>
              <a:t>7/29/2020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53905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8468DF-067B-4708-BF4E-888660123DFC}" type="datetimeFigureOut">
              <a:rPr lang="en-US" smtClean="0"/>
              <a:t>7/29/2020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4185988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8468DF-067B-4708-BF4E-888660123DFC}" type="datetimeFigureOut">
              <a:rPr lang="en-US" smtClean="0"/>
              <a:t>7/29/2020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075774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1016792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8468DF-067B-4708-BF4E-888660123DFC}" type="datetimeFigureOut">
              <a:rPr lang="en-US" smtClean="0"/>
              <a:t>7/29/2020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1915701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35000533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8468DF-067B-4708-BF4E-888660123DFC}" type="datetimeFigureOut">
              <a:rPr lang="en-US" smtClean="0"/>
              <a:t>7/29/2020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3308E4-E9C4-4172-8EDE-CEB6C8BD43E6}" type="slidenum">
              <a:rPr lang="en-US" smtClean="0"/>
              <a:t>‹#›</a:t>
            </a:fld>
            <a:endParaRPr lang="en-US"/>
          </a:p>
        </p:txBody>
      </p:sp>
    </p:spTree>
    <p:extLst>
      <p:ext uri="{BB962C8B-B14F-4D97-AF65-F5344CB8AC3E}">
        <p14:creationId xmlns:p14="http://schemas.microsoft.com/office/powerpoint/2010/main" val="251750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7/29/2020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421790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468DF-067B-4708-BF4E-888660123DFC}" type="datetimeFigureOut">
              <a:rPr lang="en-US" smtClean="0"/>
              <a:t>7/29/2020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308E4-E9C4-4172-8EDE-CEB6C8BD43E6}" type="slidenum">
              <a:rPr lang="en-US" smtClean="0"/>
              <a:t>‹#›</a:t>
            </a:fld>
            <a:endParaRPr lang="en-US"/>
          </a:p>
        </p:txBody>
      </p:sp>
    </p:spTree>
    <p:extLst>
      <p:ext uri="{BB962C8B-B14F-4D97-AF65-F5344CB8AC3E}">
        <p14:creationId xmlns:p14="http://schemas.microsoft.com/office/powerpoint/2010/main" val="3291980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42647" y="2356163"/>
            <a:ext cx="9144000" cy="2092745"/>
          </a:xfrm>
        </p:spPr>
        <p:txBody>
          <a:bodyPr>
            <a:noAutofit/>
          </a:bodyPr>
          <a:lstStyle/>
          <a:p>
            <a:r>
              <a:rPr lang="en-US" sz="8000" dirty="0"/>
              <a:t>Multiple Linear Regression</a:t>
            </a:r>
          </a:p>
        </p:txBody>
      </p:sp>
    </p:spTree>
    <p:extLst>
      <p:ext uri="{BB962C8B-B14F-4D97-AF65-F5344CB8AC3E}">
        <p14:creationId xmlns:p14="http://schemas.microsoft.com/office/powerpoint/2010/main" val="1428881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447A3C00-4FB2-4D3F-9053-D5FB3CF7BCC9}"/>
              </a:ext>
            </a:extLst>
          </p:cNvPr>
          <p:cNvPicPr>
            <a:picLocks noChangeAspect="1"/>
          </p:cNvPicPr>
          <p:nvPr/>
        </p:nvPicPr>
        <p:blipFill>
          <a:blip r:embed="rId2"/>
          <a:stretch>
            <a:fillRect/>
          </a:stretch>
        </p:blipFill>
        <p:spPr>
          <a:xfrm>
            <a:off x="838199" y="1880376"/>
            <a:ext cx="10515599" cy="4131318"/>
          </a:xfrm>
          <a:prstGeom prst="rect">
            <a:avLst/>
          </a:prstGeom>
        </p:spPr>
      </p:pic>
    </p:spTree>
    <p:extLst>
      <p:ext uri="{BB962C8B-B14F-4D97-AF65-F5344CB8AC3E}">
        <p14:creationId xmlns:p14="http://schemas.microsoft.com/office/powerpoint/2010/main" val="81641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578F2017-2CD1-4F3C-8D4E-E4505B76E9BB}"/>
              </a:ext>
            </a:extLst>
          </p:cNvPr>
          <p:cNvPicPr>
            <a:picLocks noChangeAspect="1"/>
          </p:cNvPicPr>
          <p:nvPr/>
        </p:nvPicPr>
        <p:blipFill>
          <a:blip r:embed="rId2"/>
          <a:stretch>
            <a:fillRect/>
          </a:stretch>
        </p:blipFill>
        <p:spPr>
          <a:xfrm>
            <a:off x="838200" y="1761821"/>
            <a:ext cx="9346660" cy="3393839"/>
          </a:xfrm>
          <a:prstGeom prst="rect">
            <a:avLst/>
          </a:prstGeom>
        </p:spPr>
      </p:pic>
      <p:pic>
        <p:nvPicPr>
          <p:cNvPr id="7" name="Picture 6">
            <a:extLst>
              <a:ext uri="{FF2B5EF4-FFF2-40B4-BE49-F238E27FC236}">
                <a16:creationId xmlns:a16="http://schemas.microsoft.com/office/drawing/2014/main" id="{49919904-317F-469C-81D5-AFE5461B9713}"/>
              </a:ext>
            </a:extLst>
          </p:cNvPr>
          <p:cNvPicPr>
            <a:picLocks noChangeAspect="1"/>
          </p:cNvPicPr>
          <p:nvPr/>
        </p:nvPicPr>
        <p:blipFill>
          <a:blip r:embed="rId3"/>
          <a:stretch>
            <a:fillRect/>
          </a:stretch>
        </p:blipFill>
        <p:spPr>
          <a:xfrm>
            <a:off x="838200" y="5426075"/>
            <a:ext cx="9346660" cy="1066800"/>
          </a:xfrm>
          <a:prstGeom prst="rect">
            <a:avLst/>
          </a:prstGeom>
        </p:spPr>
      </p:pic>
    </p:spTree>
    <p:extLst>
      <p:ext uri="{BB962C8B-B14F-4D97-AF65-F5344CB8AC3E}">
        <p14:creationId xmlns:p14="http://schemas.microsoft.com/office/powerpoint/2010/main" val="2574268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2D4D723A-BAAC-496B-AE1B-A7DF3317C755}"/>
              </a:ext>
            </a:extLst>
          </p:cNvPr>
          <p:cNvPicPr>
            <a:picLocks noChangeAspect="1"/>
          </p:cNvPicPr>
          <p:nvPr/>
        </p:nvPicPr>
        <p:blipFill>
          <a:blip r:embed="rId2"/>
          <a:stretch>
            <a:fillRect/>
          </a:stretch>
        </p:blipFill>
        <p:spPr>
          <a:xfrm>
            <a:off x="838199" y="1690688"/>
            <a:ext cx="10515599" cy="4972759"/>
          </a:xfrm>
          <a:prstGeom prst="rect">
            <a:avLst/>
          </a:prstGeom>
        </p:spPr>
      </p:pic>
    </p:spTree>
    <p:extLst>
      <p:ext uri="{BB962C8B-B14F-4D97-AF65-F5344CB8AC3E}">
        <p14:creationId xmlns:p14="http://schemas.microsoft.com/office/powerpoint/2010/main" val="985861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36D96566-FC50-4F52-96AC-207E7EF88C3E}"/>
              </a:ext>
            </a:extLst>
          </p:cNvPr>
          <p:cNvPicPr>
            <a:picLocks noChangeAspect="1"/>
          </p:cNvPicPr>
          <p:nvPr/>
        </p:nvPicPr>
        <p:blipFill>
          <a:blip r:embed="rId2"/>
          <a:stretch>
            <a:fillRect/>
          </a:stretch>
        </p:blipFill>
        <p:spPr>
          <a:xfrm>
            <a:off x="838200" y="1690688"/>
            <a:ext cx="10348609" cy="4525286"/>
          </a:xfrm>
          <a:prstGeom prst="rect">
            <a:avLst/>
          </a:prstGeom>
        </p:spPr>
      </p:pic>
    </p:spTree>
    <p:extLst>
      <p:ext uri="{BB962C8B-B14F-4D97-AF65-F5344CB8AC3E}">
        <p14:creationId xmlns:p14="http://schemas.microsoft.com/office/powerpoint/2010/main" val="1421280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4F637E4A-151F-4135-BC84-0BA25C885BF3}"/>
              </a:ext>
            </a:extLst>
          </p:cNvPr>
          <p:cNvPicPr>
            <a:picLocks noChangeAspect="1"/>
          </p:cNvPicPr>
          <p:nvPr/>
        </p:nvPicPr>
        <p:blipFill>
          <a:blip r:embed="rId2"/>
          <a:stretch>
            <a:fillRect/>
          </a:stretch>
        </p:blipFill>
        <p:spPr>
          <a:xfrm>
            <a:off x="1898515" y="2353486"/>
            <a:ext cx="8685179" cy="2636804"/>
          </a:xfrm>
          <a:prstGeom prst="rect">
            <a:avLst/>
          </a:prstGeom>
        </p:spPr>
      </p:pic>
    </p:spTree>
    <p:extLst>
      <p:ext uri="{BB962C8B-B14F-4D97-AF65-F5344CB8AC3E}">
        <p14:creationId xmlns:p14="http://schemas.microsoft.com/office/powerpoint/2010/main" val="3287079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CB21CC21-31A3-4914-A74A-04778CCA281F}"/>
              </a:ext>
            </a:extLst>
          </p:cNvPr>
          <p:cNvPicPr>
            <a:picLocks noChangeAspect="1"/>
          </p:cNvPicPr>
          <p:nvPr/>
        </p:nvPicPr>
        <p:blipFill>
          <a:blip r:embed="rId2"/>
          <a:stretch>
            <a:fillRect/>
          </a:stretch>
        </p:blipFill>
        <p:spPr>
          <a:xfrm>
            <a:off x="838199" y="1817247"/>
            <a:ext cx="10222149" cy="4038804"/>
          </a:xfrm>
          <a:prstGeom prst="rect">
            <a:avLst/>
          </a:prstGeom>
        </p:spPr>
      </p:pic>
    </p:spTree>
    <p:extLst>
      <p:ext uri="{BB962C8B-B14F-4D97-AF65-F5344CB8AC3E}">
        <p14:creationId xmlns:p14="http://schemas.microsoft.com/office/powerpoint/2010/main" val="654302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F7385A51-5263-46DA-B517-8B676C2EE2E0}"/>
              </a:ext>
            </a:extLst>
          </p:cNvPr>
          <p:cNvPicPr>
            <a:picLocks noChangeAspect="1"/>
          </p:cNvPicPr>
          <p:nvPr/>
        </p:nvPicPr>
        <p:blipFill>
          <a:blip r:embed="rId2"/>
          <a:stretch>
            <a:fillRect/>
          </a:stretch>
        </p:blipFill>
        <p:spPr>
          <a:xfrm>
            <a:off x="838200" y="1586724"/>
            <a:ext cx="9998413" cy="3724578"/>
          </a:xfrm>
          <a:prstGeom prst="rect">
            <a:avLst/>
          </a:prstGeom>
        </p:spPr>
      </p:pic>
      <p:sp>
        <p:nvSpPr>
          <p:cNvPr id="7" name="TextBox 6">
            <a:extLst>
              <a:ext uri="{FF2B5EF4-FFF2-40B4-BE49-F238E27FC236}">
                <a16:creationId xmlns:a16="http://schemas.microsoft.com/office/drawing/2014/main" id="{ED2D07AA-3DE7-43E2-9463-AF4D457B470E}"/>
              </a:ext>
            </a:extLst>
          </p:cNvPr>
          <p:cNvSpPr txBox="1"/>
          <p:nvPr/>
        </p:nvSpPr>
        <p:spPr>
          <a:xfrm>
            <a:off x="2794271" y="5482750"/>
            <a:ext cx="6094378" cy="1264642"/>
          </a:xfrm>
          <a:prstGeom prst="rect">
            <a:avLst/>
          </a:prstGeom>
          <a:noFill/>
        </p:spPr>
        <p:txBody>
          <a:bodyPr wrap="square">
            <a:spAutoFit/>
          </a:bodyPr>
          <a:lstStyle/>
          <a:p>
            <a:pPr>
              <a:lnSpc>
                <a:spcPct val="107000"/>
              </a:lnSpc>
              <a:spcAft>
                <a:spcPts val="800"/>
              </a:spcAft>
            </a:pPr>
            <a:r>
              <a:rPr lang="en-US" sz="1800" b="1" i="1"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The advantage of performing Multiple Linear Regression over a series of Simple linear regression models outweighs the disadvantages. In practice, many responses depend on multiple factor that might interact some way.</a:t>
            </a:r>
            <a:endParaRPr lang="en-IN" sz="1800" b="1" i="1"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35414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E37E373B-9452-48B6-81B4-E4E7DEDF42EA}"/>
              </a:ext>
            </a:extLst>
          </p:cNvPr>
          <p:cNvPicPr>
            <a:picLocks noChangeAspect="1"/>
          </p:cNvPicPr>
          <p:nvPr/>
        </p:nvPicPr>
        <p:blipFill>
          <a:blip r:embed="rId2"/>
          <a:stretch>
            <a:fillRect/>
          </a:stretch>
        </p:blipFill>
        <p:spPr>
          <a:xfrm>
            <a:off x="838199" y="1690688"/>
            <a:ext cx="9940048" cy="3776257"/>
          </a:xfrm>
          <a:prstGeom prst="rect">
            <a:avLst/>
          </a:prstGeom>
        </p:spPr>
      </p:pic>
      <p:sp>
        <p:nvSpPr>
          <p:cNvPr id="8" name="TextBox 7">
            <a:extLst>
              <a:ext uri="{FF2B5EF4-FFF2-40B4-BE49-F238E27FC236}">
                <a16:creationId xmlns:a16="http://schemas.microsoft.com/office/drawing/2014/main" id="{DD42C014-AD8A-4CF3-B45A-2959906B37CD}"/>
              </a:ext>
            </a:extLst>
          </p:cNvPr>
          <p:cNvSpPr txBox="1"/>
          <p:nvPr/>
        </p:nvSpPr>
        <p:spPr>
          <a:xfrm>
            <a:off x="838199" y="5578399"/>
            <a:ext cx="6094378" cy="1070871"/>
          </a:xfrm>
          <a:prstGeom prst="rect">
            <a:avLst/>
          </a:prstGeom>
          <a:noFill/>
        </p:spPr>
        <p:txBody>
          <a:bodyPr wrap="square">
            <a:spAutoFit/>
          </a:bodyPr>
          <a:lstStyle/>
          <a:p>
            <a:pPr>
              <a:lnSpc>
                <a:spcPct val="107000"/>
              </a:lnSpc>
              <a:spcAft>
                <a:spcPts val="800"/>
              </a:spcAft>
            </a:pPr>
            <a:r>
              <a:rPr lang="en-US" sz="1800" b="1" i="1"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Mayer suggested four applications of regression:</a:t>
            </a:r>
            <a:endParaRPr lang="en-IN" sz="1800" b="1" i="1"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i="1"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rPr>
              <a:t>Prediction, Variable Screening, Model Specifications and Parameter Estimation.</a:t>
            </a:r>
            <a:endParaRPr lang="en-IN" sz="1800" b="1" i="1"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41113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A89EA8A9-CBAD-4E1D-BD21-8F51A07387A5}"/>
              </a:ext>
            </a:extLst>
          </p:cNvPr>
          <p:cNvPicPr>
            <a:picLocks noChangeAspect="1"/>
          </p:cNvPicPr>
          <p:nvPr/>
        </p:nvPicPr>
        <p:blipFill>
          <a:blip r:embed="rId2"/>
          <a:stretch>
            <a:fillRect/>
          </a:stretch>
        </p:blipFill>
        <p:spPr>
          <a:xfrm>
            <a:off x="838199" y="1690687"/>
            <a:ext cx="10515599" cy="4802188"/>
          </a:xfrm>
          <a:prstGeom prst="rect">
            <a:avLst/>
          </a:prstGeom>
        </p:spPr>
      </p:pic>
    </p:spTree>
    <p:extLst>
      <p:ext uri="{BB962C8B-B14F-4D97-AF65-F5344CB8AC3E}">
        <p14:creationId xmlns:p14="http://schemas.microsoft.com/office/powerpoint/2010/main" val="1276260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B9453AC0-2B77-416B-8BBF-EA4B9C426C02}"/>
              </a:ext>
            </a:extLst>
          </p:cNvPr>
          <p:cNvPicPr>
            <a:picLocks noChangeAspect="1"/>
          </p:cNvPicPr>
          <p:nvPr/>
        </p:nvPicPr>
        <p:blipFill>
          <a:blip r:embed="rId2"/>
          <a:stretch>
            <a:fillRect/>
          </a:stretch>
        </p:blipFill>
        <p:spPr>
          <a:xfrm>
            <a:off x="838200" y="1690687"/>
            <a:ext cx="10515600" cy="4622564"/>
          </a:xfrm>
          <a:prstGeom prst="rect">
            <a:avLst/>
          </a:prstGeom>
        </p:spPr>
      </p:pic>
    </p:spTree>
    <p:extLst>
      <p:ext uri="{BB962C8B-B14F-4D97-AF65-F5344CB8AC3E}">
        <p14:creationId xmlns:p14="http://schemas.microsoft.com/office/powerpoint/2010/main" val="1248427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713A8575-3B10-4021-A3AE-2E0CD1CD69F2}"/>
              </a:ext>
            </a:extLst>
          </p:cNvPr>
          <p:cNvPicPr>
            <a:picLocks noChangeAspect="1"/>
          </p:cNvPicPr>
          <p:nvPr/>
        </p:nvPicPr>
        <p:blipFill>
          <a:blip r:embed="rId2"/>
          <a:stretch>
            <a:fillRect/>
          </a:stretch>
        </p:blipFill>
        <p:spPr>
          <a:xfrm>
            <a:off x="838200" y="2449446"/>
            <a:ext cx="4619625" cy="2655280"/>
          </a:xfrm>
          <a:prstGeom prst="rect">
            <a:avLst/>
          </a:prstGeom>
        </p:spPr>
      </p:pic>
      <p:sp>
        <p:nvSpPr>
          <p:cNvPr id="7" name="TextBox 6">
            <a:extLst>
              <a:ext uri="{FF2B5EF4-FFF2-40B4-BE49-F238E27FC236}">
                <a16:creationId xmlns:a16="http://schemas.microsoft.com/office/drawing/2014/main" id="{B4C1AE73-7265-40EA-AD8C-92971804CA11}"/>
              </a:ext>
            </a:extLst>
          </p:cNvPr>
          <p:cNvSpPr txBox="1"/>
          <p:nvPr/>
        </p:nvSpPr>
        <p:spPr>
          <a:xfrm>
            <a:off x="5634745" y="2361896"/>
            <a:ext cx="6094378" cy="2655279"/>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R square always increases or stays the same as you include more terms in the model. Therefore, choosing the best model is not as simple as just making the R square as large as possible.</a:t>
            </a: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Adjusted R square is a measure similar to R square, but it takes into account the number of terms in the model. It can be thought of a penalized version of R square with penalty increasing with each parameter added to the model.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84034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3654464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32E25C92-6C3C-45D7-A304-9C257DD01BC9}"/>
              </a:ext>
            </a:extLst>
          </p:cNvPr>
          <p:cNvPicPr>
            <a:picLocks noChangeAspect="1"/>
          </p:cNvPicPr>
          <p:nvPr/>
        </p:nvPicPr>
        <p:blipFill>
          <a:blip r:embed="rId2"/>
          <a:stretch>
            <a:fillRect/>
          </a:stretch>
        </p:blipFill>
        <p:spPr>
          <a:xfrm>
            <a:off x="1053019" y="1913292"/>
            <a:ext cx="9997602" cy="2538918"/>
          </a:xfrm>
          <a:prstGeom prst="rect">
            <a:avLst/>
          </a:prstGeom>
        </p:spPr>
      </p:pic>
      <p:sp>
        <p:nvSpPr>
          <p:cNvPr id="8" name="TextBox 7">
            <a:extLst>
              <a:ext uri="{FF2B5EF4-FFF2-40B4-BE49-F238E27FC236}">
                <a16:creationId xmlns:a16="http://schemas.microsoft.com/office/drawing/2014/main" id="{58B1EDDA-ADE0-4D50-9A62-164EE91766A0}"/>
              </a:ext>
            </a:extLst>
          </p:cNvPr>
          <p:cNvSpPr txBox="1"/>
          <p:nvPr/>
        </p:nvSpPr>
        <p:spPr>
          <a:xfrm>
            <a:off x="1053019" y="4674815"/>
            <a:ext cx="10085962" cy="1663597"/>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 process for selecting models might be to start with all variables in the fitness dataset and eliminate the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least significant terms based on p-values.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a small dataset, a final model can be developed in a reasonable amount of time. If you start with large model, however, eliminating one variable at a time can take extreme amount of time. You would have to continue this process until p-values lower than some thresholds say, 0.05 remain.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45365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83F9497F-0D36-421A-9E29-4542B261C914}"/>
              </a:ext>
            </a:extLst>
          </p:cNvPr>
          <p:cNvPicPr>
            <a:picLocks noChangeAspect="1"/>
          </p:cNvPicPr>
          <p:nvPr/>
        </p:nvPicPr>
        <p:blipFill>
          <a:blip r:embed="rId2"/>
          <a:stretch>
            <a:fillRect/>
          </a:stretch>
        </p:blipFill>
        <p:spPr>
          <a:xfrm>
            <a:off x="3036652" y="1557337"/>
            <a:ext cx="4953000" cy="3743325"/>
          </a:xfrm>
          <a:prstGeom prst="rect">
            <a:avLst/>
          </a:prstGeom>
        </p:spPr>
      </p:pic>
      <p:sp>
        <p:nvSpPr>
          <p:cNvPr id="13" name="TextBox 12">
            <a:extLst>
              <a:ext uri="{FF2B5EF4-FFF2-40B4-BE49-F238E27FC236}">
                <a16:creationId xmlns:a16="http://schemas.microsoft.com/office/drawing/2014/main" id="{8BCEF76F-F661-4DB1-9219-8B51CCBC9B30}"/>
              </a:ext>
            </a:extLst>
          </p:cNvPr>
          <p:cNvSpPr txBox="1"/>
          <p:nvPr/>
        </p:nvSpPr>
        <p:spPr>
          <a:xfrm>
            <a:off x="2190344" y="5330752"/>
            <a:ext cx="7361407" cy="1663597"/>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fitness dataset, there are seven possible predictors. Therefore, there are            possible regression models. There are seven possible one-variable models, 21 possible two-variable models, 35 possible three-variable models.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If there were 20 possible predictors, there would be more than 100,000 models.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FEE83C05-F106-4646-B05C-E170D172B9C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344877" y="5330752"/>
            <a:ext cx="742868" cy="291835"/>
          </a:xfrm>
          <a:prstGeom prst="rect">
            <a:avLst/>
          </a:prstGeom>
          <a:noFill/>
          <a:ln>
            <a:noFill/>
          </a:ln>
        </p:spPr>
      </p:pic>
    </p:spTree>
    <p:extLst>
      <p:ext uri="{BB962C8B-B14F-4D97-AF65-F5344CB8AC3E}">
        <p14:creationId xmlns:p14="http://schemas.microsoft.com/office/powerpoint/2010/main" val="39834419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10" name="Picture 9">
            <a:extLst>
              <a:ext uri="{FF2B5EF4-FFF2-40B4-BE49-F238E27FC236}">
                <a16:creationId xmlns:a16="http://schemas.microsoft.com/office/drawing/2014/main" id="{EA9583CD-2595-459C-A968-18998776FA11}"/>
              </a:ext>
            </a:extLst>
          </p:cNvPr>
          <p:cNvPicPr>
            <a:picLocks noChangeAspect="1"/>
          </p:cNvPicPr>
          <p:nvPr/>
        </p:nvPicPr>
        <p:blipFill>
          <a:blip r:embed="rId2"/>
          <a:stretch>
            <a:fillRect/>
          </a:stretch>
        </p:blipFill>
        <p:spPr>
          <a:xfrm>
            <a:off x="3182566" y="1550446"/>
            <a:ext cx="6243536" cy="2632447"/>
          </a:xfrm>
          <a:prstGeom prst="rect">
            <a:avLst/>
          </a:prstGeom>
        </p:spPr>
      </p:pic>
      <p:sp>
        <p:nvSpPr>
          <p:cNvPr id="19" name="TextBox 18">
            <a:extLst>
              <a:ext uri="{FF2B5EF4-FFF2-40B4-BE49-F238E27FC236}">
                <a16:creationId xmlns:a16="http://schemas.microsoft.com/office/drawing/2014/main" id="{FC4CC18E-69E8-44F5-B607-7CB05ABD4849}"/>
              </a:ext>
            </a:extLst>
          </p:cNvPr>
          <p:cNvSpPr txBox="1"/>
          <p:nvPr/>
        </p:nvSpPr>
        <p:spPr>
          <a:xfrm>
            <a:off x="3182566" y="4416356"/>
            <a:ext cx="9657946" cy="2364109"/>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Cp = p +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MSEp</a:t>
            </a:r>
            <a:r>
              <a:rPr lang="en-US" sz="1800" dirty="0">
                <a:effectLst/>
                <a:latin typeface="Calibri" panose="020F0502020204030204" pitchFamily="34" charset="0"/>
                <a:ea typeface="Calibri" panose="020F0502020204030204" pitchFamily="34" charset="0"/>
                <a:cs typeface="Times New Roman" panose="02020603050405020304" pitchFamily="18" charset="0"/>
              </a:rPr>
              <a:t> – MSE full) (n-p) / MSE full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MSEp</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Mean Square Error for the model with p parameters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MSE full is Mean Square Error for the full model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N is sample size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P is the number of parameters including the intercept. </a:t>
            </a:r>
            <a:endParaRPr lang="en-IN" dirty="0"/>
          </a:p>
        </p:txBody>
      </p:sp>
    </p:spTree>
    <p:extLst>
      <p:ext uri="{BB962C8B-B14F-4D97-AF65-F5344CB8AC3E}">
        <p14:creationId xmlns:p14="http://schemas.microsoft.com/office/powerpoint/2010/main" val="3313342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3DE11FC6-F2FE-412D-AF94-DA9667ED7B71}"/>
              </a:ext>
            </a:extLst>
          </p:cNvPr>
          <p:cNvPicPr>
            <a:picLocks noChangeAspect="1"/>
          </p:cNvPicPr>
          <p:nvPr/>
        </p:nvPicPr>
        <p:blipFill>
          <a:blip r:embed="rId2"/>
          <a:stretch>
            <a:fillRect/>
          </a:stretch>
        </p:blipFill>
        <p:spPr>
          <a:xfrm>
            <a:off x="838200" y="1857983"/>
            <a:ext cx="8368218" cy="2966936"/>
          </a:xfrm>
          <a:prstGeom prst="rect">
            <a:avLst/>
          </a:prstGeom>
        </p:spPr>
      </p:pic>
      <p:sp>
        <p:nvSpPr>
          <p:cNvPr id="8" name="TextBox 7">
            <a:extLst>
              <a:ext uri="{FF2B5EF4-FFF2-40B4-BE49-F238E27FC236}">
                <a16:creationId xmlns:a16="http://schemas.microsoft.com/office/drawing/2014/main" id="{55A4186C-603F-41AE-8829-8C68CB1FBC4A}"/>
              </a:ext>
            </a:extLst>
          </p:cNvPr>
          <p:cNvSpPr txBox="1"/>
          <p:nvPr/>
        </p:nvSpPr>
        <p:spPr>
          <a:xfrm>
            <a:off x="838199" y="5226466"/>
            <a:ext cx="8918643" cy="646331"/>
          </a:xfrm>
          <a:prstGeom prst="rect">
            <a:avLst/>
          </a:prstGeom>
          <a:noFill/>
        </p:spPr>
        <p:txBody>
          <a:bodyPr wrap="square">
            <a:spAutoFit/>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Hocking suggested the use of Cp statistic but with alternative criteria, depends on purpose of the study. </a:t>
            </a:r>
            <a:endParaRPr lang="en-IN" dirty="0"/>
          </a:p>
        </p:txBody>
      </p:sp>
    </p:spTree>
    <p:extLst>
      <p:ext uri="{BB962C8B-B14F-4D97-AF65-F5344CB8AC3E}">
        <p14:creationId xmlns:p14="http://schemas.microsoft.com/office/powerpoint/2010/main" val="2041312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1142766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B862319C-80D4-41C6-AD6B-81412CE76CA6}"/>
              </a:ext>
            </a:extLst>
          </p:cNvPr>
          <p:cNvPicPr>
            <a:picLocks noChangeAspect="1"/>
          </p:cNvPicPr>
          <p:nvPr/>
        </p:nvPicPr>
        <p:blipFill>
          <a:blip r:embed="rId2"/>
          <a:stretch>
            <a:fillRect/>
          </a:stretch>
        </p:blipFill>
        <p:spPr>
          <a:xfrm>
            <a:off x="838200" y="1690688"/>
            <a:ext cx="9589851" cy="5021397"/>
          </a:xfrm>
          <a:prstGeom prst="rect">
            <a:avLst/>
          </a:prstGeom>
        </p:spPr>
      </p:pic>
    </p:spTree>
    <p:extLst>
      <p:ext uri="{BB962C8B-B14F-4D97-AF65-F5344CB8AC3E}">
        <p14:creationId xmlns:p14="http://schemas.microsoft.com/office/powerpoint/2010/main" val="3758971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7" name="Picture 6">
            <a:extLst>
              <a:ext uri="{FF2B5EF4-FFF2-40B4-BE49-F238E27FC236}">
                <a16:creationId xmlns:a16="http://schemas.microsoft.com/office/drawing/2014/main" id="{B6327C01-299C-4042-AEE9-4247BC04E09B}"/>
              </a:ext>
            </a:extLst>
          </p:cNvPr>
          <p:cNvPicPr>
            <a:picLocks noChangeAspect="1"/>
          </p:cNvPicPr>
          <p:nvPr/>
        </p:nvPicPr>
        <p:blipFill>
          <a:blip r:embed="rId2"/>
          <a:stretch>
            <a:fillRect/>
          </a:stretch>
        </p:blipFill>
        <p:spPr>
          <a:xfrm>
            <a:off x="961821" y="1690688"/>
            <a:ext cx="9689965" cy="4924121"/>
          </a:xfrm>
          <a:prstGeom prst="rect">
            <a:avLst/>
          </a:prstGeom>
        </p:spPr>
      </p:pic>
    </p:spTree>
    <p:extLst>
      <p:ext uri="{BB962C8B-B14F-4D97-AF65-F5344CB8AC3E}">
        <p14:creationId xmlns:p14="http://schemas.microsoft.com/office/powerpoint/2010/main" val="2035306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8D93236B-6D7B-4B94-ADE3-9C7018BEC36C}"/>
              </a:ext>
            </a:extLst>
          </p:cNvPr>
          <p:cNvPicPr>
            <a:picLocks noChangeAspect="1"/>
          </p:cNvPicPr>
          <p:nvPr/>
        </p:nvPicPr>
        <p:blipFill>
          <a:blip r:embed="rId2"/>
          <a:stretch>
            <a:fillRect/>
          </a:stretch>
        </p:blipFill>
        <p:spPr>
          <a:xfrm>
            <a:off x="3153383" y="2118705"/>
            <a:ext cx="5727970" cy="3630342"/>
          </a:xfrm>
          <a:prstGeom prst="rect">
            <a:avLst/>
          </a:prstGeom>
        </p:spPr>
      </p:pic>
    </p:spTree>
    <p:extLst>
      <p:ext uri="{BB962C8B-B14F-4D97-AF65-F5344CB8AC3E}">
        <p14:creationId xmlns:p14="http://schemas.microsoft.com/office/powerpoint/2010/main" val="3722593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7" name="Picture 6">
            <a:extLst>
              <a:ext uri="{FF2B5EF4-FFF2-40B4-BE49-F238E27FC236}">
                <a16:creationId xmlns:a16="http://schemas.microsoft.com/office/drawing/2014/main" id="{05AA4B42-098C-465C-9FA4-EFBC82D58F9A}"/>
              </a:ext>
            </a:extLst>
          </p:cNvPr>
          <p:cNvPicPr>
            <a:picLocks noChangeAspect="1"/>
          </p:cNvPicPr>
          <p:nvPr/>
        </p:nvPicPr>
        <p:blipFill>
          <a:blip r:embed="rId2"/>
          <a:stretch>
            <a:fillRect/>
          </a:stretch>
        </p:blipFill>
        <p:spPr>
          <a:xfrm>
            <a:off x="3083162" y="1690688"/>
            <a:ext cx="5769010" cy="2707431"/>
          </a:xfrm>
          <a:prstGeom prst="rect">
            <a:avLst/>
          </a:prstGeom>
        </p:spPr>
      </p:pic>
      <p:sp>
        <p:nvSpPr>
          <p:cNvPr id="9" name="TextBox 8">
            <a:extLst>
              <a:ext uri="{FF2B5EF4-FFF2-40B4-BE49-F238E27FC236}">
                <a16:creationId xmlns:a16="http://schemas.microsoft.com/office/drawing/2014/main" id="{34C5CEB5-69C6-49C8-AAA0-47B24649E9EE}"/>
              </a:ext>
            </a:extLst>
          </p:cNvPr>
          <p:cNvSpPr txBox="1"/>
          <p:nvPr/>
        </p:nvSpPr>
        <p:spPr>
          <a:xfrm>
            <a:off x="1702341" y="4724273"/>
            <a:ext cx="9883302" cy="1561005"/>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Forward selection start with an empty model. The method computes an F statistics for each predictor variable not in the model and examines the largest of these statistics. If it is significant at selected level of significance, the corresponding variable will be added to the model. The process is repeated until none of the remaining variables meets the specified level for entry. </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Once the variable is added to the model, it will never be removed in any of the subsequent steps.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1159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09C84623-BCA6-4A5B-A5C1-9466ED1392CA}"/>
              </a:ext>
            </a:extLst>
          </p:cNvPr>
          <p:cNvPicPr>
            <a:picLocks noChangeAspect="1"/>
          </p:cNvPicPr>
          <p:nvPr/>
        </p:nvPicPr>
        <p:blipFill>
          <a:blip r:embed="rId2"/>
          <a:stretch>
            <a:fillRect/>
          </a:stretch>
        </p:blipFill>
        <p:spPr>
          <a:xfrm>
            <a:off x="2986391" y="1690688"/>
            <a:ext cx="5797686" cy="3416333"/>
          </a:xfrm>
          <a:prstGeom prst="rect">
            <a:avLst/>
          </a:prstGeom>
        </p:spPr>
      </p:pic>
      <p:sp>
        <p:nvSpPr>
          <p:cNvPr id="8" name="TextBox 7">
            <a:extLst>
              <a:ext uri="{FF2B5EF4-FFF2-40B4-BE49-F238E27FC236}">
                <a16:creationId xmlns:a16="http://schemas.microsoft.com/office/drawing/2014/main" id="{46BD0598-7EC7-4A61-A6DC-0900A43B535F}"/>
              </a:ext>
            </a:extLst>
          </p:cNvPr>
          <p:cNvSpPr txBox="1"/>
          <p:nvPr/>
        </p:nvSpPr>
        <p:spPr>
          <a:xfrm>
            <a:off x="1653702" y="5464306"/>
            <a:ext cx="9844391" cy="968278"/>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Backward elimination starts off with the full model. Results of the F test for individual parameter estimates are examined and the least significant variable that falls above the specified significant level is removed. </a:t>
            </a:r>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After the variable is removed from the model, it remains excluded.</a:t>
            </a:r>
            <a:r>
              <a:rPr lang="en-US"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1409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F35CD41C-AE3F-4B4B-A259-5A27D0E4D25B}"/>
              </a:ext>
            </a:extLst>
          </p:cNvPr>
          <p:cNvPicPr>
            <a:picLocks noChangeAspect="1"/>
          </p:cNvPicPr>
          <p:nvPr/>
        </p:nvPicPr>
        <p:blipFill>
          <a:blip r:embed="rId2"/>
          <a:stretch>
            <a:fillRect/>
          </a:stretch>
        </p:blipFill>
        <p:spPr>
          <a:xfrm>
            <a:off x="838200" y="1690688"/>
            <a:ext cx="4467225" cy="2819400"/>
          </a:xfrm>
          <a:prstGeom prst="rect">
            <a:avLst/>
          </a:prstGeom>
        </p:spPr>
      </p:pic>
      <p:sp>
        <p:nvSpPr>
          <p:cNvPr id="9" name="TextBox 8">
            <a:extLst>
              <a:ext uri="{FF2B5EF4-FFF2-40B4-BE49-F238E27FC236}">
                <a16:creationId xmlns:a16="http://schemas.microsoft.com/office/drawing/2014/main" id="{75F6CAE6-0043-4464-AA92-99BC63F26178}"/>
              </a:ext>
            </a:extLst>
          </p:cNvPr>
          <p:cNvSpPr txBox="1"/>
          <p:nvPr/>
        </p:nvSpPr>
        <p:spPr>
          <a:xfrm>
            <a:off x="5305425" y="1649625"/>
            <a:ext cx="6886575" cy="2860463"/>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Stepwise selection is similar to forward selection in that it starts with empty model and incrementally build a model one variable at a time. </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However, the method differs from forward selection method in that variables already in the model do not necessarily remain. </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backward component of the method removes the variables from the model that do not meet the significance criteria.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14AB41A-832D-4266-9C32-92AFD0AF480B}"/>
              </a:ext>
            </a:extLst>
          </p:cNvPr>
          <p:cNvSpPr txBox="1"/>
          <p:nvPr/>
        </p:nvSpPr>
        <p:spPr>
          <a:xfrm>
            <a:off x="1052209" y="5280206"/>
            <a:ext cx="10689076" cy="646331"/>
          </a:xfrm>
          <a:prstGeom prst="rect">
            <a:avLst/>
          </a:prstGeom>
          <a:noFill/>
        </p:spPr>
        <p:txBody>
          <a:bodyPr wrap="square">
            <a:spAutoFit/>
          </a:bodyPr>
          <a:lstStyle/>
          <a:p>
            <a:r>
              <a:rPr lang="en-US" sz="18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The stepwise selection process terminates if no further variables can be added to the model or the variables entered into the model is the only variable removed in the subsequent backward elimination. </a:t>
            </a:r>
            <a:endParaRPr lang="en-IN" dirty="0"/>
          </a:p>
        </p:txBody>
      </p:sp>
    </p:spTree>
    <p:extLst>
      <p:ext uri="{BB962C8B-B14F-4D97-AF65-F5344CB8AC3E}">
        <p14:creationId xmlns:p14="http://schemas.microsoft.com/office/powerpoint/2010/main" val="3359483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Rectangle 2"/>
          <p:cNvSpPr/>
          <p:nvPr/>
        </p:nvSpPr>
        <p:spPr>
          <a:xfrm>
            <a:off x="8460231" y="2489663"/>
            <a:ext cx="184730" cy="92333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54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Calibri"/>
              <a:ea typeface="+mn-ea"/>
              <a:cs typeface="+mn-cs"/>
            </a:endParaRPr>
          </a:p>
        </p:txBody>
      </p:sp>
      <p:sp>
        <p:nvSpPr>
          <p:cNvPr id="5" name="Rectangle 4"/>
          <p:cNvSpPr/>
          <p:nvPr/>
        </p:nvSpPr>
        <p:spPr>
          <a:xfrm>
            <a:off x="3951691" y="2689718"/>
            <a:ext cx="3142207" cy="1446550"/>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0" i="0" u="none" strike="noStrike" kern="1200" cap="none" spc="0" normalizeH="0" baseline="0" noProof="0" dirty="0">
                <a:ln w="0"/>
                <a:solidFill>
                  <a:srgbClr val="FFFF00"/>
                </a:solidFill>
                <a:effectLst>
                  <a:outerShdw blurRad="38100" dist="19050" dir="2700000" algn="tl" rotWithShape="0">
                    <a:prstClr val="black">
                      <a:alpha val="40000"/>
                    </a:prstClr>
                  </a:outerShdw>
                </a:effectLst>
                <a:uLnTx/>
                <a:uFillTx/>
                <a:latin typeface="Calibri"/>
                <a:ea typeface="+mn-ea"/>
                <a:cs typeface="+mn-cs"/>
              </a:rPr>
              <a:t>DEMO</a:t>
            </a:r>
          </a:p>
        </p:txBody>
      </p:sp>
    </p:spTree>
    <p:extLst>
      <p:ext uri="{BB962C8B-B14F-4D97-AF65-F5344CB8AC3E}">
        <p14:creationId xmlns:p14="http://schemas.microsoft.com/office/powerpoint/2010/main" val="3917925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3" name="Picture 2">
            <a:extLst>
              <a:ext uri="{FF2B5EF4-FFF2-40B4-BE49-F238E27FC236}">
                <a16:creationId xmlns:a16="http://schemas.microsoft.com/office/drawing/2014/main" id="{BE7FFAC0-7E24-44B6-9410-462EE5D34C21}"/>
              </a:ext>
            </a:extLst>
          </p:cNvPr>
          <p:cNvPicPr>
            <a:picLocks noChangeAspect="1"/>
          </p:cNvPicPr>
          <p:nvPr/>
        </p:nvPicPr>
        <p:blipFill>
          <a:blip r:embed="rId2"/>
          <a:stretch>
            <a:fillRect/>
          </a:stretch>
        </p:blipFill>
        <p:spPr>
          <a:xfrm>
            <a:off x="1624519" y="1690688"/>
            <a:ext cx="8521430" cy="4802187"/>
          </a:xfrm>
          <a:prstGeom prst="rect">
            <a:avLst/>
          </a:prstGeom>
        </p:spPr>
      </p:pic>
    </p:spTree>
    <p:extLst>
      <p:ext uri="{BB962C8B-B14F-4D97-AF65-F5344CB8AC3E}">
        <p14:creationId xmlns:p14="http://schemas.microsoft.com/office/powerpoint/2010/main" val="548275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Multiple Linear Regression</a:t>
            </a:r>
          </a:p>
        </p:txBody>
      </p:sp>
      <p:pic>
        <p:nvPicPr>
          <p:cNvPr id="5" name="Picture 4">
            <a:extLst>
              <a:ext uri="{FF2B5EF4-FFF2-40B4-BE49-F238E27FC236}">
                <a16:creationId xmlns:a16="http://schemas.microsoft.com/office/drawing/2014/main" id="{5884A1BC-2D7C-4B9E-8944-F9458C2ADBC9}"/>
              </a:ext>
            </a:extLst>
          </p:cNvPr>
          <p:cNvPicPr>
            <a:picLocks noChangeAspect="1"/>
          </p:cNvPicPr>
          <p:nvPr/>
        </p:nvPicPr>
        <p:blipFill>
          <a:blip r:embed="rId2"/>
          <a:stretch>
            <a:fillRect/>
          </a:stretch>
        </p:blipFill>
        <p:spPr>
          <a:xfrm>
            <a:off x="1498060" y="1690688"/>
            <a:ext cx="9377463" cy="4802187"/>
          </a:xfrm>
          <a:prstGeom prst="rect">
            <a:avLst/>
          </a:prstGeom>
        </p:spPr>
      </p:pic>
    </p:spTree>
    <p:extLst>
      <p:ext uri="{BB962C8B-B14F-4D97-AF65-F5344CB8AC3E}">
        <p14:creationId xmlns:p14="http://schemas.microsoft.com/office/powerpoint/2010/main" val="645244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Q&amp;A</a:t>
            </a:r>
          </a:p>
        </p:txBody>
      </p:sp>
    </p:spTree>
    <p:extLst>
      <p:ext uri="{BB962C8B-B14F-4D97-AF65-F5344CB8AC3E}">
        <p14:creationId xmlns:p14="http://schemas.microsoft.com/office/powerpoint/2010/main" val="3295833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1118</TotalTime>
  <Words>656</Words>
  <Application>Microsoft Office PowerPoint</Application>
  <PresentationFormat>Widescreen</PresentationFormat>
  <Paragraphs>53</Paragraphs>
  <Slides>28</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28</vt:i4>
      </vt:variant>
    </vt:vector>
  </HeadingPairs>
  <TitlesOfParts>
    <vt:vector size="33" baseType="lpstr">
      <vt:lpstr>Arial</vt:lpstr>
      <vt:lpstr>Calibri</vt:lpstr>
      <vt:lpstr>Calibri Light</vt:lpstr>
      <vt:lpstr>Office Theme</vt:lpstr>
      <vt:lpstr>1_Office Theme</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Multiple Linear Regression</vt:lpstr>
      <vt:lpstr>PowerPoint Presentation</vt:lpstr>
      <vt:lpstr>Multiple Linear Regression</vt:lpstr>
      <vt:lpstr>Multiple Linear Regression</vt:lpstr>
      <vt:lpstr>Multiple Linear Regression</vt:lpstr>
      <vt:lpstr>Multiple Linear Regression</vt:lpstr>
      <vt:lpstr>PowerPoint Presentation</vt:lpstr>
      <vt:lpstr>Multiple Linear Regression</vt:lpstr>
      <vt:lpstr>Multiple Linear Regression</vt:lpstr>
      <vt:lpstr>Multiple Linear Regression</vt:lpstr>
      <vt:lpstr>Multiple Linear Regression</vt:lpstr>
      <vt:lpstr>Multiple Linear Regression</vt:lpstr>
      <vt:lpstr>Multiple Linear Regression</vt:lpstr>
      <vt:lpstr>PowerPoint Presentation</vt:lpstr>
      <vt:lpstr>Multiple Linear Regression</vt:lpstr>
      <vt:lpstr>Multiple Linear Regression</vt:lpstr>
      <vt:lpstr>Q&amp;A</vt:lpstr>
    </vt:vector>
  </TitlesOfParts>
  <Company>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by using SAS (Demo)</dc:title>
  <dc:creator>Urvish Shah</dc:creator>
  <cp:lastModifiedBy>Urvish Shah</cp:lastModifiedBy>
  <cp:revision>460</cp:revision>
  <dcterms:created xsi:type="dcterms:W3CDTF">2015-11-18T16:05:43Z</dcterms:created>
  <dcterms:modified xsi:type="dcterms:W3CDTF">2020-07-29T09:51:47Z</dcterms:modified>
</cp:coreProperties>
</file>