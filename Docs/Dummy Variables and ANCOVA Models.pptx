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1"/>
  </p:sldMasterIdLst>
  <p:sldIdLst>
    <p:sldId id="256" r:id="rId2"/>
    <p:sldId id="261" r:id="rId3"/>
    <p:sldId id="272" r:id="rId4"/>
    <p:sldId id="273" r:id="rId5"/>
    <p:sldId id="274" r:id="rId6"/>
    <p:sldId id="275" r:id="rId7"/>
    <p:sldId id="276" r:id="rId8"/>
    <p:sldId id="278" r:id="rId9"/>
    <p:sldId id="277" r:id="rId10"/>
    <p:sldId id="279" r:id="rId11"/>
    <p:sldId id="280" r:id="rId12"/>
    <p:sldId id="281" r:id="rId13"/>
    <p:sldId id="271" r:id="rId14"/>
    <p:sldId id="282" r:id="rId15"/>
    <p:sldId id="283" r:id="rId16"/>
    <p:sldId id="284" r:id="rId17"/>
    <p:sldId id="285" r:id="rId18"/>
    <p:sldId id="286" r:id="rId19"/>
    <p:sldId id="287" r:id="rId20"/>
    <p:sldId id="288" r:id="rId21"/>
    <p:sldId id="289" r:id="rId22"/>
    <p:sldId id="290" r:id="rId23"/>
    <p:sldId id="291" r:id="rId24"/>
    <p:sldId id="292" r:id="rId25"/>
    <p:sldId id="293" r:id="rId26"/>
    <p:sldId id="295" r:id="rId27"/>
    <p:sldId id="294" r:id="rId28"/>
    <p:sldId id="296" r:id="rId29"/>
    <p:sldId id="297" r:id="rId30"/>
    <p:sldId id="298" r:id="rId31"/>
    <p:sldId id="299" r:id="rId32"/>
    <p:sldId id="300" r:id="rId33"/>
    <p:sldId id="301" r:id="rId34"/>
    <p:sldId id="302" r:id="rId35"/>
    <p:sldId id="30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0" autoAdjust="0"/>
    <p:restoredTop sz="95256" autoAdjust="0"/>
  </p:normalViewPr>
  <p:slideViewPr>
    <p:cSldViewPr snapToGrid="0">
      <p:cViewPr varScale="1">
        <p:scale>
          <a:sx n="82" d="100"/>
          <a:sy n="82" d="100"/>
        </p:scale>
        <p:origin x="691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5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106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100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615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61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868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055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073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4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4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48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468DF-067B-4708-BF4E-888660123DFC}" type="datetimeFigureOut">
              <a:rPr lang="en-US" smtClean="0"/>
              <a:t>6/29/2021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3308E4-E9C4-4172-8EDE-CEB6C8BD4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03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986887"/>
            <a:ext cx="9144000" cy="2387600"/>
          </a:xfrm>
        </p:spPr>
        <p:txBody>
          <a:bodyPr>
            <a:normAutofit/>
          </a:bodyPr>
          <a:lstStyle/>
          <a:p>
            <a:r>
              <a:rPr lang="en-US" sz="2400" b="1" dirty="0"/>
              <a:t>Course Name:</a:t>
            </a:r>
            <a:r>
              <a:rPr lang="en-US" sz="2400" dirty="0"/>
              <a:t> Dummy Variable and ANCOVA Models</a:t>
            </a:r>
            <a:br>
              <a:rPr lang="en-US" sz="2400" dirty="0"/>
            </a:br>
            <a:r>
              <a:rPr lang="en-US" sz="2400" b="1" dirty="0"/>
              <a:t>Course Duration:</a:t>
            </a:r>
            <a:r>
              <a:rPr lang="en-US" sz="2400" dirty="0"/>
              <a:t> 5 Days</a:t>
            </a:r>
            <a:br>
              <a:rPr lang="en-US" sz="2400" dirty="0"/>
            </a:br>
            <a:r>
              <a:rPr lang="en-US" sz="2400" b="1" dirty="0"/>
              <a:t>Course Resources:</a:t>
            </a:r>
            <a:r>
              <a:rPr lang="en-US" sz="2400" dirty="0"/>
              <a:t> Materials + Data + Codes </a:t>
            </a:r>
          </a:p>
        </p:txBody>
      </p:sp>
    </p:spTree>
    <p:extLst>
      <p:ext uri="{BB962C8B-B14F-4D97-AF65-F5344CB8AC3E}">
        <p14:creationId xmlns:p14="http://schemas.microsoft.com/office/powerpoint/2010/main" val="1596748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B1CFA6F9-8778-4EC8-B956-8DF1499FF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2579" y="1611447"/>
            <a:ext cx="7982355" cy="4643438"/>
          </a:xfrm>
        </p:spPr>
      </p:pic>
    </p:spTree>
    <p:extLst>
      <p:ext uri="{BB962C8B-B14F-4D97-AF65-F5344CB8AC3E}">
        <p14:creationId xmlns:p14="http://schemas.microsoft.com/office/powerpoint/2010/main" val="3136120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304B12-4AAD-497A-8022-256CF8186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35" y="1768509"/>
            <a:ext cx="4724400" cy="31146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4BC053D-76E2-41A8-B254-C677D20562E2}"/>
              </a:ext>
            </a:extLst>
          </p:cNvPr>
          <p:cNvSpPr txBox="1"/>
          <p:nvPr/>
        </p:nvSpPr>
        <p:spPr>
          <a:xfrm>
            <a:off x="5654201" y="1399773"/>
            <a:ext cx="6094378" cy="3852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Data from clinical trials study was collected to compare the effect of baseline blood pressure values on blood pressure changes after a certain treatment. </a:t>
            </a:r>
            <a:endParaRPr lang="en-IN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IN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Subject: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subject ID</a:t>
            </a:r>
            <a:endParaRPr lang="en-IN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Treatment: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Drug treatment (Approved Drug, New Drug and Placebo)</a:t>
            </a:r>
            <a:endParaRPr lang="en-IN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BaselineBP: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baseline of starting level of diastolic blood pressure</a:t>
            </a:r>
            <a:endParaRPr lang="en-IN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BPChange: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Change in the diastolic blood pressure from the beginning of the study</a:t>
            </a:r>
            <a:endParaRPr lang="en-IN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187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DBB560-9F59-44A5-8191-5D2D2403B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282" y="1361873"/>
            <a:ext cx="10745518" cy="5389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043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E9E878-9DA6-496B-9020-DBB11C449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98" y="1690688"/>
            <a:ext cx="8623064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774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D7EF69-649D-4E96-BE2B-6F0E6D27F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470" y="1902163"/>
            <a:ext cx="4343400" cy="2781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00E67B-7A9D-4FBA-A901-59428FEFD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3702" y="5012074"/>
            <a:ext cx="9182911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147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67FD98-A7F4-4319-8F58-9F7C4B3BC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70498"/>
            <a:ext cx="9405026" cy="5319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66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DF3B2C-78CC-4798-821F-A8D48F8F0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937" y="1622594"/>
            <a:ext cx="4810125" cy="2905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5339E0-CBBF-416C-9C9B-656E3976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353" y="4980460"/>
            <a:ext cx="8959175" cy="1099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222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6C2488-6429-4346-B9D8-E28F7F6E9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75" y="1690688"/>
            <a:ext cx="4743450" cy="2819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FE792C-0361-4C1E-8B19-443131599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74" y="5250909"/>
            <a:ext cx="11021439" cy="40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23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01C24A-5A39-44A9-88B8-292E5628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102" y="1890712"/>
            <a:ext cx="4810125" cy="30765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358225-2B62-4F55-AC33-335B5B18B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1890712"/>
            <a:ext cx="5603740" cy="307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452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58384A-87B9-4761-95D2-8C334FCDF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188" y="1690688"/>
            <a:ext cx="7704306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329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E1E444-ED5A-4CE4-9A6B-12634B75A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7" y="1984443"/>
            <a:ext cx="10972800" cy="4348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96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460231" y="2489663"/>
            <a:ext cx="1847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951691" y="2689718"/>
            <a:ext cx="3142207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800" b="0" cap="none" spc="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4678836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AE1F3-F20A-4A1D-931A-4958DACD3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95" y="3033712"/>
            <a:ext cx="10972800" cy="156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587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52B26D-A8B4-4C97-9D4D-5083F68FD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153" y="1446279"/>
            <a:ext cx="9153727" cy="5304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568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EAEDCC-024E-4EB3-9BCE-E77506F7D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905" y="2244150"/>
            <a:ext cx="9440085" cy="368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685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AA4E7-5170-4509-B6A2-88575D3CB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417" y="1321340"/>
            <a:ext cx="9824935" cy="54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850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114A5-7A15-4447-A460-D955DADDD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74" y="1875512"/>
            <a:ext cx="10650166" cy="13255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4B833-5881-4EA3-8481-F9D2904DD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81981"/>
            <a:ext cx="10650166" cy="218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7320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381F9D-E37B-445C-9C0B-7B2DFAE3A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66974"/>
            <a:ext cx="10515600" cy="371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722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Dummy/Design Variables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C0FD89-CE91-4A99-B948-9FC860865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434" y="1585609"/>
            <a:ext cx="8278238" cy="5107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134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AA854E-59F0-4120-B614-1E4EA612C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91" y="1734462"/>
            <a:ext cx="8476339" cy="366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110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AFFA0A-5291-4DF7-8DBE-C9BC02429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15" y="1846329"/>
            <a:ext cx="5475051" cy="37276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61893A-88AB-4A07-82AB-BF25B4C56CB2}"/>
              </a:ext>
            </a:extLst>
          </p:cNvPr>
          <p:cNvSpPr txBox="1"/>
          <p:nvPr/>
        </p:nvSpPr>
        <p:spPr>
          <a:xfrm>
            <a:off x="6001966" y="2330412"/>
            <a:ext cx="6094378" cy="2450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slopes and intercepts for the treatments are equal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slopes are different but the intercepts are the same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intercepts are different but the slopes are same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slopes and intercepts are different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>
              <a:lnSpc>
                <a:spcPct val="107000"/>
              </a:lnSpc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fifth possibility not discussed is that, all the slopes are zero. In that case, Analysis of Covariance model can be used.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701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74A4B3-E691-40CB-A8C1-4CD38E519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528" y="1690689"/>
            <a:ext cx="7276289" cy="38638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B348D53-9413-428F-AFA5-8D2C94956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349" y="5888072"/>
            <a:ext cx="904875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617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6B0C83-C89D-4579-9300-040A55732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035" y="2033890"/>
            <a:ext cx="10594335" cy="367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240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A77F26-9DFA-436A-9C82-BFFACEB7F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564858"/>
            <a:ext cx="10212420" cy="266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4520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A0293B-5E2D-452A-AB78-A6AACC0FC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41" y="2085468"/>
            <a:ext cx="10515600" cy="374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9927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F22F10-AD1E-48E9-BDA5-188D54A72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08141"/>
            <a:ext cx="9959502" cy="343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676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9079AF-4D83-4ED5-969D-CA97D3B66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46" y="1849166"/>
            <a:ext cx="4924425" cy="35010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01A9B7-EFF6-451D-A377-257B37A80B9E}"/>
              </a:ext>
            </a:extLst>
          </p:cNvPr>
          <p:cNvSpPr txBox="1"/>
          <p:nvPr/>
        </p:nvSpPr>
        <p:spPr>
          <a:xfrm>
            <a:off x="6096000" y="1919585"/>
            <a:ext cx="6094378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aim of ANCOVA model is to compare the group means. We already have least-square means with us. The question is where along the lines should you compute and compare the means. </a:t>
            </a:r>
          </a:p>
          <a:p>
            <a:pPr lvl="0">
              <a:lnSpc>
                <a:spcPct val="107000"/>
              </a:lnSpc>
            </a:pP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example, group means of Approved drug versus Placebo at BaselineBP = 90 is different from group means of New Drug and Placebo at BaselineBP = 95/100</a:t>
            </a:r>
          </a:p>
          <a:p>
            <a:pPr lvl="0">
              <a:lnSpc>
                <a:spcPct val="107000"/>
              </a:lnSpc>
            </a:pP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By default, group means between different Treatments will be calculated at mean value of covariate (BaselineBP)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9384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8D97A2-6C8E-463A-B3F1-95F952417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71978"/>
            <a:ext cx="10095689" cy="452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0214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FAE963-30D4-465E-9838-024EE0171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859" y="1363959"/>
            <a:ext cx="6344403" cy="44396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F9763A-2424-4751-9963-0CE83A1D42AB}"/>
              </a:ext>
            </a:extLst>
          </p:cNvPr>
          <p:cNvSpPr txBox="1"/>
          <p:nvPr/>
        </p:nvSpPr>
        <p:spPr>
          <a:xfrm>
            <a:off x="1639855" y="6013526"/>
            <a:ext cx="7821386" cy="671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means for the </a:t>
            </a:r>
            <a:r>
              <a:rPr lang="en-US" sz="1800" b="1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treatments 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at the mean value of </a:t>
            </a:r>
            <a:r>
              <a:rPr lang="en-US" sz="1800" b="1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BaselineBP = 95 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displayed. This is default.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27689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F9763A-2424-4751-9963-0CE83A1D42AB}"/>
              </a:ext>
            </a:extLst>
          </p:cNvPr>
          <p:cNvSpPr txBox="1"/>
          <p:nvPr/>
        </p:nvSpPr>
        <p:spPr>
          <a:xfrm>
            <a:off x="1639855" y="6013526"/>
            <a:ext cx="7821386" cy="671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At the mean value of BaselineBP, all treatment groups are significantly different from each other.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7F07AC-9373-48AF-900F-0990B437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580" y="1334278"/>
            <a:ext cx="5952930" cy="448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0285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F9763A-2424-4751-9963-0CE83A1D42AB}"/>
              </a:ext>
            </a:extLst>
          </p:cNvPr>
          <p:cNvSpPr txBox="1"/>
          <p:nvPr/>
        </p:nvSpPr>
        <p:spPr>
          <a:xfrm>
            <a:off x="1639855" y="6013526"/>
            <a:ext cx="782138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means for the </a:t>
            </a:r>
            <a:r>
              <a:rPr lang="en-US" sz="1800" b="1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treatments 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at the </a:t>
            </a:r>
            <a:r>
              <a:rPr lang="en-US" sz="1800" b="1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BaselineBP = 90 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displayed. 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78135C-5B3F-4C26-8F11-D42B44EEB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855" y="1315616"/>
            <a:ext cx="7006999" cy="459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791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F9763A-2424-4751-9963-0CE83A1D42AB}"/>
              </a:ext>
            </a:extLst>
          </p:cNvPr>
          <p:cNvSpPr txBox="1"/>
          <p:nvPr/>
        </p:nvSpPr>
        <p:spPr>
          <a:xfrm>
            <a:off x="1639855" y="6013526"/>
            <a:ext cx="7821386" cy="671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BaselineBP = 90, Approved drug is not significantly different from </a:t>
            </a:r>
            <a:r>
              <a:rPr lang="en-US" dirty="0"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Placebo. However, Approved drug and 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New drug are significantly different from each other.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755353-5EC5-406A-92DB-E9BA369FD5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659" y="1399591"/>
            <a:ext cx="5559056" cy="4497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0976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F9763A-2424-4751-9963-0CE83A1D42AB}"/>
              </a:ext>
            </a:extLst>
          </p:cNvPr>
          <p:cNvSpPr txBox="1"/>
          <p:nvPr/>
        </p:nvSpPr>
        <p:spPr>
          <a:xfrm>
            <a:off x="1639855" y="6117323"/>
            <a:ext cx="782138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means for the </a:t>
            </a:r>
            <a:r>
              <a:rPr lang="en-US" sz="1800" b="1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treatments 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at the </a:t>
            </a:r>
            <a:r>
              <a:rPr lang="en-US" sz="1800" b="1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BaselineBP = </a:t>
            </a:r>
            <a:r>
              <a:rPr lang="en-US" b="1" dirty="0"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100</a:t>
            </a:r>
            <a:r>
              <a:rPr lang="en-US" sz="1800" b="1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effectLst/>
                <a:latin typeface="Calibri Light" panose="020F03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displayed. </a:t>
            </a:r>
            <a:endParaRPr lang="en-IN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D5FF04-9D2C-4D54-987B-CD1577AC2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927" y="1404203"/>
            <a:ext cx="7282446" cy="4609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0262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41F722-146F-4319-BC7A-027AAF72F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46245"/>
            <a:ext cx="8872246" cy="522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41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1394</TotalTime>
  <Words>418</Words>
  <Application>Microsoft Office PowerPoint</Application>
  <PresentationFormat>Widescreen</PresentationFormat>
  <Paragraphs>57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Calibri Light</vt:lpstr>
      <vt:lpstr>Symbol</vt:lpstr>
      <vt:lpstr>Office Theme</vt:lpstr>
      <vt:lpstr>Course Name: Dummy Variable and ANCOVA Models Course Duration: 5 Days Course Resources: Materials + Data + Codes </vt:lpstr>
      <vt:lpstr>Introduction</vt:lpstr>
      <vt:lpstr>Introduction</vt:lpstr>
      <vt:lpstr>Introduction</vt:lpstr>
      <vt:lpstr>Dummy/Design Variables</vt:lpstr>
      <vt:lpstr>Dummy/Design Variables</vt:lpstr>
      <vt:lpstr>Dummy/Design Variables</vt:lpstr>
      <vt:lpstr>Dummy/Design Variables</vt:lpstr>
      <vt:lpstr>Dummy/Design Variables</vt:lpstr>
      <vt:lpstr>Dummy/Design Variables</vt:lpstr>
      <vt:lpstr>Dummy/Design Variables</vt:lpstr>
      <vt:lpstr>Dummy/Design Variables</vt:lpstr>
      <vt:lpstr>PowerPoint Presentation</vt:lpstr>
      <vt:lpstr>Dummy/Design Variables</vt:lpstr>
      <vt:lpstr>Dummy/Design Variables</vt:lpstr>
      <vt:lpstr>Dummy/Design Variables</vt:lpstr>
      <vt:lpstr>Dummy/Design Variables</vt:lpstr>
      <vt:lpstr>Dummy/Design Variables</vt:lpstr>
      <vt:lpstr>Dummy/Design Variables</vt:lpstr>
      <vt:lpstr>Dummy/Design Variables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  <vt:lpstr>ANCOVA Models</vt:lpstr>
    </vt:vector>
  </TitlesOfParts>
  <Company>SAS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by using SAS (Demo)</dc:title>
  <dc:creator>Urvish Shah</dc:creator>
  <cp:lastModifiedBy>Urvish Shah</cp:lastModifiedBy>
  <cp:revision>749</cp:revision>
  <dcterms:created xsi:type="dcterms:W3CDTF">2015-11-18T16:05:43Z</dcterms:created>
  <dcterms:modified xsi:type="dcterms:W3CDTF">2021-06-29T05:15:49Z</dcterms:modified>
</cp:coreProperties>
</file>