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48" r:id="rId1"/>
  </p:sldMasterIdLst>
  <p:sldIdLst>
    <p:sldId id="256" r:id="rId2"/>
    <p:sldId id="261" r:id="rId3"/>
    <p:sldId id="272" r:id="rId4"/>
    <p:sldId id="273" r:id="rId5"/>
    <p:sldId id="274" r:id="rId6"/>
    <p:sldId id="275" r:id="rId7"/>
    <p:sldId id="276" r:id="rId8"/>
    <p:sldId id="278" r:id="rId9"/>
    <p:sldId id="277" r:id="rId10"/>
    <p:sldId id="279" r:id="rId11"/>
    <p:sldId id="280" r:id="rId12"/>
    <p:sldId id="281" r:id="rId13"/>
    <p:sldId id="271" r:id="rId14"/>
    <p:sldId id="282" r:id="rId15"/>
    <p:sldId id="283" r:id="rId16"/>
    <p:sldId id="284" r:id="rId17"/>
    <p:sldId id="285" r:id="rId18"/>
    <p:sldId id="286" r:id="rId19"/>
    <p:sldId id="287" r:id="rId20"/>
    <p:sldId id="288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0" autoAdjust="0"/>
    <p:restoredTop sz="91499" autoAdjust="0"/>
  </p:normalViewPr>
  <p:slideViewPr>
    <p:cSldViewPr snapToGrid="0">
      <p:cViewPr varScale="1">
        <p:scale>
          <a:sx n="79" d="100"/>
          <a:sy n="79" d="100"/>
        </p:scale>
        <p:origin x="821" y="67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468DF-067B-4708-BF4E-888660123DFC}" type="datetimeFigureOut">
              <a:rPr lang="en-US" smtClean="0"/>
              <a:t>6/18/2021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308E4-E9C4-4172-8EDE-CEB6C8BD43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21505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468DF-067B-4708-BF4E-888660123DFC}" type="datetimeFigureOut">
              <a:rPr lang="en-US" smtClean="0"/>
              <a:t>6/18/2021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308E4-E9C4-4172-8EDE-CEB6C8BD43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1062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468DF-067B-4708-BF4E-888660123DFC}" type="datetimeFigureOut">
              <a:rPr lang="en-US" smtClean="0"/>
              <a:t>6/18/2021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308E4-E9C4-4172-8EDE-CEB6C8BD43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9100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468DF-067B-4708-BF4E-888660123DFC}" type="datetimeFigureOut">
              <a:rPr lang="en-US" smtClean="0"/>
              <a:t>6/18/2021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308E4-E9C4-4172-8EDE-CEB6C8BD43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6158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468DF-067B-4708-BF4E-888660123DFC}" type="datetimeFigureOut">
              <a:rPr lang="en-US" smtClean="0"/>
              <a:t>6/18/2021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308E4-E9C4-4172-8EDE-CEB6C8BD43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3619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468DF-067B-4708-BF4E-888660123DFC}" type="datetimeFigureOut">
              <a:rPr lang="en-US" smtClean="0"/>
              <a:t>6/18/2021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308E4-E9C4-4172-8EDE-CEB6C8BD43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8681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468DF-067B-4708-BF4E-888660123DFC}" type="datetimeFigureOut">
              <a:rPr lang="en-US" smtClean="0"/>
              <a:t>6/18/2021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308E4-E9C4-4172-8EDE-CEB6C8BD43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0553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468DF-067B-4708-BF4E-888660123DFC}" type="datetimeFigureOut">
              <a:rPr lang="en-US" smtClean="0"/>
              <a:t>6/18/2021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308E4-E9C4-4172-8EDE-CEB6C8BD43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30739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468DF-067B-4708-BF4E-888660123DFC}" type="datetimeFigureOut">
              <a:rPr lang="en-US" smtClean="0"/>
              <a:t>6/18/2021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308E4-E9C4-4172-8EDE-CEB6C8BD43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5642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468DF-067B-4708-BF4E-888660123DFC}" type="datetimeFigureOut">
              <a:rPr lang="en-US" smtClean="0"/>
              <a:t>6/18/2021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308E4-E9C4-4172-8EDE-CEB6C8BD43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9418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468DF-067B-4708-BF4E-888660123DFC}" type="datetimeFigureOut">
              <a:rPr lang="en-US" smtClean="0"/>
              <a:t>6/18/2021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308E4-E9C4-4172-8EDE-CEB6C8BD43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487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8468DF-067B-4708-BF4E-888660123DFC}" type="datetimeFigureOut">
              <a:rPr lang="en-US" smtClean="0"/>
              <a:t>6/18/2021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3308E4-E9C4-4172-8EDE-CEB6C8BD43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9038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986887"/>
            <a:ext cx="9144000" cy="2387600"/>
          </a:xfrm>
        </p:spPr>
        <p:txBody>
          <a:bodyPr>
            <a:normAutofit/>
          </a:bodyPr>
          <a:lstStyle/>
          <a:p>
            <a:r>
              <a:rPr lang="en-US" sz="2400" b="1" dirty="0"/>
              <a:t>Course Name:</a:t>
            </a:r>
            <a:r>
              <a:rPr lang="en-US" sz="2400" dirty="0"/>
              <a:t> Dummy Variable and ANCOVA Models</a:t>
            </a:r>
            <a:br>
              <a:rPr lang="en-US" sz="2400" dirty="0"/>
            </a:br>
            <a:r>
              <a:rPr lang="en-US" sz="2400" b="1" dirty="0"/>
              <a:t>Course Duration:</a:t>
            </a:r>
            <a:r>
              <a:rPr lang="en-US" sz="2400" dirty="0"/>
              <a:t> 5 Days</a:t>
            </a:r>
            <a:br>
              <a:rPr lang="en-US" sz="2400" dirty="0"/>
            </a:br>
            <a:r>
              <a:rPr lang="en-US" sz="2400" b="1" dirty="0"/>
              <a:t>Course Resources:</a:t>
            </a:r>
            <a:r>
              <a:rPr lang="en-US" sz="2400" dirty="0"/>
              <a:t> Materials + Data + Codes </a:t>
            </a:r>
          </a:p>
        </p:txBody>
      </p:sp>
    </p:spTree>
    <p:extLst>
      <p:ext uri="{BB962C8B-B14F-4D97-AF65-F5344CB8AC3E}">
        <p14:creationId xmlns:p14="http://schemas.microsoft.com/office/powerpoint/2010/main" val="15967486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B1CFA6F9-8778-4EC8-B956-8DF1499FFC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42579" y="1611447"/>
            <a:ext cx="7982355" cy="4643438"/>
          </a:xfrm>
        </p:spPr>
      </p:pic>
    </p:spTree>
    <p:extLst>
      <p:ext uri="{BB962C8B-B14F-4D97-AF65-F5344CB8AC3E}">
        <p14:creationId xmlns:p14="http://schemas.microsoft.com/office/powerpoint/2010/main" val="31361203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2304B12-4AAD-497A-8022-256CF81864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135" y="1768509"/>
            <a:ext cx="4724400" cy="311467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4BC053D-76E2-41A8-B254-C677D20562E2}"/>
              </a:ext>
            </a:extLst>
          </p:cNvPr>
          <p:cNvSpPr txBox="1"/>
          <p:nvPr/>
        </p:nvSpPr>
        <p:spPr>
          <a:xfrm>
            <a:off x="5654201" y="1399773"/>
            <a:ext cx="6094378" cy="38521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Data from clinical trials study was collected to compare the effect of baseline blood pressure values on blood pressure changes after a certain treatment. 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Subject: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subject ID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Treatment: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Drug treatment (Approved Drug, New Drug and Placebo)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BaselineBP: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baseline of starting level of diastolic blood pressure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BPChange: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Change in the diastolic blood pressure from the beginning of the study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41878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EDBB560-9F59-44A5-8191-5D2D2403B1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282" y="1361873"/>
            <a:ext cx="10745518" cy="5389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10439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Dummy/Design Variables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9E9E878-9DA6-496B-9020-DBB11C4497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498" y="1690688"/>
            <a:ext cx="8623064" cy="5000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17742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Dummy/Design Variables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8D7EF69-649D-4E96-BE2B-6F0E6D27F7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2470" y="1902163"/>
            <a:ext cx="4343400" cy="27813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500E67B-7A9D-4FBA-A901-59428FEFDC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3702" y="5012074"/>
            <a:ext cx="9182911" cy="1325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71478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Dummy/Design Variables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C67FD98-A7F4-4319-8F58-9F7C4B3BCC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470498"/>
            <a:ext cx="9405026" cy="5319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36613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Dummy/Design Variables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4DF3B2C-78CC-4798-821F-A8D48F8F05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0937" y="1622594"/>
            <a:ext cx="4810125" cy="29051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15339E0-CBBF-416C-9C9B-656E397669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3353" y="4980460"/>
            <a:ext cx="8959175" cy="1099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72220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Dummy/Design Variables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A6C2488-6429-4346-B9D8-E28F7F6E97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4275" y="1690688"/>
            <a:ext cx="4743450" cy="28194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DFE792C-0361-4C1E-8B19-4431315997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574" y="5250909"/>
            <a:ext cx="11021439" cy="400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45238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Dummy/Design Variables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701C24A-5A39-44A9-88B8-292E56289D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6102" y="1890712"/>
            <a:ext cx="4810125" cy="30765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6358225-2B62-4F55-AC33-335B5B18BA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9375" y="1890712"/>
            <a:ext cx="5603740" cy="3076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44527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Dummy/Design Variables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58384A-87B9-4761-95D2-8C334FCDF1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2188" y="1690688"/>
            <a:ext cx="7704306" cy="4802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33292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Dummy/Design Variables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DE1E444-ED5A-4CE4-9A6B-12634B75A0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387" y="1984443"/>
            <a:ext cx="10972800" cy="4348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30965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8460231" y="2489663"/>
            <a:ext cx="18473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951691" y="2689718"/>
            <a:ext cx="3142207" cy="144655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8800" b="0" cap="none" spc="0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34678836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Dummy/Design Variables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6DAE1F3-F20A-4A1D-931A-4958DACD30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295" y="3033712"/>
            <a:ext cx="10972800" cy="1567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05879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Dummy/Design Variables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852B26D-A8B4-4C97-9D4D-5083F68FDF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6153" y="1446279"/>
            <a:ext cx="9153727" cy="5304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05683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Dummy/Design Variables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3EAEDCC-024E-4EB3-9BCE-E77506F7D4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5905" y="2244150"/>
            <a:ext cx="9440085" cy="3689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16853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Dummy/Design Variables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DAA4E7-5170-4509-B6A2-88575D3CB4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2417" y="1321340"/>
            <a:ext cx="9824935" cy="5419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18509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Dummy/Design Variables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87114A5-7A15-4447-A460-D955DADDDA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874" y="1875512"/>
            <a:ext cx="10650166" cy="13255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C04B833-5881-4EA3-8481-F9D2904DDE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181981"/>
            <a:ext cx="10650166" cy="2189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97320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Dummy/Design Variables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381F9D-E37B-445C-9C0B-7B2DFAE3A9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466974"/>
            <a:ext cx="10515600" cy="3710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17223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Dummy/Design Variables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FC0FD89-CE91-4A99-B948-9FC8608659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0434" y="1585609"/>
            <a:ext cx="8278238" cy="5107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31348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1307</TotalTime>
  <Words>154</Words>
  <Application>Microsoft Office PowerPoint</Application>
  <PresentationFormat>Widescreen</PresentationFormat>
  <Paragraphs>26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Calibri Light</vt:lpstr>
      <vt:lpstr>Office Theme</vt:lpstr>
      <vt:lpstr>Course Name: Dummy Variable and ANCOVA Models Course Duration: 5 Days Course Resources: Materials + Data + Codes </vt:lpstr>
      <vt:lpstr>Introduction</vt:lpstr>
      <vt:lpstr>Introduction</vt:lpstr>
      <vt:lpstr>Introduction</vt:lpstr>
      <vt:lpstr>Dummy/Design Variables</vt:lpstr>
      <vt:lpstr>Dummy/Design Variables</vt:lpstr>
      <vt:lpstr>Dummy/Design Variables</vt:lpstr>
      <vt:lpstr>Dummy/Design Variables</vt:lpstr>
      <vt:lpstr>Dummy/Design Variables</vt:lpstr>
      <vt:lpstr>Dummy/Design Variables</vt:lpstr>
      <vt:lpstr>Dummy/Design Variables</vt:lpstr>
      <vt:lpstr>Dummy/Design Variables</vt:lpstr>
      <vt:lpstr>PowerPoint Presentation</vt:lpstr>
      <vt:lpstr>Dummy/Design Variables</vt:lpstr>
      <vt:lpstr>Dummy/Design Variables</vt:lpstr>
      <vt:lpstr>Dummy/Design Variables</vt:lpstr>
      <vt:lpstr>Dummy/Design Variables</vt:lpstr>
      <vt:lpstr>Dummy/Design Variables</vt:lpstr>
      <vt:lpstr>Dummy/Design Variables</vt:lpstr>
      <vt:lpstr>Dummy/Design Variables</vt:lpstr>
    </vt:vector>
  </TitlesOfParts>
  <Company>SAS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Analysis by using SAS (Demo)</dc:title>
  <dc:creator>Urvish Shah</dc:creator>
  <cp:lastModifiedBy>Urvish Shah</cp:lastModifiedBy>
  <cp:revision>714</cp:revision>
  <dcterms:created xsi:type="dcterms:W3CDTF">2015-11-18T16:05:43Z</dcterms:created>
  <dcterms:modified xsi:type="dcterms:W3CDTF">2021-06-18T08:45:57Z</dcterms:modified>
</cp:coreProperties>
</file>