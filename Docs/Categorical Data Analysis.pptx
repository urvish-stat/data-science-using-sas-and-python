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2">
  <p:sldMasterIdLst>
    <p:sldMasterId id="2147483648" r:id="rId1"/>
  </p:sldMasterIdLst>
  <p:sldIdLst>
    <p:sldId id="256" r:id="rId2"/>
    <p:sldId id="257" r:id="rId3"/>
    <p:sldId id="258" r:id="rId4"/>
    <p:sldId id="259" r:id="rId5"/>
    <p:sldId id="260" r:id="rId6"/>
    <p:sldId id="261" r:id="rId7"/>
    <p:sldId id="262"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 id="284" r:id="rId29"/>
    <p:sldId id="285" r:id="rId30"/>
    <p:sldId id="286" r:id="rId31"/>
    <p:sldId id="287" r:id="rId32"/>
    <p:sldId id="288" r:id="rId33"/>
    <p:sldId id="289" r:id="rId34"/>
    <p:sldId id="290" r:id="rId35"/>
    <p:sldId id="291" r:id="rId36"/>
    <p:sldId id="292" r:id="rId37"/>
    <p:sldId id="293" r:id="rId38"/>
    <p:sldId id="294" r:id="rId39"/>
    <p:sldId id="295" r:id="rId40"/>
    <p:sldId id="296" r:id="rId41"/>
    <p:sldId id="297" r:id="rId42"/>
    <p:sldId id="298" r:id="rId43"/>
    <p:sldId id="299" r:id="rId44"/>
    <p:sldId id="300" r:id="rId45"/>
    <p:sldId id="301" r:id="rId46"/>
    <p:sldId id="302" r:id="rId47"/>
    <p:sldId id="303" r:id="rId48"/>
    <p:sldId id="304" r:id="rId49"/>
    <p:sldId id="305" r:id="rId50"/>
    <p:sldId id="306" r:id="rId51"/>
    <p:sldId id="307" r:id="rId52"/>
    <p:sldId id="308" r:id="rId53"/>
    <p:sldId id="309" r:id="rId54"/>
    <p:sldId id="310" r:id="rId55"/>
    <p:sldId id="311" r:id="rId56"/>
    <p:sldId id="312" r:id="rId57"/>
    <p:sldId id="313" r:id="rId58"/>
    <p:sldId id="314" r:id="rId59"/>
    <p:sldId id="315" r:id="rId60"/>
    <p:sldId id="316" r:id="rId61"/>
    <p:sldId id="317" r:id="rId62"/>
    <p:sldId id="318" r:id="rId63"/>
    <p:sldId id="319" r:id="rId64"/>
    <p:sldId id="320" r:id="rId65"/>
    <p:sldId id="321" r:id="rId66"/>
    <p:sldId id="322" r:id="rId67"/>
    <p:sldId id="323" r:id="rId68"/>
    <p:sldId id="324" r:id="rId69"/>
    <p:sldId id="325" r:id="rId70"/>
    <p:sldId id="326" r:id="rId71"/>
    <p:sldId id="327" r:id="rId72"/>
    <p:sldId id="328" r:id="rId73"/>
    <p:sldId id="329" r:id="rId74"/>
    <p:sldId id="330" r:id="rId75"/>
    <p:sldId id="331" r:id="rId76"/>
    <p:sldId id="332" r:id="rId77"/>
    <p:sldId id="333" r:id="rId78"/>
    <p:sldId id="334" r:id="rId79"/>
    <p:sldId id="335" r:id="rId80"/>
    <p:sldId id="336" r:id="rId81"/>
    <p:sldId id="337" r:id="rId82"/>
    <p:sldId id="338" r:id="rId83"/>
    <p:sldId id="339" r:id="rId84"/>
    <p:sldId id="340" r:id="rId85"/>
    <p:sldId id="341" r:id="rId86"/>
    <p:sldId id="342" r:id="rId87"/>
    <p:sldId id="343" r:id="rId88"/>
    <p:sldId id="344" r:id="rId89"/>
    <p:sldId id="345" r:id="rId90"/>
    <p:sldId id="346" r:id="rId91"/>
    <p:sldId id="351" r:id="rId92"/>
    <p:sldId id="347" r:id="rId93"/>
    <p:sldId id="348" r:id="rId94"/>
    <p:sldId id="349" r:id="rId95"/>
    <p:sldId id="352" r:id="rId96"/>
    <p:sldId id="353" r:id="rId97"/>
    <p:sldId id="354" r:id="rId98"/>
    <p:sldId id="350" r:id="rId99"/>
    <p:sldId id="355" r:id="rId100"/>
    <p:sldId id="356" r:id="rId101"/>
    <p:sldId id="357" r:id="rId102"/>
    <p:sldId id="358" r:id="rId103"/>
    <p:sldId id="359" r:id="rId104"/>
    <p:sldId id="360" r:id="rId105"/>
    <p:sldId id="361" r:id="rId106"/>
    <p:sldId id="363" r:id="rId107"/>
    <p:sldId id="362" r:id="rId108"/>
    <p:sldId id="364" r:id="rId109"/>
    <p:sldId id="365" r:id="rId110"/>
    <p:sldId id="366" r:id="rId111"/>
    <p:sldId id="367" r:id="rId1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30" autoAdjust="0"/>
    <p:restoredTop sz="91499" autoAdjust="0"/>
  </p:normalViewPr>
  <p:slideViewPr>
    <p:cSldViewPr snapToGrid="0">
      <p:cViewPr varScale="1">
        <p:scale>
          <a:sx n="79" d="100"/>
          <a:sy n="79" d="100"/>
        </p:scale>
        <p:origin x="821" y="67"/>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presProps" Target="presProps.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14" Type="http://schemas.openxmlformats.org/officeDocument/2006/relationships/viewProps" Target="view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theme" Target="theme/theme1.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5D8468DF-067B-4708-BF4E-888660123DFC}" type="datetimeFigureOut">
              <a:rPr lang="en-US" smtClean="0"/>
              <a:t>8/20/2020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13308E4-E9C4-4172-8EDE-CEB6C8BD43E6}" type="slidenum">
              <a:rPr lang="en-US" smtClean="0"/>
              <a:t>‹#›</a:t>
            </a:fld>
            <a:endParaRPr lang="en-US"/>
          </a:p>
        </p:txBody>
      </p:sp>
    </p:spTree>
    <p:extLst>
      <p:ext uri="{BB962C8B-B14F-4D97-AF65-F5344CB8AC3E}">
        <p14:creationId xmlns:p14="http://schemas.microsoft.com/office/powerpoint/2010/main" val="26921505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D8468DF-067B-4708-BF4E-888660123DFC}" type="datetimeFigureOut">
              <a:rPr lang="en-US" smtClean="0"/>
              <a:t>8/20/2020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13308E4-E9C4-4172-8EDE-CEB6C8BD43E6}" type="slidenum">
              <a:rPr lang="en-US" smtClean="0"/>
              <a:t>‹#›</a:t>
            </a:fld>
            <a:endParaRPr lang="en-US"/>
          </a:p>
        </p:txBody>
      </p:sp>
    </p:spTree>
    <p:extLst>
      <p:ext uri="{BB962C8B-B14F-4D97-AF65-F5344CB8AC3E}">
        <p14:creationId xmlns:p14="http://schemas.microsoft.com/office/powerpoint/2010/main" val="12111062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D8468DF-067B-4708-BF4E-888660123DFC}" type="datetimeFigureOut">
              <a:rPr lang="en-US" smtClean="0"/>
              <a:t>8/20/2020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13308E4-E9C4-4172-8EDE-CEB6C8BD43E6}" type="slidenum">
              <a:rPr lang="en-US" smtClean="0"/>
              <a:t>‹#›</a:t>
            </a:fld>
            <a:endParaRPr lang="en-US"/>
          </a:p>
        </p:txBody>
      </p:sp>
    </p:spTree>
    <p:extLst>
      <p:ext uri="{BB962C8B-B14F-4D97-AF65-F5344CB8AC3E}">
        <p14:creationId xmlns:p14="http://schemas.microsoft.com/office/powerpoint/2010/main" val="17491000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D8468DF-067B-4708-BF4E-888660123DFC}" type="datetimeFigureOut">
              <a:rPr lang="en-US" smtClean="0"/>
              <a:t>8/20/2020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13308E4-E9C4-4172-8EDE-CEB6C8BD43E6}" type="slidenum">
              <a:rPr lang="en-US" smtClean="0"/>
              <a:t>‹#›</a:t>
            </a:fld>
            <a:endParaRPr lang="en-US"/>
          </a:p>
        </p:txBody>
      </p:sp>
    </p:spTree>
    <p:extLst>
      <p:ext uri="{BB962C8B-B14F-4D97-AF65-F5344CB8AC3E}">
        <p14:creationId xmlns:p14="http://schemas.microsoft.com/office/powerpoint/2010/main" val="12836158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D8468DF-067B-4708-BF4E-888660123DFC}" type="datetimeFigureOut">
              <a:rPr lang="en-US" smtClean="0"/>
              <a:t>8/20/2020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13308E4-E9C4-4172-8EDE-CEB6C8BD43E6}" type="slidenum">
              <a:rPr lang="en-US" smtClean="0"/>
              <a:t>‹#›</a:t>
            </a:fld>
            <a:endParaRPr lang="en-US"/>
          </a:p>
        </p:txBody>
      </p:sp>
    </p:spTree>
    <p:extLst>
      <p:ext uri="{BB962C8B-B14F-4D97-AF65-F5344CB8AC3E}">
        <p14:creationId xmlns:p14="http://schemas.microsoft.com/office/powerpoint/2010/main" val="24743619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D8468DF-067B-4708-BF4E-888660123DFC}" type="datetimeFigureOut">
              <a:rPr lang="en-US" smtClean="0"/>
              <a:t>8/20/2020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13308E4-E9C4-4172-8EDE-CEB6C8BD43E6}" type="slidenum">
              <a:rPr lang="en-US" smtClean="0"/>
              <a:t>‹#›</a:t>
            </a:fld>
            <a:endParaRPr lang="en-US"/>
          </a:p>
        </p:txBody>
      </p:sp>
    </p:spTree>
    <p:extLst>
      <p:ext uri="{BB962C8B-B14F-4D97-AF65-F5344CB8AC3E}">
        <p14:creationId xmlns:p14="http://schemas.microsoft.com/office/powerpoint/2010/main" val="27328681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D8468DF-067B-4708-BF4E-888660123DFC}" type="datetimeFigureOut">
              <a:rPr lang="en-US" smtClean="0"/>
              <a:t>8/20/2020</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13308E4-E9C4-4172-8EDE-CEB6C8BD43E6}" type="slidenum">
              <a:rPr lang="en-US" smtClean="0"/>
              <a:t>‹#›</a:t>
            </a:fld>
            <a:endParaRPr lang="en-US"/>
          </a:p>
        </p:txBody>
      </p:sp>
    </p:spTree>
    <p:extLst>
      <p:ext uri="{BB962C8B-B14F-4D97-AF65-F5344CB8AC3E}">
        <p14:creationId xmlns:p14="http://schemas.microsoft.com/office/powerpoint/2010/main" val="332205538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D8468DF-067B-4708-BF4E-888660123DFC}" type="datetimeFigureOut">
              <a:rPr lang="en-US" smtClean="0"/>
              <a:t>8/20/2020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13308E4-E9C4-4172-8EDE-CEB6C8BD43E6}" type="slidenum">
              <a:rPr lang="en-US" smtClean="0"/>
              <a:t>‹#›</a:t>
            </a:fld>
            <a:endParaRPr lang="en-US"/>
          </a:p>
        </p:txBody>
      </p:sp>
    </p:spTree>
    <p:extLst>
      <p:ext uri="{BB962C8B-B14F-4D97-AF65-F5344CB8AC3E}">
        <p14:creationId xmlns:p14="http://schemas.microsoft.com/office/powerpoint/2010/main" val="31230739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D8468DF-067B-4708-BF4E-888660123DFC}" type="datetimeFigureOut">
              <a:rPr lang="en-US" smtClean="0"/>
              <a:t>8/20/2020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13308E4-E9C4-4172-8EDE-CEB6C8BD43E6}" type="slidenum">
              <a:rPr lang="en-US" smtClean="0"/>
              <a:t>‹#›</a:t>
            </a:fld>
            <a:endParaRPr lang="en-US"/>
          </a:p>
        </p:txBody>
      </p:sp>
    </p:spTree>
    <p:extLst>
      <p:ext uri="{BB962C8B-B14F-4D97-AF65-F5344CB8AC3E}">
        <p14:creationId xmlns:p14="http://schemas.microsoft.com/office/powerpoint/2010/main" val="35356427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D8468DF-067B-4708-BF4E-888660123DFC}" type="datetimeFigureOut">
              <a:rPr lang="en-US" smtClean="0"/>
              <a:t>8/20/2020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13308E4-E9C4-4172-8EDE-CEB6C8BD43E6}" type="slidenum">
              <a:rPr lang="en-US" smtClean="0"/>
              <a:t>‹#›</a:t>
            </a:fld>
            <a:endParaRPr lang="en-US"/>
          </a:p>
        </p:txBody>
      </p:sp>
    </p:spTree>
    <p:extLst>
      <p:ext uri="{BB962C8B-B14F-4D97-AF65-F5344CB8AC3E}">
        <p14:creationId xmlns:p14="http://schemas.microsoft.com/office/powerpoint/2010/main" val="3909418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D8468DF-067B-4708-BF4E-888660123DFC}" type="datetimeFigureOut">
              <a:rPr lang="en-US" smtClean="0"/>
              <a:t>8/20/2020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13308E4-E9C4-4172-8EDE-CEB6C8BD43E6}" type="slidenum">
              <a:rPr lang="en-US" smtClean="0"/>
              <a:t>‹#›</a:t>
            </a:fld>
            <a:endParaRPr lang="en-US"/>
          </a:p>
        </p:txBody>
      </p:sp>
    </p:spTree>
    <p:extLst>
      <p:ext uri="{BB962C8B-B14F-4D97-AF65-F5344CB8AC3E}">
        <p14:creationId xmlns:p14="http://schemas.microsoft.com/office/powerpoint/2010/main" val="32124879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D8468DF-067B-4708-BF4E-888660123DFC}" type="datetimeFigureOut">
              <a:rPr lang="en-US" smtClean="0"/>
              <a:t>8/20/2020</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13308E4-E9C4-4172-8EDE-CEB6C8BD43E6}" type="slidenum">
              <a:rPr lang="en-US" smtClean="0"/>
              <a:t>‹#›</a:t>
            </a:fld>
            <a:endParaRPr lang="en-US"/>
          </a:p>
        </p:txBody>
      </p:sp>
    </p:spTree>
    <p:extLst>
      <p:ext uri="{BB962C8B-B14F-4D97-AF65-F5344CB8AC3E}">
        <p14:creationId xmlns:p14="http://schemas.microsoft.com/office/powerpoint/2010/main" val="421790381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image" Target="../media/image64.png"/><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image" Target="../media/image66.png"/><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image" Target="../media/image68.png"/><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image" Target="../media/image71.png"/><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image" Target="../media/image73.png"/><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2" Type="http://schemas.openxmlformats.org/officeDocument/2006/relationships/image" Target="../media/image74.png"/><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2" Type="http://schemas.openxmlformats.org/officeDocument/2006/relationships/image" Target="../media/image75.png"/><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image" Target="../media/image76.png"/><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2" Type="http://schemas.openxmlformats.org/officeDocument/2006/relationships/image" Target="../media/image78.png"/><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image" Target="../media/image79.png"/><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986887"/>
            <a:ext cx="9144000" cy="2387600"/>
          </a:xfrm>
        </p:spPr>
        <p:txBody>
          <a:bodyPr>
            <a:normAutofit/>
          </a:bodyPr>
          <a:lstStyle/>
          <a:p>
            <a:r>
              <a:rPr lang="en-US" sz="2400" b="1" dirty="0"/>
              <a:t>Course Name:</a:t>
            </a:r>
            <a:r>
              <a:rPr lang="en-US" sz="2400" dirty="0"/>
              <a:t> Categorical Data Analysis using SAS</a:t>
            </a:r>
            <a:br>
              <a:rPr lang="en-US" sz="2400" dirty="0"/>
            </a:br>
            <a:r>
              <a:rPr lang="en-US" sz="2400" b="1" dirty="0"/>
              <a:t>Course Duration:</a:t>
            </a:r>
            <a:r>
              <a:rPr lang="en-US" sz="2400" dirty="0"/>
              <a:t> 15+ Hours Approx.</a:t>
            </a:r>
            <a:br>
              <a:rPr lang="en-US" sz="2400" dirty="0"/>
            </a:br>
            <a:r>
              <a:rPr lang="en-US" sz="2400" b="1" dirty="0"/>
              <a:t>Course Resources:</a:t>
            </a:r>
            <a:r>
              <a:rPr lang="en-US" sz="2400" dirty="0"/>
              <a:t> Materials + Data + Codes </a:t>
            </a:r>
          </a:p>
        </p:txBody>
      </p:sp>
    </p:spTree>
    <p:extLst>
      <p:ext uri="{BB962C8B-B14F-4D97-AF65-F5344CB8AC3E}">
        <p14:creationId xmlns:p14="http://schemas.microsoft.com/office/powerpoint/2010/main" val="15967486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Disclaimer</a:t>
            </a:r>
          </a:p>
        </p:txBody>
      </p:sp>
      <p:sp>
        <p:nvSpPr>
          <p:cNvPr id="5" name="Content Placeholder 4"/>
          <p:cNvSpPr>
            <a:spLocks noGrp="1"/>
          </p:cNvSpPr>
          <p:nvPr>
            <p:ph idx="1"/>
          </p:nvPr>
        </p:nvSpPr>
        <p:spPr/>
        <p:txBody>
          <a:bodyPr/>
          <a:lstStyle/>
          <a:p>
            <a:r>
              <a:rPr lang="en-US" dirty="0"/>
              <a:t>This course is designed to cover the Statistical Methods for categorical data analysis by using SAS software (like SAS/Stat, SAS/Graph, SAS/ODS, SAS/Base and SAS/Advance). </a:t>
            </a:r>
          </a:p>
          <a:p>
            <a:pPr marL="0" indent="0">
              <a:buNone/>
            </a:pPr>
            <a:endParaRPr lang="en-US" dirty="0"/>
          </a:p>
          <a:p>
            <a:r>
              <a:rPr lang="en-US" dirty="0"/>
              <a:t>It assumes that candidate should have basic knowledge of descriptive statistics, confidence interval, hypothesis testing and linear regression. </a:t>
            </a:r>
          </a:p>
          <a:p>
            <a:pPr marL="0" indent="0">
              <a:buNone/>
            </a:pPr>
            <a:r>
              <a:rPr lang="en-US" dirty="0"/>
              <a:t> </a:t>
            </a:r>
          </a:p>
          <a:p>
            <a:pPr marL="0" indent="0">
              <a:buNone/>
            </a:pPr>
            <a:endParaRPr lang="en-US" i="1" dirty="0"/>
          </a:p>
          <a:p>
            <a:pPr marL="0" indent="0">
              <a:buNone/>
            </a:pPr>
            <a:endParaRPr lang="en-US" i="1" dirty="0"/>
          </a:p>
        </p:txBody>
      </p:sp>
    </p:spTree>
    <p:extLst>
      <p:ext uri="{BB962C8B-B14F-4D97-AF65-F5344CB8AC3E}">
        <p14:creationId xmlns:p14="http://schemas.microsoft.com/office/powerpoint/2010/main" val="8164141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Index/Agenda</a:t>
            </a:r>
          </a:p>
        </p:txBody>
      </p:sp>
      <p:sp>
        <p:nvSpPr>
          <p:cNvPr id="5" name="Content Placeholder 4"/>
          <p:cNvSpPr>
            <a:spLocks noGrp="1"/>
          </p:cNvSpPr>
          <p:nvPr>
            <p:ph idx="1"/>
          </p:nvPr>
        </p:nvSpPr>
        <p:spPr/>
        <p:txBody>
          <a:bodyPr>
            <a:noAutofit/>
          </a:bodyPr>
          <a:lstStyle/>
          <a:p>
            <a:pPr>
              <a:buFont typeface="Wingdings" panose="05000000000000000000" pitchFamily="2" charset="2"/>
              <a:buChar char="Ø"/>
            </a:pPr>
            <a:r>
              <a:rPr lang="en-US" sz="2000" b="1" dirty="0">
                <a:solidFill>
                  <a:srgbClr val="FFFF00"/>
                </a:solidFill>
              </a:rPr>
              <a:t>Categorical Data Analysis </a:t>
            </a:r>
            <a:endParaRPr lang="en-US" sz="2000" dirty="0">
              <a:solidFill>
                <a:srgbClr val="FFFF00"/>
              </a:solidFill>
            </a:endParaRPr>
          </a:p>
          <a:p>
            <a:pPr lvl="0"/>
            <a:r>
              <a:rPr lang="en-US" sz="2000" dirty="0"/>
              <a:t>Examining Distributions </a:t>
            </a:r>
          </a:p>
          <a:p>
            <a:pPr lvl="0"/>
            <a:r>
              <a:rPr lang="en-US" sz="2000" dirty="0"/>
              <a:t>Test of Associations </a:t>
            </a:r>
          </a:p>
          <a:p>
            <a:pPr lvl="0"/>
            <a:r>
              <a:rPr lang="en-US" sz="2000" dirty="0"/>
              <a:t>Fisher's Exact p-values for Pearson Chi-square test</a:t>
            </a:r>
          </a:p>
          <a:p>
            <a:pPr marL="0" lvl="0" indent="0">
              <a:buNone/>
            </a:pPr>
            <a:endParaRPr lang="en-US" sz="2000" dirty="0"/>
          </a:p>
          <a:p>
            <a:pPr>
              <a:buFont typeface="Wingdings" panose="05000000000000000000" pitchFamily="2" charset="2"/>
              <a:buChar char="Ø"/>
            </a:pPr>
            <a:r>
              <a:rPr lang="en-US" sz="2000" b="1" dirty="0">
                <a:solidFill>
                  <a:srgbClr val="FFFF00"/>
                </a:solidFill>
              </a:rPr>
              <a:t>Logistic Regression </a:t>
            </a:r>
            <a:endParaRPr lang="en-US" sz="2000" dirty="0">
              <a:solidFill>
                <a:srgbClr val="FFFF00"/>
              </a:solidFill>
            </a:endParaRPr>
          </a:p>
          <a:p>
            <a:pPr lvl="0"/>
            <a:r>
              <a:rPr lang="en-US" sz="2000" dirty="0"/>
              <a:t>Odds and Odds Ratio</a:t>
            </a:r>
          </a:p>
          <a:p>
            <a:pPr lvl="0"/>
            <a:r>
              <a:rPr lang="en-US" sz="2000" dirty="0"/>
              <a:t>Simple Logistic Regression</a:t>
            </a:r>
          </a:p>
          <a:p>
            <a:pPr lvl="0"/>
            <a:r>
              <a:rPr lang="en-US" sz="2000" dirty="0"/>
              <a:t>Multiple Logistic Regression with categorical predictors </a:t>
            </a:r>
          </a:p>
          <a:p>
            <a:pPr lvl="0"/>
            <a:r>
              <a:rPr lang="en-US" sz="2000" dirty="0"/>
              <a:t>Analyze the output from Proc logistic</a:t>
            </a:r>
            <a:endParaRPr lang="en-US" sz="2000" i="1" dirty="0"/>
          </a:p>
          <a:p>
            <a:pPr marL="0" indent="0">
              <a:buNone/>
            </a:pPr>
            <a:endParaRPr lang="en-US" sz="2000" i="1" dirty="0"/>
          </a:p>
        </p:txBody>
      </p:sp>
    </p:spTree>
    <p:extLst>
      <p:ext uri="{BB962C8B-B14F-4D97-AF65-F5344CB8AC3E}">
        <p14:creationId xmlns:p14="http://schemas.microsoft.com/office/powerpoint/2010/main" val="20331289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Index/Agenda</a:t>
            </a:r>
          </a:p>
        </p:txBody>
      </p:sp>
      <p:sp>
        <p:nvSpPr>
          <p:cNvPr id="5" name="Content Placeholder 4"/>
          <p:cNvSpPr>
            <a:spLocks noGrp="1"/>
          </p:cNvSpPr>
          <p:nvPr>
            <p:ph idx="1"/>
          </p:nvPr>
        </p:nvSpPr>
        <p:spPr/>
        <p:txBody>
          <a:bodyPr>
            <a:noAutofit/>
          </a:bodyPr>
          <a:lstStyle/>
          <a:p>
            <a:endParaRPr lang="en-US" sz="2000" dirty="0"/>
          </a:p>
          <a:p>
            <a:pPr>
              <a:buFont typeface="Wingdings" panose="05000000000000000000" pitchFamily="2" charset="2"/>
              <a:buChar char="Ø"/>
            </a:pPr>
            <a:r>
              <a:rPr lang="en-US" sz="2000" b="1" dirty="0">
                <a:solidFill>
                  <a:srgbClr val="FFFF00"/>
                </a:solidFill>
              </a:rPr>
              <a:t>Measure Model Performance</a:t>
            </a:r>
            <a:endParaRPr lang="en-US" sz="2000" dirty="0">
              <a:solidFill>
                <a:srgbClr val="FFFF00"/>
              </a:solidFill>
            </a:endParaRPr>
          </a:p>
          <a:p>
            <a:pPr lvl="0"/>
            <a:r>
              <a:rPr lang="en-US" sz="2000" dirty="0"/>
              <a:t>Apply the principles of honest assessment to model performance measurement</a:t>
            </a:r>
          </a:p>
          <a:p>
            <a:pPr lvl="0"/>
            <a:r>
              <a:rPr lang="en-US" sz="2000" dirty="0"/>
              <a:t>Assess classifier performance using the confusion matrix</a:t>
            </a:r>
          </a:p>
          <a:p>
            <a:pPr lvl="0"/>
            <a:r>
              <a:rPr lang="en-US" sz="2000" dirty="0"/>
              <a:t>Model selection and validation using training and validation data</a:t>
            </a:r>
          </a:p>
          <a:p>
            <a:pPr lvl="0"/>
            <a:r>
              <a:rPr lang="en-US" sz="2000" dirty="0"/>
              <a:t>Create and interpret graphs (ROC, lift, and gains charts) for model comparison and selection</a:t>
            </a:r>
          </a:p>
          <a:p>
            <a:r>
              <a:rPr lang="en-US" sz="2000" dirty="0"/>
              <a:t>Establish effective decision cut-off values for scoring  </a:t>
            </a:r>
          </a:p>
          <a:p>
            <a:pPr marL="0" indent="0">
              <a:buNone/>
            </a:pPr>
            <a:endParaRPr lang="en-US" sz="2000" i="1" dirty="0"/>
          </a:p>
        </p:txBody>
      </p:sp>
    </p:spTree>
    <p:extLst>
      <p:ext uri="{BB962C8B-B14F-4D97-AF65-F5344CB8AC3E}">
        <p14:creationId xmlns:p14="http://schemas.microsoft.com/office/powerpoint/2010/main" val="31419138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Examining Distributions </a:t>
            </a:r>
          </a:p>
        </p:txBody>
      </p:sp>
      <p:pic>
        <p:nvPicPr>
          <p:cNvPr id="3" name="Picture 2"/>
          <p:cNvPicPr>
            <a:picLocks noChangeAspect="1"/>
          </p:cNvPicPr>
          <p:nvPr/>
        </p:nvPicPr>
        <p:blipFill>
          <a:blip r:embed="rId2"/>
          <a:stretch>
            <a:fillRect/>
          </a:stretch>
        </p:blipFill>
        <p:spPr>
          <a:xfrm>
            <a:off x="838201" y="1690689"/>
            <a:ext cx="10898874" cy="4983066"/>
          </a:xfrm>
          <a:prstGeom prst="rect">
            <a:avLst/>
          </a:prstGeom>
        </p:spPr>
      </p:pic>
    </p:spTree>
    <p:extLst>
      <p:ext uri="{BB962C8B-B14F-4D97-AF65-F5344CB8AC3E}">
        <p14:creationId xmlns:p14="http://schemas.microsoft.com/office/powerpoint/2010/main" val="26089518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Examining Distributions </a:t>
            </a:r>
          </a:p>
        </p:txBody>
      </p:sp>
      <p:sp>
        <p:nvSpPr>
          <p:cNvPr id="5" name="Content Placeholder 4"/>
          <p:cNvSpPr>
            <a:spLocks noGrp="1"/>
          </p:cNvSpPr>
          <p:nvPr>
            <p:ph idx="1"/>
          </p:nvPr>
        </p:nvSpPr>
        <p:spPr/>
        <p:txBody>
          <a:bodyPr>
            <a:noAutofit/>
          </a:bodyPr>
          <a:lstStyle/>
          <a:p>
            <a:r>
              <a:rPr lang="en-US" sz="2400" dirty="0"/>
              <a:t>By examining the distributions of categorical variables, you can do following:   </a:t>
            </a:r>
          </a:p>
          <a:p>
            <a:pPr marL="0" indent="0">
              <a:buNone/>
            </a:pPr>
            <a:r>
              <a:rPr lang="en-US" sz="2400" dirty="0"/>
              <a:t>                  determine the frequencies of data values. </a:t>
            </a:r>
          </a:p>
          <a:p>
            <a:pPr marL="0" indent="0">
              <a:buNone/>
            </a:pPr>
            <a:r>
              <a:rPr lang="en-US" sz="2400" dirty="0"/>
              <a:t>                  recognize possible association among the variables (</a:t>
            </a:r>
            <a:r>
              <a:rPr lang="en-US" sz="2400" i="1" dirty="0">
                <a:solidFill>
                  <a:srgbClr val="FF0000"/>
                </a:solidFill>
              </a:rPr>
              <a:t>Test of Association</a:t>
            </a:r>
            <a:r>
              <a:rPr lang="en-US" sz="2400" dirty="0"/>
              <a:t>).</a:t>
            </a:r>
          </a:p>
          <a:p>
            <a:pPr marL="0" indent="0">
              <a:buNone/>
            </a:pPr>
            <a:endParaRPr lang="en-US" sz="2400" dirty="0"/>
          </a:p>
          <a:p>
            <a:r>
              <a:rPr lang="en-US" sz="2400" dirty="0"/>
              <a:t> An association exists between two categorical variables if the distribution of one variable changes across the level/value of another variable. </a:t>
            </a:r>
          </a:p>
          <a:p>
            <a:endParaRPr lang="en-US" sz="2400" dirty="0"/>
          </a:p>
          <a:p>
            <a:r>
              <a:rPr lang="en-US" sz="2400" dirty="0"/>
              <a:t>If there is no association, the distribution of one variable is the same across the level of another variable.   </a:t>
            </a:r>
          </a:p>
        </p:txBody>
      </p:sp>
    </p:spTree>
    <p:extLst>
      <p:ext uri="{BB962C8B-B14F-4D97-AF65-F5344CB8AC3E}">
        <p14:creationId xmlns:p14="http://schemas.microsoft.com/office/powerpoint/2010/main" val="31361203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Examining Distributions </a:t>
            </a:r>
          </a:p>
        </p:txBody>
      </p:sp>
      <p:pic>
        <p:nvPicPr>
          <p:cNvPr id="2" name="Content Placeholder 1"/>
          <p:cNvPicPr>
            <a:picLocks noGrp="1" noChangeAspect="1"/>
          </p:cNvPicPr>
          <p:nvPr>
            <p:ph idx="1"/>
          </p:nvPr>
        </p:nvPicPr>
        <p:blipFill>
          <a:blip r:embed="rId2"/>
          <a:stretch>
            <a:fillRect/>
          </a:stretch>
        </p:blipFill>
        <p:spPr>
          <a:xfrm>
            <a:off x="838200" y="1936347"/>
            <a:ext cx="5330588" cy="3468167"/>
          </a:xfrm>
          <a:prstGeom prst="rect">
            <a:avLst/>
          </a:prstGeom>
        </p:spPr>
      </p:pic>
      <p:sp>
        <p:nvSpPr>
          <p:cNvPr id="3" name="Rectangle 2"/>
          <p:cNvSpPr/>
          <p:nvPr/>
        </p:nvSpPr>
        <p:spPr>
          <a:xfrm>
            <a:off x="8460231" y="2489663"/>
            <a:ext cx="184730" cy="923330"/>
          </a:xfrm>
          <a:prstGeom prst="rect">
            <a:avLst/>
          </a:prstGeom>
          <a:noFill/>
        </p:spPr>
        <p:txBody>
          <a:bodyPr wrap="none" lIns="91440" tIns="45720" rIns="91440" bIns="45720">
            <a:spAutoFit/>
          </a:bodyPr>
          <a:lstStyle/>
          <a:p>
            <a:pPr algn="ctr"/>
            <a:endParaRPr lang="en-US" sz="5400" b="0" cap="none" spc="0" dirty="0">
              <a:ln w="0"/>
              <a:solidFill>
                <a:schemeClr val="tx1"/>
              </a:solidFill>
              <a:effectLst>
                <a:outerShdw blurRad="38100" dist="19050" dir="2700000" algn="tl" rotWithShape="0">
                  <a:schemeClr val="dk1">
                    <a:alpha val="40000"/>
                  </a:schemeClr>
                </a:outerShdw>
              </a:effectLst>
            </a:endParaRPr>
          </a:p>
        </p:txBody>
      </p:sp>
      <p:sp>
        <p:nvSpPr>
          <p:cNvPr id="6" name="Rectangle 5"/>
          <p:cNvSpPr/>
          <p:nvPr/>
        </p:nvSpPr>
        <p:spPr>
          <a:xfrm>
            <a:off x="6111356" y="3112783"/>
            <a:ext cx="5871480" cy="1200329"/>
          </a:xfrm>
          <a:prstGeom prst="rect">
            <a:avLst/>
          </a:prstGeom>
          <a:noFill/>
        </p:spPr>
        <p:txBody>
          <a:bodyPr wrap="none" lIns="91440" tIns="45720" rIns="91440" bIns="45720">
            <a:spAutoFit/>
          </a:bodyPr>
          <a:lstStyle/>
          <a:p>
            <a:pPr algn="ctr"/>
            <a:r>
              <a:rPr lang="en-US" sz="2400" b="1" i="1" cap="none" spc="0" dirty="0">
                <a:ln w="0"/>
                <a:solidFill>
                  <a:srgbClr val="FFFF00"/>
                </a:solidFill>
                <a:effectLst>
                  <a:outerShdw blurRad="38100" dist="19050" dir="2700000" algn="tl" rotWithShape="0">
                    <a:schemeClr val="dk1">
                      <a:alpha val="40000"/>
                    </a:schemeClr>
                  </a:outerShdw>
                </a:effectLst>
              </a:rPr>
              <a:t>There appears to be no association between </a:t>
            </a:r>
          </a:p>
          <a:p>
            <a:pPr algn="ctr"/>
            <a:r>
              <a:rPr lang="en-US" sz="2400" b="1" i="1" cap="none" spc="0" dirty="0">
                <a:ln w="0"/>
                <a:solidFill>
                  <a:srgbClr val="FFFF00"/>
                </a:solidFill>
                <a:effectLst>
                  <a:outerShdw blurRad="38100" dist="19050" dir="2700000" algn="tl" rotWithShape="0">
                    <a:schemeClr val="dk1">
                      <a:alpha val="40000"/>
                    </a:schemeClr>
                  </a:outerShdw>
                </a:effectLst>
              </a:rPr>
              <a:t>manager’s mood and whether as each rows</a:t>
            </a:r>
          </a:p>
          <a:p>
            <a:pPr algn="ctr"/>
            <a:r>
              <a:rPr lang="en-US" sz="2400" b="1" i="1" dirty="0">
                <a:ln w="0"/>
                <a:solidFill>
                  <a:srgbClr val="FFFF00"/>
                </a:solidFill>
                <a:effectLst>
                  <a:outerShdw blurRad="38100" dist="19050" dir="2700000" algn="tl" rotWithShape="0">
                    <a:schemeClr val="dk1">
                      <a:alpha val="40000"/>
                    </a:schemeClr>
                  </a:outerShdw>
                </a:effectLst>
              </a:rPr>
              <a:t>has the </a:t>
            </a:r>
            <a:r>
              <a:rPr lang="en-US" sz="2400" b="1" i="1" dirty="0">
                <a:ln w="0"/>
                <a:solidFill>
                  <a:srgbClr val="FF0000"/>
                </a:solidFill>
                <a:effectLst>
                  <a:outerShdw blurRad="38100" dist="19050" dir="2700000" algn="tl" rotWithShape="0">
                    <a:schemeClr val="dk1">
                      <a:alpha val="40000"/>
                    </a:schemeClr>
                  </a:outerShdw>
                </a:effectLst>
              </a:rPr>
              <a:t>same</a:t>
            </a:r>
            <a:r>
              <a:rPr lang="en-US" sz="2400" b="1" i="1" dirty="0">
                <a:ln w="0"/>
                <a:solidFill>
                  <a:srgbClr val="FFFF00"/>
                </a:solidFill>
                <a:effectLst>
                  <a:outerShdw blurRad="38100" dist="19050" dir="2700000" algn="tl" rotWithShape="0">
                    <a:schemeClr val="dk1">
                      <a:alpha val="40000"/>
                    </a:schemeClr>
                  </a:outerShdw>
                </a:effectLst>
              </a:rPr>
              <a:t> percentage in each column</a:t>
            </a:r>
            <a:endParaRPr lang="en-US" sz="2400" b="1" i="1" cap="none" spc="0" dirty="0">
              <a:ln w="0"/>
              <a:solidFill>
                <a:srgbClr val="FFFF00"/>
              </a:solidFill>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40023113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Examining Distributions </a:t>
            </a:r>
          </a:p>
        </p:txBody>
      </p:sp>
      <p:sp>
        <p:nvSpPr>
          <p:cNvPr id="3" name="Rectangle 2"/>
          <p:cNvSpPr/>
          <p:nvPr/>
        </p:nvSpPr>
        <p:spPr>
          <a:xfrm>
            <a:off x="8460231" y="2489663"/>
            <a:ext cx="184730" cy="923330"/>
          </a:xfrm>
          <a:prstGeom prst="rect">
            <a:avLst/>
          </a:prstGeom>
          <a:noFill/>
        </p:spPr>
        <p:txBody>
          <a:bodyPr wrap="none" lIns="91440" tIns="45720" rIns="91440" bIns="45720">
            <a:spAutoFit/>
          </a:bodyPr>
          <a:lstStyle/>
          <a:p>
            <a:pPr algn="ctr"/>
            <a:endParaRPr lang="en-US" sz="5400" b="0" cap="none" spc="0" dirty="0">
              <a:ln w="0"/>
              <a:solidFill>
                <a:schemeClr val="tx1"/>
              </a:solidFill>
              <a:effectLst>
                <a:outerShdw blurRad="38100" dist="19050" dir="2700000" algn="tl" rotWithShape="0">
                  <a:schemeClr val="dk1">
                    <a:alpha val="40000"/>
                  </a:schemeClr>
                </a:outerShdw>
              </a:effectLst>
            </a:endParaRPr>
          </a:p>
        </p:txBody>
      </p:sp>
      <p:sp>
        <p:nvSpPr>
          <p:cNvPr id="6" name="Rectangle 5"/>
          <p:cNvSpPr/>
          <p:nvPr/>
        </p:nvSpPr>
        <p:spPr>
          <a:xfrm>
            <a:off x="6111356" y="3112783"/>
            <a:ext cx="5871480" cy="1200329"/>
          </a:xfrm>
          <a:prstGeom prst="rect">
            <a:avLst/>
          </a:prstGeom>
          <a:noFill/>
        </p:spPr>
        <p:txBody>
          <a:bodyPr wrap="none" lIns="91440" tIns="45720" rIns="91440" bIns="45720">
            <a:spAutoFit/>
          </a:bodyPr>
          <a:lstStyle/>
          <a:p>
            <a:pPr algn="ctr"/>
            <a:r>
              <a:rPr lang="en-US" sz="2400" b="1" i="1" cap="none" spc="0" dirty="0">
                <a:ln w="0"/>
                <a:solidFill>
                  <a:srgbClr val="FFFF00"/>
                </a:solidFill>
                <a:effectLst>
                  <a:outerShdw blurRad="38100" dist="19050" dir="2700000" algn="tl" rotWithShape="0">
                    <a:schemeClr val="dk1">
                      <a:alpha val="40000"/>
                    </a:schemeClr>
                  </a:outerShdw>
                </a:effectLst>
              </a:rPr>
              <a:t>There appears to be </a:t>
            </a:r>
            <a:r>
              <a:rPr lang="en-US" sz="2400" b="1" i="1" dirty="0">
                <a:ln w="0"/>
                <a:solidFill>
                  <a:srgbClr val="FFFF00"/>
                </a:solidFill>
                <a:effectLst>
                  <a:outerShdw blurRad="38100" dist="19050" dir="2700000" algn="tl" rotWithShape="0">
                    <a:schemeClr val="dk1">
                      <a:alpha val="40000"/>
                    </a:schemeClr>
                  </a:outerShdw>
                </a:effectLst>
              </a:rPr>
              <a:t>an </a:t>
            </a:r>
            <a:r>
              <a:rPr lang="en-US" sz="2400" b="1" i="1" cap="none" spc="0" dirty="0">
                <a:ln w="0"/>
                <a:solidFill>
                  <a:srgbClr val="FFFF00"/>
                </a:solidFill>
                <a:effectLst>
                  <a:outerShdw blurRad="38100" dist="19050" dir="2700000" algn="tl" rotWithShape="0">
                    <a:schemeClr val="dk1">
                      <a:alpha val="40000"/>
                    </a:schemeClr>
                  </a:outerShdw>
                </a:effectLst>
              </a:rPr>
              <a:t>association between </a:t>
            </a:r>
          </a:p>
          <a:p>
            <a:pPr algn="ctr"/>
            <a:r>
              <a:rPr lang="en-US" sz="2400" b="1" i="1" cap="none" spc="0" dirty="0">
                <a:ln w="0"/>
                <a:solidFill>
                  <a:srgbClr val="FFFF00"/>
                </a:solidFill>
                <a:effectLst>
                  <a:outerShdw blurRad="38100" dist="19050" dir="2700000" algn="tl" rotWithShape="0">
                    <a:schemeClr val="dk1">
                      <a:alpha val="40000"/>
                    </a:schemeClr>
                  </a:outerShdw>
                </a:effectLst>
              </a:rPr>
              <a:t>manager’s mood and whether as each rows</a:t>
            </a:r>
          </a:p>
          <a:p>
            <a:pPr algn="ctr"/>
            <a:r>
              <a:rPr lang="en-US" sz="2400" b="1" i="1" dirty="0">
                <a:ln w="0"/>
                <a:solidFill>
                  <a:srgbClr val="FFFF00"/>
                </a:solidFill>
                <a:effectLst>
                  <a:outerShdw blurRad="38100" dist="19050" dir="2700000" algn="tl" rotWithShape="0">
                    <a:schemeClr val="dk1">
                      <a:alpha val="40000"/>
                    </a:schemeClr>
                  </a:outerShdw>
                </a:effectLst>
              </a:rPr>
              <a:t>has the </a:t>
            </a:r>
            <a:r>
              <a:rPr lang="en-US" sz="2400" b="1" i="1" dirty="0">
                <a:ln w="0"/>
                <a:solidFill>
                  <a:srgbClr val="FF0000"/>
                </a:solidFill>
                <a:effectLst>
                  <a:outerShdw blurRad="38100" dist="19050" dir="2700000" algn="tl" rotWithShape="0">
                    <a:schemeClr val="dk1">
                      <a:alpha val="40000"/>
                    </a:schemeClr>
                  </a:outerShdw>
                </a:effectLst>
              </a:rPr>
              <a:t>different</a:t>
            </a:r>
            <a:r>
              <a:rPr lang="en-US" sz="2400" b="1" i="1" dirty="0">
                <a:ln w="0"/>
                <a:solidFill>
                  <a:srgbClr val="FFFF00"/>
                </a:solidFill>
                <a:effectLst>
                  <a:outerShdw blurRad="38100" dist="19050" dir="2700000" algn="tl" rotWithShape="0">
                    <a:schemeClr val="dk1">
                      <a:alpha val="40000"/>
                    </a:schemeClr>
                  </a:outerShdw>
                </a:effectLst>
              </a:rPr>
              <a:t> percentage in each column</a:t>
            </a:r>
            <a:endParaRPr lang="en-US" sz="2400" b="1" i="1" cap="none" spc="0" dirty="0">
              <a:ln w="0"/>
              <a:solidFill>
                <a:srgbClr val="FFFF00"/>
              </a:solidFill>
              <a:effectLst>
                <a:outerShdw blurRad="38100" dist="19050" dir="2700000" algn="tl" rotWithShape="0">
                  <a:schemeClr val="dk1">
                    <a:alpha val="40000"/>
                  </a:schemeClr>
                </a:outerShdw>
              </a:effectLst>
            </a:endParaRPr>
          </a:p>
        </p:txBody>
      </p:sp>
      <p:pic>
        <p:nvPicPr>
          <p:cNvPr id="7" name="Picture 6"/>
          <p:cNvPicPr>
            <a:picLocks noChangeAspect="1"/>
          </p:cNvPicPr>
          <p:nvPr/>
        </p:nvPicPr>
        <p:blipFill>
          <a:blip r:embed="rId2"/>
          <a:stretch>
            <a:fillRect/>
          </a:stretch>
        </p:blipFill>
        <p:spPr>
          <a:xfrm>
            <a:off x="1078741" y="2361063"/>
            <a:ext cx="4885331" cy="3316406"/>
          </a:xfrm>
          <a:prstGeom prst="rect">
            <a:avLst/>
          </a:prstGeom>
        </p:spPr>
      </p:pic>
    </p:spTree>
    <p:extLst>
      <p:ext uri="{BB962C8B-B14F-4D97-AF65-F5344CB8AC3E}">
        <p14:creationId xmlns:p14="http://schemas.microsoft.com/office/powerpoint/2010/main" val="10146625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Examining Distributions </a:t>
            </a:r>
          </a:p>
        </p:txBody>
      </p:sp>
      <p:sp>
        <p:nvSpPr>
          <p:cNvPr id="2" name="Content Placeholder 1"/>
          <p:cNvSpPr>
            <a:spLocks noGrp="1"/>
          </p:cNvSpPr>
          <p:nvPr>
            <p:ph idx="1"/>
          </p:nvPr>
        </p:nvSpPr>
        <p:spPr/>
        <p:txBody>
          <a:bodyPr/>
          <a:lstStyle/>
          <a:p>
            <a:r>
              <a:rPr lang="en-US" dirty="0">
                <a:solidFill>
                  <a:srgbClr val="FF0000"/>
                </a:solidFill>
              </a:rPr>
              <a:t>Frequency Tables: </a:t>
            </a:r>
            <a:r>
              <a:rPr lang="en-US" dirty="0"/>
              <a:t>A frequency table shows the number of observations across the level of categorical variable. </a:t>
            </a:r>
          </a:p>
          <a:p>
            <a:endParaRPr lang="en-US" dirty="0"/>
          </a:p>
          <a:p>
            <a:r>
              <a:rPr lang="en-US" dirty="0"/>
              <a:t>One-way frequency table analyze the one categorical variable. Two-way frequency table analyze two categorical variables and so on.</a:t>
            </a:r>
          </a:p>
          <a:p>
            <a:endParaRPr lang="en-US" dirty="0"/>
          </a:p>
          <a:p>
            <a:r>
              <a:rPr lang="en-US" dirty="0"/>
              <a:t>Frequency Table is the starting point for any of the categorical variable data analysis process. </a:t>
            </a:r>
          </a:p>
        </p:txBody>
      </p:sp>
      <p:sp>
        <p:nvSpPr>
          <p:cNvPr id="3" name="Rectangle 2"/>
          <p:cNvSpPr/>
          <p:nvPr/>
        </p:nvSpPr>
        <p:spPr>
          <a:xfrm>
            <a:off x="8460231" y="2489663"/>
            <a:ext cx="184730" cy="923330"/>
          </a:xfrm>
          <a:prstGeom prst="rect">
            <a:avLst/>
          </a:prstGeom>
          <a:noFill/>
        </p:spPr>
        <p:txBody>
          <a:bodyPr wrap="none" lIns="91440" tIns="45720" rIns="91440" bIns="45720">
            <a:spAutoFit/>
          </a:bodyPr>
          <a:lstStyle/>
          <a:p>
            <a:pPr algn="ctr"/>
            <a:endParaRPr lang="en-US" sz="5400" b="0" cap="none" spc="0" dirty="0">
              <a:ln w="0"/>
              <a:solidFill>
                <a:schemeClr val="tx1"/>
              </a:solidFill>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39716575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Examining Distributions </a:t>
            </a:r>
          </a:p>
        </p:txBody>
      </p:sp>
      <p:sp>
        <p:nvSpPr>
          <p:cNvPr id="3" name="Rectangle 2"/>
          <p:cNvSpPr/>
          <p:nvPr/>
        </p:nvSpPr>
        <p:spPr>
          <a:xfrm>
            <a:off x="8460231" y="2489663"/>
            <a:ext cx="184730" cy="923330"/>
          </a:xfrm>
          <a:prstGeom prst="rect">
            <a:avLst/>
          </a:prstGeom>
          <a:noFill/>
        </p:spPr>
        <p:txBody>
          <a:bodyPr wrap="none" lIns="91440" tIns="45720" rIns="91440" bIns="45720">
            <a:spAutoFit/>
          </a:bodyPr>
          <a:lstStyle/>
          <a:p>
            <a:pPr algn="ctr"/>
            <a:endParaRPr lang="en-US" sz="5400" b="0" cap="none" spc="0" dirty="0">
              <a:ln w="0"/>
              <a:solidFill>
                <a:schemeClr val="tx1"/>
              </a:solidFill>
              <a:effectLst>
                <a:outerShdw blurRad="38100" dist="19050" dir="2700000" algn="tl" rotWithShape="0">
                  <a:schemeClr val="dk1">
                    <a:alpha val="40000"/>
                  </a:schemeClr>
                </a:outerShdw>
              </a:effectLst>
            </a:endParaRPr>
          </a:p>
        </p:txBody>
      </p:sp>
      <p:pic>
        <p:nvPicPr>
          <p:cNvPr id="5" name="Picture 4"/>
          <p:cNvPicPr>
            <a:picLocks noChangeAspect="1"/>
          </p:cNvPicPr>
          <p:nvPr/>
        </p:nvPicPr>
        <p:blipFill>
          <a:blip r:embed="rId2"/>
          <a:stretch>
            <a:fillRect/>
          </a:stretch>
        </p:blipFill>
        <p:spPr>
          <a:xfrm>
            <a:off x="2503227" y="1869743"/>
            <a:ext cx="5794612" cy="1692323"/>
          </a:xfrm>
          <a:prstGeom prst="rect">
            <a:avLst/>
          </a:prstGeom>
        </p:spPr>
      </p:pic>
      <p:sp>
        <p:nvSpPr>
          <p:cNvPr id="6" name="Rectangle 5"/>
          <p:cNvSpPr/>
          <p:nvPr/>
        </p:nvSpPr>
        <p:spPr>
          <a:xfrm>
            <a:off x="389612" y="3771828"/>
            <a:ext cx="9914448" cy="2246769"/>
          </a:xfrm>
          <a:prstGeom prst="rect">
            <a:avLst/>
          </a:prstGeom>
          <a:noFill/>
        </p:spPr>
        <p:txBody>
          <a:bodyPr wrap="square" lIns="91440" tIns="45720" rIns="91440" bIns="45720">
            <a:spAutoFit/>
          </a:bodyPr>
          <a:lstStyle/>
          <a:p>
            <a:pPr algn="ctr"/>
            <a:r>
              <a:rPr lang="en-US" sz="2000" b="0" cap="none" spc="0" dirty="0">
                <a:ln w="0"/>
                <a:solidFill>
                  <a:srgbClr val="FFFF00"/>
                </a:solidFill>
                <a:effectLst>
                  <a:outerShdw blurRad="38100" dist="19050" dir="2700000" algn="tl" rotWithShape="0">
                    <a:schemeClr val="dk1">
                      <a:alpha val="40000"/>
                    </a:schemeClr>
                  </a:outerShdw>
                </a:effectLst>
              </a:rPr>
              <a:t>Frequency Table </a:t>
            </a:r>
            <a:r>
              <a:rPr lang="en-US" sz="2000" b="0" cap="none" spc="0" dirty="0">
                <a:ln w="0"/>
                <a:solidFill>
                  <a:schemeClr val="tx1"/>
                </a:solidFill>
                <a:effectLst>
                  <a:outerShdw blurRad="38100" dist="19050" dir="2700000" algn="tl" rotWithShape="0">
                    <a:schemeClr val="dk1">
                      <a:alpha val="40000"/>
                    </a:schemeClr>
                  </a:outerShdw>
                </a:effectLst>
              </a:rPr>
              <a:t>typically includes:</a:t>
            </a:r>
          </a:p>
          <a:p>
            <a:pPr algn="ctr"/>
            <a:endParaRPr lang="en-US" sz="2000" dirty="0">
              <a:ln w="0"/>
              <a:effectLst>
                <a:outerShdw blurRad="38100" dist="19050" dir="2700000" algn="tl" rotWithShape="0">
                  <a:schemeClr val="dk1">
                    <a:alpha val="40000"/>
                  </a:schemeClr>
                </a:outerShdw>
              </a:effectLst>
            </a:endParaRPr>
          </a:p>
          <a:p>
            <a:pPr algn="ctr"/>
            <a:r>
              <a:rPr lang="en-US" sz="2000" b="0" cap="none" spc="0" dirty="0">
                <a:ln w="0"/>
                <a:solidFill>
                  <a:srgbClr val="FFFF00"/>
                </a:solidFill>
                <a:effectLst>
                  <a:outerShdw blurRad="38100" dist="19050" dir="2700000" algn="tl" rotWithShape="0">
                    <a:schemeClr val="dk1">
                      <a:alpha val="40000"/>
                    </a:schemeClr>
                  </a:outerShdw>
                </a:effectLst>
              </a:rPr>
              <a:t>Frequency:</a:t>
            </a:r>
            <a:r>
              <a:rPr lang="en-US" sz="2000" b="0" cap="none" spc="0" dirty="0">
                <a:ln w="0"/>
                <a:solidFill>
                  <a:schemeClr val="tx1"/>
                </a:solidFill>
                <a:effectLst>
                  <a:outerShdw blurRad="38100" dist="19050" dir="2700000" algn="tl" rotWithShape="0">
                    <a:schemeClr val="dk1">
                      <a:alpha val="40000"/>
                    </a:schemeClr>
                  </a:outerShdw>
                </a:effectLst>
              </a:rPr>
              <a:t> is the number of times the value appears in dataset.</a:t>
            </a:r>
          </a:p>
          <a:p>
            <a:pPr algn="ctr"/>
            <a:r>
              <a:rPr lang="en-US" sz="2000" dirty="0">
                <a:ln w="0"/>
                <a:solidFill>
                  <a:srgbClr val="FFFF00"/>
                </a:solidFill>
                <a:effectLst>
                  <a:outerShdw blurRad="38100" dist="19050" dir="2700000" algn="tl" rotWithShape="0">
                    <a:schemeClr val="dk1">
                      <a:alpha val="40000"/>
                    </a:schemeClr>
                  </a:outerShdw>
                </a:effectLst>
              </a:rPr>
              <a:t>Percent:</a:t>
            </a:r>
            <a:r>
              <a:rPr lang="en-US" sz="2000" dirty="0">
                <a:ln w="0"/>
                <a:effectLst>
                  <a:outerShdw blurRad="38100" dist="19050" dir="2700000" algn="tl" rotWithShape="0">
                    <a:schemeClr val="dk1">
                      <a:alpha val="40000"/>
                    </a:schemeClr>
                  </a:outerShdw>
                </a:effectLst>
              </a:rPr>
              <a:t> measures the proportion/percentage of the data that has this value.</a:t>
            </a:r>
          </a:p>
          <a:p>
            <a:pPr algn="ctr"/>
            <a:r>
              <a:rPr lang="en-US" sz="2000" b="0" cap="none" spc="0" dirty="0">
                <a:ln w="0"/>
                <a:solidFill>
                  <a:srgbClr val="FFFF00"/>
                </a:solidFill>
                <a:effectLst>
                  <a:outerShdw blurRad="38100" dist="19050" dir="2700000" algn="tl" rotWithShape="0">
                    <a:schemeClr val="dk1">
                      <a:alpha val="40000"/>
                    </a:schemeClr>
                  </a:outerShdw>
                </a:effectLst>
              </a:rPr>
              <a:t>Cumulative Frequency:</a:t>
            </a:r>
            <a:r>
              <a:rPr lang="en-US" sz="2000" b="0" cap="none" spc="0" dirty="0">
                <a:ln w="0"/>
                <a:solidFill>
                  <a:schemeClr val="tx1"/>
                </a:solidFill>
                <a:effectLst>
                  <a:outerShdw blurRad="38100" dist="19050" dir="2700000" algn="tl" rotWithShape="0">
                    <a:schemeClr val="dk1">
                      <a:alpha val="40000"/>
                    </a:schemeClr>
                  </a:outerShdw>
                </a:effectLst>
              </a:rPr>
              <a:t> accumulates the frequency values by adding the second frequency value to first frequency value and so on. </a:t>
            </a:r>
          </a:p>
          <a:p>
            <a:pPr algn="ctr"/>
            <a:r>
              <a:rPr lang="en-US" sz="2000" dirty="0">
                <a:ln w="0"/>
                <a:solidFill>
                  <a:srgbClr val="FFFF00"/>
                </a:solidFill>
                <a:effectLst>
                  <a:outerShdw blurRad="38100" dist="19050" dir="2700000" algn="tl" rotWithShape="0">
                    <a:schemeClr val="dk1">
                      <a:alpha val="40000"/>
                    </a:schemeClr>
                  </a:outerShdw>
                </a:effectLst>
              </a:rPr>
              <a:t>Cumulative Percent:</a:t>
            </a:r>
            <a:r>
              <a:rPr lang="en-US" sz="2000" dirty="0">
                <a:ln w="0"/>
                <a:effectLst>
                  <a:outerShdw blurRad="38100" dist="19050" dir="2700000" algn="tl" rotWithShape="0">
                    <a:schemeClr val="dk1">
                      <a:alpha val="40000"/>
                    </a:schemeClr>
                  </a:outerShdw>
                </a:effectLst>
              </a:rPr>
              <a:t> accumulates the percent by adding the second value to first and so on.</a:t>
            </a:r>
            <a:endParaRPr lang="en-US" sz="2000" b="0" cap="none" spc="0" dirty="0">
              <a:ln w="0"/>
              <a:solidFill>
                <a:schemeClr val="tx1"/>
              </a:solidFill>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321885689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Examining Distributions </a:t>
            </a:r>
          </a:p>
        </p:txBody>
      </p:sp>
      <p:sp>
        <p:nvSpPr>
          <p:cNvPr id="2" name="Content Placeholder 1"/>
          <p:cNvSpPr>
            <a:spLocks noGrp="1"/>
          </p:cNvSpPr>
          <p:nvPr>
            <p:ph idx="1"/>
          </p:nvPr>
        </p:nvSpPr>
        <p:spPr/>
        <p:txBody>
          <a:bodyPr/>
          <a:lstStyle/>
          <a:p>
            <a:r>
              <a:rPr lang="en-US" dirty="0">
                <a:solidFill>
                  <a:srgbClr val="FF0000"/>
                </a:solidFill>
              </a:rPr>
              <a:t>Crosstabulation Tables:</a:t>
            </a:r>
            <a:r>
              <a:rPr lang="en-US" dirty="0"/>
              <a:t> A Crosstabulation table shows the number of observations for each combination of row and column variables. </a:t>
            </a:r>
          </a:p>
        </p:txBody>
      </p:sp>
      <p:sp>
        <p:nvSpPr>
          <p:cNvPr id="3" name="Rectangle 2"/>
          <p:cNvSpPr/>
          <p:nvPr/>
        </p:nvSpPr>
        <p:spPr>
          <a:xfrm>
            <a:off x="8460231" y="2489663"/>
            <a:ext cx="184730" cy="923330"/>
          </a:xfrm>
          <a:prstGeom prst="rect">
            <a:avLst/>
          </a:prstGeom>
          <a:noFill/>
        </p:spPr>
        <p:txBody>
          <a:bodyPr wrap="none" lIns="91440" tIns="45720" rIns="91440" bIns="45720">
            <a:spAutoFit/>
          </a:bodyPr>
          <a:lstStyle/>
          <a:p>
            <a:pPr algn="ctr"/>
            <a:endParaRPr lang="en-US" sz="5400" b="0" cap="none" spc="0" dirty="0">
              <a:ln w="0"/>
              <a:solidFill>
                <a:schemeClr val="tx1"/>
              </a:solidFill>
              <a:effectLst>
                <a:outerShdw blurRad="38100" dist="19050" dir="2700000" algn="tl" rotWithShape="0">
                  <a:schemeClr val="dk1">
                    <a:alpha val="40000"/>
                  </a:schemeClr>
                </a:outerShdw>
              </a:effectLst>
            </a:endParaRPr>
          </a:p>
        </p:txBody>
      </p:sp>
      <p:pic>
        <p:nvPicPr>
          <p:cNvPr id="7" name="Picture 6"/>
          <p:cNvPicPr>
            <a:picLocks noChangeAspect="1"/>
          </p:cNvPicPr>
          <p:nvPr/>
        </p:nvPicPr>
        <p:blipFill>
          <a:blip r:embed="rId2"/>
          <a:stretch>
            <a:fillRect/>
          </a:stretch>
        </p:blipFill>
        <p:spPr>
          <a:xfrm>
            <a:off x="2172269" y="3215345"/>
            <a:ext cx="7847462" cy="3159266"/>
          </a:xfrm>
          <a:prstGeom prst="rect">
            <a:avLst/>
          </a:prstGeom>
        </p:spPr>
      </p:pic>
    </p:spTree>
    <p:extLst>
      <p:ext uri="{BB962C8B-B14F-4D97-AF65-F5344CB8AC3E}">
        <p14:creationId xmlns:p14="http://schemas.microsoft.com/office/powerpoint/2010/main" val="238005767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Examining Distributions </a:t>
            </a:r>
          </a:p>
        </p:txBody>
      </p:sp>
      <p:sp>
        <p:nvSpPr>
          <p:cNvPr id="2" name="Content Placeholder 1"/>
          <p:cNvSpPr>
            <a:spLocks noGrp="1"/>
          </p:cNvSpPr>
          <p:nvPr>
            <p:ph idx="1"/>
          </p:nvPr>
        </p:nvSpPr>
        <p:spPr/>
        <p:txBody>
          <a:bodyPr>
            <a:normAutofit/>
          </a:bodyPr>
          <a:lstStyle/>
          <a:p>
            <a:pPr marL="0" indent="0">
              <a:buNone/>
            </a:pPr>
            <a:r>
              <a:rPr lang="en-US" dirty="0">
                <a:solidFill>
                  <a:srgbClr val="FFFF00"/>
                </a:solidFill>
              </a:rPr>
              <a:t>Crosstabulation </a:t>
            </a:r>
            <a:r>
              <a:rPr lang="en-US" dirty="0"/>
              <a:t>has four measures as follow:</a:t>
            </a:r>
          </a:p>
          <a:p>
            <a:pPr marL="0" indent="0">
              <a:buNone/>
            </a:pPr>
            <a:r>
              <a:rPr lang="en-US" dirty="0">
                <a:solidFill>
                  <a:srgbClr val="FFFF00"/>
                </a:solidFill>
              </a:rPr>
              <a:t>Frequency: </a:t>
            </a:r>
            <a:r>
              <a:rPr lang="en-US" dirty="0"/>
              <a:t>Number of observations falling into a category formed by row variable value and column variable value. </a:t>
            </a:r>
          </a:p>
          <a:p>
            <a:pPr marL="0" indent="0">
              <a:buNone/>
            </a:pPr>
            <a:r>
              <a:rPr lang="en-US" dirty="0">
                <a:solidFill>
                  <a:srgbClr val="FFFF00"/>
                </a:solidFill>
              </a:rPr>
              <a:t>Percent</a:t>
            </a:r>
            <a:r>
              <a:rPr lang="en-US" dirty="0"/>
              <a:t>: Number of observations in each cell as a percentage of total number of observations.</a:t>
            </a:r>
          </a:p>
          <a:p>
            <a:pPr marL="0" indent="0">
              <a:buNone/>
            </a:pPr>
            <a:r>
              <a:rPr lang="en-US" dirty="0">
                <a:solidFill>
                  <a:srgbClr val="FFFF00"/>
                </a:solidFill>
              </a:rPr>
              <a:t>Row</a:t>
            </a:r>
            <a:r>
              <a:rPr lang="en-US" dirty="0"/>
              <a:t> </a:t>
            </a:r>
            <a:r>
              <a:rPr lang="en-US" dirty="0">
                <a:solidFill>
                  <a:srgbClr val="FFFF00"/>
                </a:solidFill>
              </a:rPr>
              <a:t>Pct</a:t>
            </a:r>
            <a:r>
              <a:rPr lang="en-US" dirty="0"/>
              <a:t>: Number of observations in each cell as a percentage of  total number of observations in that row.</a:t>
            </a:r>
          </a:p>
          <a:p>
            <a:pPr marL="0" indent="0">
              <a:buNone/>
            </a:pPr>
            <a:r>
              <a:rPr lang="en-US" dirty="0">
                <a:solidFill>
                  <a:srgbClr val="FFFF00"/>
                </a:solidFill>
              </a:rPr>
              <a:t>Column</a:t>
            </a:r>
            <a:r>
              <a:rPr lang="en-US" dirty="0"/>
              <a:t> </a:t>
            </a:r>
            <a:r>
              <a:rPr lang="en-US" dirty="0">
                <a:solidFill>
                  <a:srgbClr val="FFFF00"/>
                </a:solidFill>
              </a:rPr>
              <a:t>Pct</a:t>
            </a:r>
            <a:r>
              <a:rPr lang="en-US" dirty="0"/>
              <a:t>: Number of observations in each cell as a percentage of  total number of observations in that column.</a:t>
            </a:r>
          </a:p>
          <a:p>
            <a:pPr marL="0" indent="0">
              <a:buNone/>
            </a:pPr>
            <a:endParaRPr lang="en-US" dirty="0"/>
          </a:p>
        </p:txBody>
      </p:sp>
      <p:sp>
        <p:nvSpPr>
          <p:cNvPr id="3" name="Rectangle 2"/>
          <p:cNvSpPr/>
          <p:nvPr/>
        </p:nvSpPr>
        <p:spPr>
          <a:xfrm>
            <a:off x="8460231" y="2489663"/>
            <a:ext cx="184730" cy="923330"/>
          </a:xfrm>
          <a:prstGeom prst="rect">
            <a:avLst/>
          </a:prstGeom>
          <a:noFill/>
        </p:spPr>
        <p:txBody>
          <a:bodyPr wrap="none" lIns="91440" tIns="45720" rIns="91440" bIns="45720">
            <a:spAutoFit/>
          </a:bodyPr>
          <a:lstStyle/>
          <a:p>
            <a:pPr algn="ctr"/>
            <a:endParaRPr lang="en-US" sz="5400" b="0" cap="none" spc="0" dirty="0">
              <a:ln w="0"/>
              <a:solidFill>
                <a:schemeClr val="tx1"/>
              </a:solidFill>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143028479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Examining Distributions </a:t>
            </a:r>
          </a:p>
        </p:txBody>
      </p:sp>
      <p:sp>
        <p:nvSpPr>
          <p:cNvPr id="3" name="Rectangle 2"/>
          <p:cNvSpPr/>
          <p:nvPr/>
        </p:nvSpPr>
        <p:spPr>
          <a:xfrm>
            <a:off x="8460231" y="2489663"/>
            <a:ext cx="184730" cy="923330"/>
          </a:xfrm>
          <a:prstGeom prst="rect">
            <a:avLst/>
          </a:prstGeom>
          <a:noFill/>
        </p:spPr>
        <p:txBody>
          <a:bodyPr wrap="none" lIns="91440" tIns="45720" rIns="91440" bIns="45720">
            <a:spAutoFit/>
          </a:bodyPr>
          <a:lstStyle/>
          <a:p>
            <a:pPr algn="ctr"/>
            <a:endParaRPr lang="en-US" sz="5400" b="0" cap="none" spc="0" dirty="0">
              <a:ln w="0"/>
              <a:solidFill>
                <a:schemeClr val="tx1"/>
              </a:solidFill>
              <a:effectLst>
                <a:outerShdw blurRad="38100" dist="19050" dir="2700000" algn="tl" rotWithShape="0">
                  <a:schemeClr val="dk1">
                    <a:alpha val="40000"/>
                  </a:schemeClr>
                </a:outerShdw>
              </a:effectLst>
            </a:endParaRPr>
          </a:p>
        </p:txBody>
      </p:sp>
      <p:pic>
        <p:nvPicPr>
          <p:cNvPr id="6" name="Picture 5"/>
          <p:cNvPicPr>
            <a:picLocks noChangeAspect="1"/>
          </p:cNvPicPr>
          <p:nvPr/>
        </p:nvPicPr>
        <p:blipFill>
          <a:blip r:embed="rId2"/>
          <a:stretch>
            <a:fillRect/>
          </a:stretch>
        </p:blipFill>
        <p:spPr>
          <a:xfrm>
            <a:off x="970767" y="1768779"/>
            <a:ext cx="4037961" cy="1929763"/>
          </a:xfrm>
          <a:prstGeom prst="rect">
            <a:avLst/>
          </a:prstGeom>
        </p:spPr>
      </p:pic>
      <p:sp>
        <p:nvSpPr>
          <p:cNvPr id="7" name="Rectangle 6"/>
          <p:cNvSpPr/>
          <p:nvPr/>
        </p:nvSpPr>
        <p:spPr>
          <a:xfrm>
            <a:off x="5516390" y="1768778"/>
            <a:ext cx="5837410" cy="2862322"/>
          </a:xfrm>
          <a:prstGeom prst="rect">
            <a:avLst/>
          </a:prstGeom>
          <a:noFill/>
        </p:spPr>
        <p:txBody>
          <a:bodyPr wrap="square" lIns="91440" tIns="45720" rIns="91440" bIns="45720">
            <a:spAutoFit/>
          </a:bodyPr>
          <a:lstStyle/>
          <a:p>
            <a:pPr algn="ctr"/>
            <a:r>
              <a:rPr lang="en-US" sz="2000" b="0" cap="none" spc="0" dirty="0">
                <a:ln w="0"/>
                <a:solidFill>
                  <a:srgbClr val="FFFF00"/>
                </a:solidFill>
                <a:effectLst>
                  <a:outerShdw blurRad="38100" dist="19050" dir="2700000" algn="tl" rotWithShape="0">
                    <a:schemeClr val="dk1">
                      <a:alpha val="40000"/>
                    </a:schemeClr>
                  </a:outerShdw>
                </a:effectLst>
              </a:rPr>
              <a:t>TABLES</a:t>
            </a:r>
            <a:r>
              <a:rPr lang="en-US" sz="2000" b="0" cap="none" spc="0" dirty="0">
                <a:ln w="0"/>
                <a:solidFill>
                  <a:schemeClr val="tx1"/>
                </a:solidFill>
                <a:effectLst>
                  <a:outerShdw blurRad="38100" dist="19050" dir="2700000" algn="tl" rotWithShape="0">
                    <a:schemeClr val="dk1">
                      <a:alpha val="40000"/>
                    </a:schemeClr>
                  </a:outerShdw>
                </a:effectLst>
              </a:rPr>
              <a:t> statement requests tables and options for producing the tests. The general form of a table request is variable1*variable2 …, where any number of these requests can be made in only one TABLE statement. </a:t>
            </a:r>
          </a:p>
          <a:p>
            <a:pPr algn="ctr"/>
            <a:endParaRPr lang="en-US" sz="2000" b="0" cap="none" spc="0" dirty="0">
              <a:ln w="0"/>
              <a:solidFill>
                <a:schemeClr val="tx1"/>
              </a:solidFill>
              <a:effectLst>
                <a:outerShdw blurRad="38100" dist="19050" dir="2700000" algn="tl" rotWithShape="0">
                  <a:schemeClr val="dk1">
                    <a:alpha val="40000"/>
                  </a:schemeClr>
                </a:outerShdw>
              </a:effectLst>
            </a:endParaRPr>
          </a:p>
          <a:p>
            <a:pPr algn="ctr"/>
            <a:r>
              <a:rPr lang="en-US" sz="2000" dirty="0">
                <a:ln w="0"/>
                <a:effectLst>
                  <a:outerShdw blurRad="38100" dist="19050" dir="2700000" algn="tl" rotWithShape="0">
                    <a:schemeClr val="dk1">
                      <a:alpha val="40000"/>
                    </a:schemeClr>
                  </a:outerShdw>
                </a:effectLst>
              </a:rPr>
              <a:t>For a two categorical variable (Crosstabulation tables) the first variable represents the row variable and second variable represents the column variable. </a:t>
            </a:r>
            <a:endParaRPr lang="en-US" sz="2000" b="0" cap="none" spc="0" dirty="0">
              <a:ln w="0"/>
              <a:solidFill>
                <a:schemeClr val="tx1"/>
              </a:solidFill>
              <a:effectLst>
                <a:outerShdw blurRad="38100" dist="19050" dir="2700000" algn="tl" rotWithShape="0">
                  <a:schemeClr val="dk1">
                    <a:alpha val="40000"/>
                  </a:schemeClr>
                </a:outerShdw>
              </a:effectLst>
            </a:endParaRPr>
          </a:p>
        </p:txBody>
      </p:sp>
      <p:sp>
        <p:nvSpPr>
          <p:cNvPr id="8" name="Rectangle 7"/>
          <p:cNvSpPr/>
          <p:nvPr/>
        </p:nvSpPr>
        <p:spPr>
          <a:xfrm>
            <a:off x="323858" y="4987204"/>
            <a:ext cx="11544284" cy="1077218"/>
          </a:xfrm>
          <a:prstGeom prst="rect">
            <a:avLst/>
          </a:prstGeom>
          <a:noFill/>
        </p:spPr>
        <p:txBody>
          <a:bodyPr wrap="square" lIns="91440" tIns="45720" rIns="91440" bIns="45720">
            <a:spAutoFit/>
          </a:bodyPr>
          <a:lstStyle/>
          <a:p>
            <a:pPr algn="ctr"/>
            <a:r>
              <a:rPr lang="en-US" sz="3200" b="0" cap="none" spc="0" dirty="0">
                <a:ln w="0"/>
                <a:solidFill>
                  <a:srgbClr val="FF0000"/>
                </a:solidFill>
                <a:effectLst>
                  <a:outerShdw blurRad="38100" dist="19050" dir="2700000" algn="tl" rotWithShape="0">
                    <a:schemeClr val="dk1">
                      <a:alpha val="40000"/>
                    </a:schemeClr>
                  </a:outerShdw>
                </a:effectLst>
              </a:rPr>
              <a:t>PROC FREQ can generate large volume of output as the number</a:t>
            </a:r>
          </a:p>
          <a:p>
            <a:pPr algn="ctr"/>
            <a:r>
              <a:rPr lang="en-US" sz="3200" dirty="0">
                <a:ln w="0"/>
                <a:solidFill>
                  <a:srgbClr val="FF0000"/>
                </a:solidFill>
                <a:effectLst>
                  <a:outerShdw blurRad="38100" dist="19050" dir="2700000" algn="tl" rotWithShape="0">
                    <a:schemeClr val="dk1">
                      <a:alpha val="40000"/>
                    </a:schemeClr>
                  </a:outerShdw>
                </a:effectLst>
              </a:rPr>
              <a:t>Categorical variable increases in TABLES statement.</a:t>
            </a:r>
            <a:endParaRPr lang="en-US" sz="3200" b="0" cap="none" spc="0" dirty="0">
              <a:ln w="0"/>
              <a:solidFill>
                <a:srgbClr val="FF0000"/>
              </a:solidFill>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211417908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Examining Distributions </a:t>
            </a:r>
          </a:p>
        </p:txBody>
      </p:sp>
      <p:sp>
        <p:nvSpPr>
          <p:cNvPr id="3" name="Rectangle 2"/>
          <p:cNvSpPr/>
          <p:nvPr/>
        </p:nvSpPr>
        <p:spPr>
          <a:xfrm>
            <a:off x="8460231" y="2489663"/>
            <a:ext cx="184730" cy="923330"/>
          </a:xfrm>
          <a:prstGeom prst="rect">
            <a:avLst/>
          </a:prstGeom>
          <a:noFill/>
        </p:spPr>
        <p:txBody>
          <a:bodyPr wrap="none" lIns="91440" tIns="45720" rIns="91440" bIns="45720">
            <a:spAutoFit/>
          </a:bodyPr>
          <a:lstStyle/>
          <a:p>
            <a:pPr algn="ctr"/>
            <a:endParaRPr lang="en-US" sz="5400" b="0" cap="none" spc="0" dirty="0">
              <a:ln w="0"/>
              <a:solidFill>
                <a:schemeClr val="tx1"/>
              </a:solidFill>
              <a:effectLst>
                <a:outerShdw blurRad="38100" dist="19050" dir="2700000" algn="tl" rotWithShape="0">
                  <a:schemeClr val="dk1">
                    <a:alpha val="40000"/>
                  </a:schemeClr>
                </a:outerShdw>
              </a:effectLst>
            </a:endParaRPr>
          </a:p>
        </p:txBody>
      </p:sp>
      <p:pic>
        <p:nvPicPr>
          <p:cNvPr id="2" name="Picture 1"/>
          <p:cNvPicPr>
            <a:picLocks noChangeAspect="1"/>
          </p:cNvPicPr>
          <p:nvPr/>
        </p:nvPicPr>
        <p:blipFill>
          <a:blip r:embed="rId2"/>
          <a:stretch>
            <a:fillRect/>
          </a:stretch>
        </p:blipFill>
        <p:spPr>
          <a:xfrm>
            <a:off x="933734" y="1690688"/>
            <a:ext cx="4893860" cy="3369943"/>
          </a:xfrm>
          <a:prstGeom prst="rect">
            <a:avLst/>
          </a:prstGeom>
        </p:spPr>
      </p:pic>
      <p:sp>
        <p:nvSpPr>
          <p:cNvPr id="5" name="Rectangle 4"/>
          <p:cNvSpPr/>
          <p:nvPr/>
        </p:nvSpPr>
        <p:spPr>
          <a:xfrm>
            <a:off x="5923128" y="1714959"/>
            <a:ext cx="5991676" cy="3139321"/>
          </a:xfrm>
          <a:prstGeom prst="rect">
            <a:avLst/>
          </a:prstGeom>
          <a:noFill/>
        </p:spPr>
        <p:txBody>
          <a:bodyPr wrap="square" lIns="91440" tIns="45720" rIns="91440" bIns="45720">
            <a:spAutoFit/>
          </a:bodyPr>
          <a:lstStyle/>
          <a:p>
            <a:pPr algn="ctr"/>
            <a:r>
              <a:rPr lang="en-US" sz="2200" b="0" cap="none" spc="0" dirty="0">
                <a:ln w="0"/>
                <a:solidFill>
                  <a:schemeClr val="tx1"/>
                </a:solidFill>
                <a:effectLst>
                  <a:outerShdw blurRad="38100" dist="19050" dir="2700000" algn="tl" rotWithShape="0">
                    <a:schemeClr val="dk1">
                      <a:alpha val="40000"/>
                    </a:schemeClr>
                  </a:outerShdw>
                </a:effectLst>
              </a:rPr>
              <a:t>To analyze the Titanic dataset, we have following:</a:t>
            </a:r>
          </a:p>
          <a:p>
            <a:pPr algn="ctr"/>
            <a:r>
              <a:rPr lang="en-US" sz="2200" dirty="0">
                <a:ln w="0"/>
                <a:solidFill>
                  <a:srgbClr val="FFFF00"/>
                </a:solidFill>
                <a:effectLst>
                  <a:outerShdw blurRad="38100" dist="19050" dir="2700000" algn="tl" rotWithShape="0">
                    <a:schemeClr val="dk1">
                      <a:alpha val="40000"/>
                    </a:schemeClr>
                  </a:outerShdw>
                </a:effectLst>
              </a:rPr>
              <a:t>Survival: </a:t>
            </a:r>
            <a:r>
              <a:rPr lang="en-US" sz="2200" dirty="0">
                <a:ln w="0"/>
                <a:effectLst>
                  <a:outerShdw blurRad="38100" dist="19050" dir="2700000" algn="tl" rotWithShape="0">
                    <a:schemeClr val="dk1">
                      <a:alpha val="40000"/>
                    </a:schemeClr>
                  </a:outerShdw>
                </a:effectLst>
              </a:rPr>
              <a:t>it shows survival status (1 = survived, 0 = died)</a:t>
            </a:r>
            <a:r>
              <a:rPr lang="en-US" sz="2200" b="0" cap="none" spc="0" dirty="0">
                <a:ln w="0"/>
                <a:solidFill>
                  <a:schemeClr val="tx1"/>
                </a:solidFill>
                <a:effectLst>
                  <a:outerShdw blurRad="38100" dist="19050" dir="2700000" algn="tl" rotWithShape="0">
                    <a:schemeClr val="dk1">
                      <a:alpha val="40000"/>
                    </a:schemeClr>
                  </a:outerShdw>
                </a:effectLst>
              </a:rPr>
              <a:t> </a:t>
            </a:r>
          </a:p>
          <a:p>
            <a:pPr algn="ctr"/>
            <a:r>
              <a:rPr lang="en-US" sz="2200" dirty="0">
                <a:ln w="0"/>
                <a:solidFill>
                  <a:srgbClr val="FFFF00"/>
                </a:solidFill>
                <a:effectLst>
                  <a:outerShdw blurRad="38100" dist="19050" dir="2700000" algn="tl" rotWithShape="0">
                    <a:schemeClr val="dk1">
                      <a:alpha val="40000"/>
                    </a:schemeClr>
                  </a:outerShdw>
                </a:effectLst>
              </a:rPr>
              <a:t>Age: </a:t>
            </a:r>
            <a:r>
              <a:rPr lang="en-US" sz="2200" dirty="0">
                <a:ln w="0"/>
                <a:effectLst>
                  <a:outerShdw blurRad="38100" dist="19050" dir="2700000" algn="tl" rotWithShape="0">
                    <a:schemeClr val="dk1">
                      <a:alpha val="40000"/>
                    </a:schemeClr>
                  </a:outerShdw>
                </a:effectLst>
              </a:rPr>
              <a:t>absolute value of age of passengers in years.</a:t>
            </a:r>
          </a:p>
          <a:p>
            <a:pPr algn="ctr"/>
            <a:r>
              <a:rPr lang="en-US" sz="2200" b="0" cap="none" spc="0" dirty="0">
                <a:ln w="0"/>
                <a:solidFill>
                  <a:srgbClr val="FFFF00"/>
                </a:solidFill>
                <a:effectLst>
                  <a:outerShdw blurRad="38100" dist="19050" dir="2700000" algn="tl" rotWithShape="0">
                    <a:schemeClr val="dk1">
                      <a:alpha val="40000"/>
                    </a:schemeClr>
                  </a:outerShdw>
                </a:effectLst>
              </a:rPr>
              <a:t>Gender: </a:t>
            </a:r>
            <a:r>
              <a:rPr lang="en-US" sz="2200" b="0" cap="none" spc="0" dirty="0">
                <a:ln w="0"/>
                <a:solidFill>
                  <a:schemeClr val="tx1"/>
                </a:solidFill>
                <a:effectLst>
                  <a:outerShdw blurRad="38100" dist="19050" dir="2700000" algn="tl" rotWithShape="0">
                    <a:schemeClr val="dk1">
                      <a:alpha val="40000"/>
                    </a:schemeClr>
                  </a:outerShdw>
                </a:effectLst>
              </a:rPr>
              <a:t>Gender of passengers (male/female).</a:t>
            </a:r>
          </a:p>
          <a:p>
            <a:pPr algn="ctr"/>
            <a:r>
              <a:rPr lang="en-US" sz="2200" dirty="0">
                <a:ln w="0"/>
                <a:solidFill>
                  <a:srgbClr val="FFFF00"/>
                </a:solidFill>
                <a:effectLst>
                  <a:outerShdw blurRad="38100" dist="19050" dir="2700000" algn="tl" rotWithShape="0">
                    <a:schemeClr val="dk1">
                      <a:alpha val="40000"/>
                    </a:schemeClr>
                  </a:outerShdw>
                </a:effectLst>
              </a:rPr>
              <a:t>Class: </a:t>
            </a:r>
            <a:r>
              <a:rPr lang="en-US" sz="2200" dirty="0">
                <a:ln w="0"/>
                <a:effectLst>
                  <a:outerShdw blurRad="38100" dist="19050" dir="2700000" algn="tl" rotWithShape="0">
                    <a:schemeClr val="dk1">
                      <a:alpha val="40000"/>
                    </a:schemeClr>
                  </a:outerShdw>
                </a:effectLst>
              </a:rPr>
              <a:t>ticket class (1,2,3)</a:t>
            </a:r>
          </a:p>
          <a:p>
            <a:pPr algn="ctr"/>
            <a:r>
              <a:rPr lang="en-US" sz="2200" b="0" cap="none" spc="0" dirty="0">
                <a:ln w="0"/>
                <a:solidFill>
                  <a:srgbClr val="FFFF00"/>
                </a:solidFill>
                <a:effectLst>
                  <a:outerShdw blurRad="38100" dist="19050" dir="2700000" algn="tl" rotWithShape="0">
                    <a:schemeClr val="dk1">
                      <a:alpha val="40000"/>
                    </a:schemeClr>
                  </a:outerShdw>
                </a:effectLst>
              </a:rPr>
              <a:t>Fare: </a:t>
            </a:r>
            <a:r>
              <a:rPr lang="en-US" sz="2200" b="0" cap="none" spc="0" dirty="0">
                <a:ln w="0"/>
                <a:solidFill>
                  <a:schemeClr val="tx1"/>
                </a:solidFill>
                <a:effectLst>
                  <a:outerShdw blurRad="38100" dist="19050" dir="2700000" algn="tl" rotWithShape="0">
                    <a:schemeClr val="dk1">
                      <a:alpha val="40000"/>
                    </a:schemeClr>
                  </a:outerShdw>
                </a:effectLst>
              </a:rPr>
              <a:t>ticket fare. </a:t>
            </a:r>
            <a:r>
              <a:rPr lang="en-US" sz="2200" dirty="0">
                <a:ln w="0"/>
                <a:effectLst>
                  <a:outerShdw blurRad="38100" dist="19050" dir="2700000" algn="tl" rotWithShape="0">
                    <a:schemeClr val="dk1">
                      <a:alpha val="40000"/>
                    </a:schemeClr>
                  </a:outerShdw>
                </a:effectLst>
              </a:rPr>
              <a:t>(It is not so useful to analyze the Titanic dataset as it represents the ticket fare for a purchase for each person in a party.</a:t>
            </a:r>
            <a:r>
              <a:rPr lang="en-US" sz="2200" b="0" cap="none" spc="0" dirty="0">
                <a:ln w="0"/>
                <a:solidFill>
                  <a:schemeClr val="tx1"/>
                </a:solidFill>
                <a:effectLst>
                  <a:outerShdw blurRad="38100" dist="19050" dir="2700000" algn="tl" rotWithShape="0">
                    <a:schemeClr val="dk1">
                      <a:alpha val="40000"/>
                    </a:schemeClr>
                  </a:outerShdw>
                </a:effectLst>
              </a:rPr>
              <a:t>)</a:t>
            </a:r>
          </a:p>
        </p:txBody>
      </p:sp>
      <p:sp>
        <p:nvSpPr>
          <p:cNvPr id="9" name="Rectangle 8"/>
          <p:cNvSpPr/>
          <p:nvPr/>
        </p:nvSpPr>
        <p:spPr>
          <a:xfrm>
            <a:off x="1501080" y="5319609"/>
            <a:ext cx="8653028" cy="1415772"/>
          </a:xfrm>
          <a:prstGeom prst="rect">
            <a:avLst/>
          </a:prstGeom>
          <a:noFill/>
        </p:spPr>
        <p:txBody>
          <a:bodyPr wrap="square" lIns="91440" tIns="45720" rIns="91440" bIns="45720">
            <a:spAutoFit/>
          </a:bodyPr>
          <a:lstStyle/>
          <a:p>
            <a:pPr algn="ctr"/>
            <a:r>
              <a:rPr lang="en-US" sz="3200" b="0" cap="none" spc="0" dirty="0">
                <a:ln w="0"/>
                <a:solidFill>
                  <a:srgbClr val="C00000"/>
                </a:solidFill>
                <a:effectLst>
                  <a:outerShdw blurRad="38100" dist="19050" dir="2700000" algn="tl" rotWithShape="0">
                    <a:schemeClr val="dk1">
                      <a:alpha val="40000"/>
                    </a:schemeClr>
                  </a:outerShdw>
                </a:effectLst>
              </a:rPr>
              <a:t>Titanic Dataset is available publically and it is the perfect fit for categorical data analytics</a:t>
            </a:r>
            <a:r>
              <a:rPr lang="en-US" sz="5400" b="0" cap="none" spc="0" dirty="0">
                <a:ln w="0"/>
                <a:solidFill>
                  <a:srgbClr val="C00000"/>
                </a:solidFill>
                <a:effectLst>
                  <a:outerShdw blurRad="38100" dist="19050" dir="2700000" algn="tl" rotWithShape="0">
                    <a:schemeClr val="dk1">
                      <a:alpha val="40000"/>
                    </a:schemeClr>
                  </a:outerShdw>
                </a:effectLst>
              </a:rPr>
              <a:t> </a:t>
            </a:r>
          </a:p>
        </p:txBody>
      </p:sp>
    </p:spTree>
    <p:extLst>
      <p:ext uri="{BB962C8B-B14F-4D97-AF65-F5344CB8AC3E}">
        <p14:creationId xmlns:p14="http://schemas.microsoft.com/office/powerpoint/2010/main" val="90441895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Examining Distributions </a:t>
            </a:r>
          </a:p>
        </p:txBody>
      </p:sp>
      <p:sp>
        <p:nvSpPr>
          <p:cNvPr id="3" name="Rectangle 2"/>
          <p:cNvSpPr/>
          <p:nvPr/>
        </p:nvSpPr>
        <p:spPr>
          <a:xfrm>
            <a:off x="8460231" y="2489663"/>
            <a:ext cx="184730" cy="923330"/>
          </a:xfrm>
          <a:prstGeom prst="rect">
            <a:avLst/>
          </a:prstGeom>
          <a:noFill/>
        </p:spPr>
        <p:txBody>
          <a:bodyPr wrap="none" lIns="91440" tIns="45720" rIns="91440" bIns="45720">
            <a:spAutoFit/>
          </a:bodyPr>
          <a:lstStyle/>
          <a:p>
            <a:pPr algn="ctr"/>
            <a:endParaRPr lang="en-US" sz="5400" b="0" cap="none" spc="0" dirty="0">
              <a:ln w="0"/>
              <a:solidFill>
                <a:schemeClr val="tx1"/>
              </a:solidFill>
              <a:effectLst>
                <a:outerShdw blurRad="38100" dist="19050" dir="2700000" algn="tl" rotWithShape="0">
                  <a:schemeClr val="dk1">
                    <a:alpha val="40000"/>
                  </a:schemeClr>
                </a:outerShdw>
              </a:effectLst>
            </a:endParaRPr>
          </a:p>
        </p:txBody>
      </p:sp>
      <p:sp>
        <p:nvSpPr>
          <p:cNvPr id="5" name="Rectangle 4"/>
          <p:cNvSpPr/>
          <p:nvPr/>
        </p:nvSpPr>
        <p:spPr>
          <a:xfrm>
            <a:off x="3951691" y="2689718"/>
            <a:ext cx="3142207" cy="1446550"/>
          </a:xfrm>
          <a:prstGeom prst="rect">
            <a:avLst/>
          </a:prstGeom>
          <a:noFill/>
        </p:spPr>
        <p:txBody>
          <a:bodyPr wrap="none" lIns="91440" tIns="45720" rIns="91440" bIns="45720">
            <a:spAutoFit/>
          </a:bodyPr>
          <a:lstStyle/>
          <a:p>
            <a:pPr algn="ctr"/>
            <a:r>
              <a:rPr lang="en-US" sz="8800" b="0" cap="none" spc="0" dirty="0">
                <a:ln w="0"/>
                <a:solidFill>
                  <a:srgbClr val="FFFF00"/>
                </a:solidFill>
                <a:effectLst>
                  <a:outerShdw blurRad="38100" dist="19050" dir="2700000" algn="tl" rotWithShape="0">
                    <a:schemeClr val="dk1">
                      <a:alpha val="40000"/>
                    </a:schemeClr>
                  </a:outerShdw>
                </a:effectLst>
              </a:rPr>
              <a:t>DEMO</a:t>
            </a:r>
          </a:p>
        </p:txBody>
      </p:sp>
    </p:spTree>
    <p:extLst>
      <p:ext uri="{BB962C8B-B14F-4D97-AF65-F5344CB8AC3E}">
        <p14:creationId xmlns:p14="http://schemas.microsoft.com/office/powerpoint/2010/main" val="346788369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solidFill>
                  <a:srgbClr val="FF0000"/>
                </a:solidFill>
              </a:rPr>
              <a:t>Test of Associations</a:t>
            </a:r>
          </a:p>
        </p:txBody>
      </p:sp>
      <p:sp>
        <p:nvSpPr>
          <p:cNvPr id="6" name="Content Placeholder 5"/>
          <p:cNvSpPr>
            <a:spLocks noGrp="1"/>
          </p:cNvSpPr>
          <p:nvPr>
            <p:ph idx="1"/>
          </p:nvPr>
        </p:nvSpPr>
        <p:spPr/>
        <p:txBody>
          <a:bodyPr/>
          <a:lstStyle/>
          <a:p>
            <a:r>
              <a:rPr lang="en-US" dirty="0"/>
              <a:t>The obvious question is whether categorical variables are associated with each other</a:t>
            </a:r>
          </a:p>
          <a:p>
            <a:pPr marL="0" indent="0">
              <a:buNone/>
            </a:pPr>
            <a:endParaRPr lang="en-US" dirty="0"/>
          </a:p>
          <a:p>
            <a:r>
              <a:rPr lang="en-US" dirty="0"/>
              <a:t>For Example: Is there any difference between gender and survived or to say differently, Is gender associated with Survived. </a:t>
            </a:r>
          </a:p>
          <a:p>
            <a:endParaRPr lang="en-US" dirty="0"/>
          </a:p>
          <a:p>
            <a:r>
              <a:rPr lang="en-US" dirty="0"/>
              <a:t>There are numerous amount statistical measures which gives you answer on associations and strength of associations between categorical variables. </a:t>
            </a:r>
          </a:p>
          <a:p>
            <a:endParaRPr lang="en-US" dirty="0"/>
          </a:p>
        </p:txBody>
      </p:sp>
      <p:sp>
        <p:nvSpPr>
          <p:cNvPr id="3" name="Rectangle 2"/>
          <p:cNvSpPr/>
          <p:nvPr/>
        </p:nvSpPr>
        <p:spPr>
          <a:xfrm>
            <a:off x="8460231" y="2489663"/>
            <a:ext cx="184730" cy="923330"/>
          </a:xfrm>
          <a:prstGeom prst="rect">
            <a:avLst/>
          </a:prstGeom>
          <a:noFill/>
        </p:spPr>
        <p:txBody>
          <a:bodyPr wrap="none" lIns="91440" tIns="45720" rIns="91440" bIns="45720">
            <a:spAutoFit/>
          </a:bodyPr>
          <a:lstStyle/>
          <a:p>
            <a:pPr algn="ctr"/>
            <a:endParaRPr lang="en-US" sz="5400" b="0" cap="none" spc="0" dirty="0">
              <a:ln w="0"/>
              <a:solidFill>
                <a:schemeClr val="tx1"/>
              </a:solidFill>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281190793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solidFill>
                  <a:srgbClr val="FF0000"/>
                </a:solidFill>
              </a:rPr>
              <a:t>Test of Associations</a:t>
            </a:r>
          </a:p>
        </p:txBody>
      </p:sp>
      <p:sp>
        <p:nvSpPr>
          <p:cNvPr id="6" name="Content Placeholder 5"/>
          <p:cNvSpPr>
            <a:spLocks noGrp="1"/>
          </p:cNvSpPr>
          <p:nvPr>
            <p:ph idx="1"/>
          </p:nvPr>
        </p:nvSpPr>
        <p:spPr/>
        <p:txBody>
          <a:bodyPr/>
          <a:lstStyle/>
          <a:p>
            <a:r>
              <a:rPr lang="en-US" dirty="0"/>
              <a:t>Perform a chi-square test for association. </a:t>
            </a:r>
          </a:p>
          <a:p>
            <a:pPr marL="0" indent="0">
              <a:buNone/>
            </a:pPr>
            <a:endParaRPr lang="en-US" dirty="0"/>
          </a:p>
          <a:p>
            <a:r>
              <a:rPr lang="en-US" dirty="0"/>
              <a:t>Examine the strength of the association. </a:t>
            </a:r>
          </a:p>
          <a:p>
            <a:endParaRPr lang="en-US" dirty="0"/>
          </a:p>
          <a:p>
            <a:r>
              <a:rPr lang="en-US" dirty="0"/>
              <a:t>Calculate the exact </a:t>
            </a:r>
            <a:r>
              <a:rPr lang="en-US" i="1" dirty="0"/>
              <a:t>p-</a:t>
            </a:r>
            <a:r>
              <a:rPr lang="en-US" dirty="0"/>
              <a:t>values.</a:t>
            </a:r>
          </a:p>
          <a:p>
            <a:endParaRPr lang="en-US" dirty="0"/>
          </a:p>
          <a:p>
            <a:r>
              <a:rPr lang="en-US" dirty="0"/>
              <a:t>Perform a Mantel-</a:t>
            </a:r>
            <a:r>
              <a:rPr lang="en-US" dirty="0" err="1"/>
              <a:t>Haenszel</a:t>
            </a:r>
            <a:r>
              <a:rPr lang="en-US" dirty="0"/>
              <a:t> chi-square test for Ordinal Association.  </a:t>
            </a:r>
          </a:p>
        </p:txBody>
      </p:sp>
      <p:sp>
        <p:nvSpPr>
          <p:cNvPr id="3" name="Rectangle 2"/>
          <p:cNvSpPr/>
          <p:nvPr/>
        </p:nvSpPr>
        <p:spPr>
          <a:xfrm>
            <a:off x="8460231" y="2489663"/>
            <a:ext cx="184730" cy="923330"/>
          </a:xfrm>
          <a:prstGeom prst="rect">
            <a:avLst/>
          </a:prstGeom>
          <a:noFill/>
        </p:spPr>
        <p:txBody>
          <a:bodyPr wrap="none" lIns="91440" tIns="45720" rIns="91440" bIns="45720">
            <a:spAutoFit/>
          </a:bodyPr>
          <a:lstStyle/>
          <a:p>
            <a:pPr algn="ctr"/>
            <a:endParaRPr lang="en-US" sz="5400" b="0" cap="none" spc="0" dirty="0">
              <a:ln w="0"/>
              <a:solidFill>
                <a:schemeClr val="tx1"/>
              </a:solidFill>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247572876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solidFill>
                  <a:srgbClr val="FF0000"/>
                </a:solidFill>
              </a:rPr>
              <a:t>Test of Associations</a:t>
            </a:r>
          </a:p>
        </p:txBody>
      </p:sp>
      <p:sp>
        <p:nvSpPr>
          <p:cNvPr id="3" name="Rectangle 2"/>
          <p:cNvSpPr/>
          <p:nvPr/>
        </p:nvSpPr>
        <p:spPr>
          <a:xfrm>
            <a:off x="8460231" y="2489663"/>
            <a:ext cx="184730" cy="923330"/>
          </a:xfrm>
          <a:prstGeom prst="rect">
            <a:avLst/>
          </a:prstGeom>
          <a:noFill/>
        </p:spPr>
        <p:txBody>
          <a:bodyPr wrap="none" lIns="91440" tIns="45720" rIns="91440" bIns="45720">
            <a:spAutoFit/>
          </a:bodyPr>
          <a:lstStyle/>
          <a:p>
            <a:pPr algn="ctr"/>
            <a:endParaRPr lang="en-US" sz="5400" b="0" cap="none" spc="0" dirty="0">
              <a:ln w="0"/>
              <a:solidFill>
                <a:schemeClr val="tx1"/>
              </a:solidFill>
              <a:effectLst>
                <a:outerShdw blurRad="38100" dist="19050" dir="2700000" algn="tl" rotWithShape="0">
                  <a:schemeClr val="dk1">
                    <a:alpha val="40000"/>
                  </a:schemeClr>
                </a:outerShdw>
              </a:effectLst>
            </a:endParaRPr>
          </a:p>
        </p:txBody>
      </p:sp>
      <p:pic>
        <p:nvPicPr>
          <p:cNvPr id="5" name="Picture 4"/>
          <p:cNvPicPr>
            <a:picLocks noChangeAspect="1"/>
          </p:cNvPicPr>
          <p:nvPr/>
        </p:nvPicPr>
        <p:blipFill>
          <a:blip r:embed="rId2"/>
          <a:stretch>
            <a:fillRect/>
          </a:stretch>
        </p:blipFill>
        <p:spPr>
          <a:xfrm>
            <a:off x="3839328" y="1669163"/>
            <a:ext cx="4620903" cy="2062446"/>
          </a:xfrm>
          <a:prstGeom prst="rect">
            <a:avLst/>
          </a:prstGeom>
        </p:spPr>
      </p:pic>
      <p:sp>
        <p:nvSpPr>
          <p:cNvPr id="7" name="Rectangle 6"/>
          <p:cNvSpPr/>
          <p:nvPr/>
        </p:nvSpPr>
        <p:spPr>
          <a:xfrm>
            <a:off x="742575" y="4112317"/>
            <a:ext cx="10393998" cy="1938992"/>
          </a:xfrm>
          <a:prstGeom prst="rect">
            <a:avLst/>
          </a:prstGeom>
          <a:noFill/>
        </p:spPr>
        <p:txBody>
          <a:bodyPr wrap="square" lIns="91440" tIns="45720" rIns="91440" bIns="45720">
            <a:spAutoFit/>
          </a:bodyPr>
          <a:lstStyle/>
          <a:p>
            <a:pPr marL="342900" indent="-342900" algn="ctr">
              <a:buFont typeface="Wingdings" panose="05000000000000000000" pitchFamily="2" charset="2"/>
              <a:buChar char="q"/>
            </a:pPr>
            <a:r>
              <a:rPr lang="en-US" sz="2400" b="0" cap="none" spc="0" dirty="0">
                <a:ln w="0"/>
                <a:solidFill>
                  <a:schemeClr val="tx1"/>
                </a:solidFill>
                <a:effectLst>
                  <a:outerShdw blurRad="38100" dist="19050" dir="2700000" algn="tl" rotWithShape="0">
                    <a:schemeClr val="dk1">
                      <a:alpha val="40000"/>
                    </a:schemeClr>
                  </a:outerShdw>
                </a:effectLst>
              </a:rPr>
              <a:t>There is an association between Gender and Survived variables as row percentages are different </a:t>
            </a:r>
            <a:r>
              <a:rPr lang="en-US" sz="2400" b="0" cap="none" spc="0" dirty="0">
                <a:ln w="0"/>
                <a:solidFill>
                  <a:srgbClr val="FFFF00"/>
                </a:solidFill>
                <a:effectLst>
                  <a:outerShdw blurRad="38100" dist="19050" dir="2700000" algn="tl" rotWithShape="0">
                    <a:schemeClr val="dk1">
                      <a:alpha val="40000"/>
                    </a:schemeClr>
                  </a:outerShdw>
                </a:effectLst>
              </a:rPr>
              <a:t>(72.25% vs. 19.10% and 27.75% vs 80.90%)</a:t>
            </a:r>
            <a:r>
              <a:rPr lang="en-US" sz="2400" b="0" cap="none" spc="0" dirty="0">
                <a:ln w="0"/>
                <a:solidFill>
                  <a:schemeClr val="tx1"/>
                </a:solidFill>
                <a:effectLst>
                  <a:outerShdw blurRad="38100" dist="19050" dir="2700000" algn="tl" rotWithShape="0">
                    <a:schemeClr val="dk1">
                      <a:alpha val="40000"/>
                    </a:schemeClr>
                  </a:outerShdw>
                </a:effectLst>
              </a:rPr>
              <a:t>.</a:t>
            </a:r>
          </a:p>
          <a:p>
            <a:pPr algn="ctr"/>
            <a:endParaRPr lang="en-US" sz="2400" b="0" cap="none" spc="0" dirty="0">
              <a:ln w="0"/>
              <a:solidFill>
                <a:schemeClr val="tx1"/>
              </a:solidFill>
              <a:effectLst>
                <a:outerShdw blurRad="38100" dist="19050" dir="2700000" algn="tl" rotWithShape="0">
                  <a:schemeClr val="dk1">
                    <a:alpha val="40000"/>
                  </a:schemeClr>
                </a:outerShdw>
              </a:effectLst>
            </a:endParaRPr>
          </a:p>
          <a:p>
            <a:pPr marL="342900" indent="-342900" algn="ctr">
              <a:buFont typeface="Wingdings" panose="05000000000000000000" pitchFamily="2" charset="2"/>
              <a:buChar char="q"/>
            </a:pPr>
            <a:r>
              <a:rPr lang="en-US" sz="2400" dirty="0">
                <a:ln w="0"/>
                <a:effectLst>
                  <a:outerShdw blurRad="38100" dist="19050" dir="2700000" algn="tl" rotWithShape="0">
                    <a:schemeClr val="dk1">
                      <a:alpha val="40000"/>
                    </a:schemeClr>
                  </a:outerShdw>
                </a:effectLst>
              </a:rPr>
              <a:t>Test of association measures the “</a:t>
            </a:r>
            <a:r>
              <a:rPr lang="en-US" sz="2400" dirty="0">
                <a:ln w="0"/>
                <a:solidFill>
                  <a:srgbClr val="FFFF00"/>
                </a:solidFill>
                <a:effectLst>
                  <a:outerShdw blurRad="38100" dist="19050" dir="2700000" algn="tl" rotWithShape="0">
                    <a:schemeClr val="dk1">
                      <a:alpha val="40000"/>
                    </a:schemeClr>
                  </a:outerShdw>
                </a:effectLst>
              </a:rPr>
              <a:t>difference between probabilities of Male Surviving and female surviving is greater than would be expected by chance</a:t>
            </a:r>
            <a:r>
              <a:rPr lang="en-US" sz="2400" dirty="0">
                <a:ln w="0"/>
                <a:effectLst>
                  <a:outerShdw blurRad="38100" dist="19050" dir="2700000" algn="tl" rotWithShape="0">
                    <a:schemeClr val="dk1">
                      <a:alpha val="40000"/>
                    </a:schemeClr>
                  </a:outerShdw>
                </a:effectLst>
              </a:rPr>
              <a:t>”  </a:t>
            </a:r>
            <a:r>
              <a:rPr lang="en-US" sz="2400" b="0" cap="none" spc="0" dirty="0">
                <a:ln w="0"/>
                <a:solidFill>
                  <a:schemeClr val="tx1"/>
                </a:solidFill>
                <a:effectLst>
                  <a:outerShdw blurRad="38100" dist="19050" dir="2700000" algn="tl" rotWithShape="0">
                    <a:schemeClr val="dk1">
                      <a:alpha val="40000"/>
                    </a:schemeClr>
                  </a:outerShdw>
                </a:effectLst>
              </a:rPr>
              <a:t>  </a:t>
            </a:r>
          </a:p>
        </p:txBody>
      </p:sp>
    </p:spTree>
    <p:extLst>
      <p:ext uri="{BB962C8B-B14F-4D97-AF65-F5344CB8AC3E}">
        <p14:creationId xmlns:p14="http://schemas.microsoft.com/office/powerpoint/2010/main" val="153173714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solidFill>
                  <a:srgbClr val="FF0000"/>
                </a:solidFill>
              </a:rPr>
              <a:t>Test of Associations</a:t>
            </a:r>
          </a:p>
        </p:txBody>
      </p:sp>
      <p:sp>
        <p:nvSpPr>
          <p:cNvPr id="2" name="Content Placeholder 1"/>
          <p:cNvSpPr>
            <a:spLocks noGrp="1"/>
          </p:cNvSpPr>
          <p:nvPr>
            <p:ph idx="1"/>
          </p:nvPr>
        </p:nvSpPr>
        <p:spPr/>
        <p:txBody>
          <a:bodyPr>
            <a:normAutofit fontScale="92500" lnSpcReduction="20000"/>
          </a:bodyPr>
          <a:lstStyle/>
          <a:p>
            <a:pPr marL="0" indent="0">
              <a:buNone/>
            </a:pPr>
            <a:r>
              <a:rPr lang="en-US" dirty="0">
                <a:solidFill>
                  <a:srgbClr val="7030A0"/>
                </a:solidFill>
              </a:rPr>
              <a:t>Null Hypothesis: </a:t>
            </a:r>
          </a:p>
          <a:p>
            <a:pPr marL="0" indent="0">
              <a:buNone/>
            </a:pPr>
            <a:endParaRPr lang="en-US" dirty="0"/>
          </a:p>
          <a:p>
            <a:pPr>
              <a:buFont typeface="Wingdings" panose="05000000000000000000" pitchFamily="2" charset="2"/>
              <a:buChar char="q"/>
            </a:pPr>
            <a:r>
              <a:rPr lang="en-US" dirty="0"/>
              <a:t>There is </a:t>
            </a:r>
            <a:r>
              <a:rPr lang="en-US" dirty="0">
                <a:solidFill>
                  <a:srgbClr val="FFFF00"/>
                </a:solidFill>
              </a:rPr>
              <a:t>no</a:t>
            </a:r>
            <a:r>
              <a:rPr lang="en-US" dirty="0"/>
              <a:t> </a:t>
            </a:r>
            <a:r>
              <a:rPr lang="en-US" dirty="0">
                <a:solidFill>
                  <a:srgbClr val="FFFF00"/>
                </a:solidFill>
              </a:rPr>
              <a:t>association</a:t>
            </a:r>
            <a:r>
              <a:rPr lang="en-US" dirty="0"/>
              <a:t> between Gender and Survival.</a:t>
            </a:r>
          </a:p>
          <a:p>
            <a:pPr>
              <a:buFont typeface="Wingdings" panose="05000000000000000000" pitchFamily="2" charset="2"/>
              <a:buChar char="q"/>
            </a:pPr>
            <a:r>
              <a:rPr lang="en-US" dirty="0"/>
              <a:t>The probability of surviving the Titanic crash was the same whether you were male or female.</a:t>
            </a:r>
          </a:p>
          <a:p>
            <a:pPr marL="0" indent="0">
              <a:buNone/>
            </a:pPr>
            <a:endParaRPr lang="en-US" dirty="0"/>
          </a:p>
          <a:p>
            <a:pPr marL="0" indent="0">
              <a:buNone/>
            </a:pPr>
            <a:r>
              <a:rPr lang="en-US" dirty="0">
                <a:solidFill>
                  <a:srgbClr val="7030A0"/>
                </a:solidFill>
              </a:rPr>
              <a:t>Alternate Hypothesis: </a:t>
            </a:r>
          </a:p>
          <a:p>
            <a:pPr marL="0" indent="0">
              <a:buNone/>
            </a:pPr>
            <a:endParaRPr lang="en-US" dirty="0"/>
          </a:p>
          <a:p>
            <a:pPr>
              <a:buFont typeface="Wingdings" panose="05000000000000000000" pitchFamily="2" charset="2"/>
              <a:buChar char="q"/>
            </a:pPr>
            <a:r>
              <a:rPr lang="en-US" dirty="0"/>
              <a:t>There </a:t>
            </a:r>
            <a:r>
              <a:rPr lang="en-US" dirty="0">
                <a:solidFill>
                  <a:srgbClr val="FFFF00"/>
                </a:solidFill>
              </a:rPr>
              <a:t>is</a:t>
            </a:r>
            <a:r>
              <a:rPr lang="en-US" dirty="0"/>
              <a:t> an </a:t>
            </a:r>
            <a:r>
              <a:rPr lang="en-US" dirty="0">
                <a:solidFill>
                  <a:srgbClr val="FFFF00"/>
                </a:solidFill>
              </a:rPr>
              <a:t>association</a:t>
            </a:r>
            <a:r>
              <a:rPr lang="en-US" dirty="0"/>
              <a:t> between Gender and Survival.</a:t>
            </a:r>
          </a:p>
          <a:p>
            <a:pPr>
              <a:buFont typeface="Wingdings" panose="05000000000000000000" pitchFamily="2" charset="2"/>
              <a:buChar char="q"/>
            </a:pPr>
            <a:r>
              <a:rPr lang="en-US" dirty="0"/>
              <a:t>The probability of surviving the Titanic crash was not the same for male or female.</a:t>
            </a:r>
          </a:p>
          <a:p>
            <a:pPr marL="0" indent="0">
              <a:buNone/>
            </a:pPr>
            <a:endParaRPr lang="en-US" dirty="0"/>
          </a:p>
        </p:txBody>
      </p:sp>
      <p:sp>
        <p:nvSpPr>
          <p:cNvPr id="3" name="Rectangle 2"/>
          <p:cNvSpPr/>
          <p:nvPr/>
        </p:nvSpPr>
        <p:spPr>
          <a:xfrm>
            <a:off x="8460231" y="2489663"/>
            <a:ext cx="184730" cy="923330"/>
          </a:xfrm>
          <a:prstGeom prst="rect">
            <a:avLst/>
          </a:prstGeom>
          <a:noFill/>
        </p:spPr>
        <p:txBody>
          <a:bodyPr wrap="none" lIns="91440" tIns="45720" rIns="91440" bIns="45720">
            <a:spAutoFit/>
          </a:bodyPr>
          <a:lstStyle/>
          <a:p>
            <a:pPr algn="ctr"/>
            <a:endParaRPr lang="en-US" sz="5400" b="0" cap="none" spc="0" dirty="0">
              <a:ln w="0"/>
              <a:solidFill>
                <a:schemeClr val="tx1"/>
              </a:solidFill>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260203410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solidFill>
                  <a:srgbClr val="FF0000"/>
                </a:solidFill>
              </a:rPr>
              <a:t>Test of Associations</a:t>
            </a:r>
          </a:p>
        </p:txBody>
      </p:sp>
      <p:sp>
        <p:nvSpPr>
          <p:cNvPr id="2" name="Content Placeholder 1"/>
          <p:cNvSpPr>
            <a:spLocks noGrp="1"/>
          </p:cNvSpPr>
          <p:nvPr>
            <p:ph idx="1"/>
          </p:nvPr>
        </p:nvSpPr>
        <p:spPr/>
        <p:txBody>
          <a:bodyPr>
            <a:normAutofit lnSpcReduction="10000"/>
          </a:bodyPr>
          <a:lstStyle/>
          <a:p>
            <a:r>
              <a:rPr lang="en-US" dirty="0">
                <a:solidFill>
                  <a:srgbClr val="7030A0"/>
                </a:solidFill>
              </a:rPr>
              <a:t>Chi-Square Test: </a:t>
            </a:r>
            <a:r>
              <a:rPr lang="en-US" dirty="0"/>
              <a:t>The most popular measure to test for an association between two categorical variables is the “</a:t>
            </a:r>
            <a:r>
              <a:rPr lang="en-US" dirty="0">
                <a:solidFill>
                  <a:srgbClr val="FFFF00"/>
                </a:solidFill>
              </a:rPr>
              <a:t>Pearson chi-square test.</a:t>
            </a:r>
            <a:r>
              <a:rPr lang="en-US" dirty="0"/>
              <a:t>”</a:t>
            </a:r>
          </a:p>
          <a:p>
            <a:endParaRPr lang="en-US" dirty="0"/>
          </a:p>
          <a:p>
            <a:r>
              <a:rPr lang="en-US" dirty="0"/>
              <a:t>Chi-square test is based on observed cell frequencies and expected cell frequencies. It measures the difference between observed and expected cell frequencies. </a:t>
            </a:r>
          </a:p>
          <a:p>
            <a:endParaRPr lang="en-US" dirty="0"/>
          </a:p>
          <a:p>
            <a:r>
              <a:rPr lang="en-US" dirty="0"/>
              <a:t>Observed cell frequencies are calculated based on sample data. Expected cell frequencies are cell frequencies that are expected if there is no association between the variables. </a:t>
            </a:r>
          </a:p>
          <a:p>
            <a:pPr marL="0" indent="0">
              <a:buNone/>
            </a:pPr>
            <a:endParaRPr lang="en-US" dirty="0"/>
          </a:p>
          <a:p>
            <a:pPr marL="0" indent="0">
              <a:buNone/>
            </a:pPr>
            <a:endParaRPr lang="en-US" dirty="0"/>
          </a:p>
        </p:txBody>
      </p:sp>
      <p:sp>
        <p:nvSpPr>
          <p:cNvPr id="3" name="Rectangle 2"/>
          <p:cNvSpPr/>
          <p:nvPr/>
        </p:nvSpPr>
        <p:spPr>
          <a:xfrm>
            <a:off x="8460231" y="2489663"/>
            <a:ext cx="184730" cy="923330"/>
          </a:xfrm>
          <a:prstGeom prst="rect">
            <a:avLst/>
          </a:prstGeom>
          <a:noFill/>
        </p:spPr>
        <p:txBody>
          <a:bodyPr wrap="none" lIns="91440" tIns="45720" rIns="91440" bIns="45720">
            <a:spAutoFit/>
          </a:bodyPr>
          <a:lstStyle/>
          <a:p>
            <a:pPr algn="ctr"/>
            <a:endParaRPr lang="en-US" sz="5400" b="0" cap="none" spc="0" dirty="0">
              <a:ln w="0"/>
              <a:solidFill>
                <a:schemeClr val="tx1"/>
              </a:solidFill>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298722414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solidFill>
                  <a:srgbClr val="FF0000"/>
                </a:solidFill>
              </a:rPr>
              <a:t>Test of Associations</a:t>
            </a:r>
          </a:p>
        </p:txBody>
      </p:sp>
      <p:sp>
        <p:nvSpPr>
          <p:cNvPr id="2" name="Content Placeholder 1"/>
          <p:cNvSpPr>
            <a:spLocks noGrp="1"/>
          </p:cNvSpPr>
          <p:nvPr>
            <p:ph idx="1"/>
          </p:nvPr>
        </p:nvSpPr>
        <p:spPr/>
        <p:txBody>
          <a:bodyPr>
            <a:normAutofit/>
          </a:bodyPr>
          <a:lstStyle/>
          <a:p>
            <a:endParaRPr lang="en-US" dirty="0"/>
          </a:p>
          <a:p>
            <a:pPr marL="0" indent="0">
              <a:buNone/>
            </a:pPr>
            <a:endParaRPr lang="en-US" dirty="0"/>
          </a:p>
          <a:p>
            <a:pPr marL="0" indent="0">
              <a:buNone/>
            </a:pPr>
            <a:endParaRPr lang="en-US" dirty="0"/>
          </a:p>
        </p:txBody>
      </p:sp>
      <p:sp>
        <p:nvSpPr>
          <p:cNvPr id="3" name="Rectangle 2"/>
          <p:cNvSpPr/>
          <p:nvPr/>
        </p:nvSpPr>
        <p:spPr>
          <a:xfrm>
            <a:off x="8460231" y="2489663"/>
            <a:ext cx="184730" cy="923330"/>
          </a:xfrm>
          <a:prstGeom prst="rect">
            <a:avLst/>
          </a:prstGeom>
          <a:noFill/>
        </p:spPr>
        <p:txBody>
          <a:bodyPr wrap="none" lIns="91440" tIns="45720" rIns="91440" bIns="45720">
            <a:spAutoFit/>
          </a:bodyPr>
          <a:lstStyle/>
          <a:p>
            <a:pPr algn="ctr"/>
            <a:endParaRPr lang="en-US" sz="5400" b="0" cap="none" spc="0" dirty="0">
              <a:ln w="0"/>
              <a:solidFill>
                <a:schemeClr val="tx1"/>
              </a:solidFill>
              <a:effectLst>
                <a:outerShdw blurRad="38100" dist="19050" dir="2700000" algn="tl" rotWithShape="0">
                  <a:schemeClr val="dk1">
                    <a:alpha val="40000"/>
                  </a:schemeClr>
                </a:outerShdw>
              </a:effectLst>
            </a:endParaRPr>
          </a:p>
        </p:txBody>
      </p:sp>
      <p:pic>
        <p:nvPicPr>
          <p:cNvPr id="5" name="Picture 4"/>
          <p:cNvPicPr>
            <a:picLocks noChangeAspect="1"/>
          </p:cNvPicPr>
          <p:nvPr/>
        </p:nvPicPr>
        <p:blipFill>
          <a:blip r:embed="rId2"/>
          <a:stretch>
            <a:fillRect/>
          </a:stretch>
        </p:blipFill>
        <p:spPr>
          <a:xfrm>
            <a:off x="838199" y="1650796"/>
            <a:ext cx="6067567" cy="2907556"/>
          </a:xfrm>
          <a:prstGeom prst="rect">
            <a:avLst/>
          </a:prstGeom>
        </p:spPr>
      </p:pic>
      <p:pic>
        <p:nvPicPr>
          <p:cNvPr id="6" name="Picture 5"/>
          <p:cNvPicPr>
            <a:picLocks noChangeAspect="1"/>
          </p:cNvPicPr>
          <p:nvPr/>
        </p:nvPicPr>
        <p:blipFill>
          <a:blip r:embed="rId3"/>
          <a:stretch>
            <a:fillRect/>
          </a:stretch>
        </p:blipFill>
        <p:spPr>
          <a:xfrm>
            <a:off x="838199" y="5022318"/>
            <a:ext cx="6067567" cy="690678"/>
          </a:xfrm>
          <a:prstGeom prst="rect">
            <a:avLst/>
          </a:prstGeom>
        </p:spPr>
      </p:pic>
      <p:sp>
        <p:nvSpPr>
          <p:cNvPr id="7" name="Rectangle 6"/>
          <p:cNvSpPr/>
          <p:nvPr/>
        </p:nvSpPr>
        <p:spPr>
          <a:xfrm>
            <a:off x="6905766" y="2629313"/>
            <a:ext cx="5117912" cy="1015663"/>
          </a:xfrm>
          <a:prstGeom prst="rect">
            <a:avLst/>
          </a:prstGeom>
          <a:noFill/>
        </p:spPr>
        <p:txBody>
          <a:bodyPr wrap="square" lIns="91440" tIns="45720" rIns="91440" bIns="45720">
            <a:spAutoFit/>
          </a:bodyPr>
          <a:lstStyle/>
          <a:p>
            <a:pPr algn="ctr"/>
            <a:r>
              <a:rPr lang="en-US" sz="2000" b="0" cap="none" spc="0" dirty="0">
                <a:ln w="0"/>
                <a:solidFill>
                  <a:srgbClr val="FFFF00"/>
                </a:solidFill>
                <a:effectLst>
                  <a:outerShdw blurRad="38100" dist="19050" dir="2700000" algn="tl" rotWithShape="0">
                    <a:schemeClr val="dk1">
                      <a:alpha val="40000"/>
                    </a:schemeClr>
                  </a:outerShdw>
                </a:effectLst>
              </a:rPr>
              <a:t>If you have a significant chi-square </a:t>
            </a:r>
          </a:p>
          <a:p>
            <a:pPr algn="ctr"/>
            <a:r>
              <a:rPr lang="en-US" sz="2000" dirty="0">
                <a:ln w="0"/>
                <a:solidFill>
                  <a:srgbClr val="FFFF00"/>
                </a:solidFill>
                <a:effectLst>
                  <a:outerShdw blurRad="38100" dist="19050" dir="2700000" algn="tl" rotWithShape="0">
                    <a:schemeClr val="dk1">
                      <a:alpha val="40000"/>
                    </a:schemeClr>
                  </a:outerShdw>
                </a:effectLst>
              </a:rPr>
              <a:t>Statistics, there is strong evidence that an association exists between your variables.</a:t>
            </a:r>
          </a:p>
        </p:txBody>
      </p:sp>
    </p:spTree>
    <p:extLst>
      <p:ext uri="{BB962C8B-B14F-4D97-AF65-F5344CB8AC3E}">
        <p14:creationId xmlns:p14="http://schemas.microsoft.com/office/powerpoint/2010/main" val="336281677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solidFill>
                  <a:srgbClr val="FF0000"/>
                </a:solidFill>
              </a:rPr>
              <a:t>Test of Associations</a:t>
            </a:r>
          </a:p>
        </p:txBody>
      </p:sp>
      <p:sp>
        <p:nvSpPr>
          <p:cNvPr id="2" name="Content Placeholder 1"/>
          <p:cNvSpPr>
            <a:spLocks noGrp="1"/>
          </p:cNvSpPr>
          <p:nvPr>
            <p:ph idx="1"/>
          </p:nvPr>
        </p:nvSpPr>
        <p:spPr/>
        <p:txBody>
          <a:bodyPr>
            <a:normAutofit/>
          </a:bodyPr>
          <a:lstStyle/>
          <a:p>
            <a:endParaRPr lang="en-US" dirty="0"/>
          </a:p>
          <a:p>
            <a:pPr marL="0" indent="0">
              <a:buNone/>
            </a:pPr>
            <a:endParaRPr lang="en-US" dirty="0"/>
          </a:p>
          <a:p>
            <a:pPr marL="0" indent="0">
              <a:buNone/>
            </a:pPr>
            <a:endParaRPr lang="en-US" dirty="0"/>
          </a:p>
        </p:txBody>
      </p:sp>
      <p:sp>
        <p:nvSpPr>
          <p:cNvPr id="3" name="Rectangle 2"/>
          <p:cNvSpPr/>
          <p:nvPr/>
        </p:nvSpPr>
        <p:spPr>
          <a:xfrm>
            <a:off x="8460231" y="2489663"/>
            <a:ext cx="184730" cy="923330"/>
          </a:xfrm>
          <a:prstGeom prst="rect">
            <a:avLst/>
          </a:prstGeom>
          <a:noFill/>
        </p:spPr>
        <p:txBody>
          <a:bodyPr wrap="none" lIns="91440" tIns="45720" rIns="91440" bIns="45720">
            <a:spAutoFit/>
          </a:bodyPr>
          <a:lstStyle/>
          <a:p>
            <a:pPr algn="ctr"/>
            <a:endParaRPr lang="en-US" sz="5400" b="0" cap="none" spc="0" dirty="0">
              <a:ln w="0"/>
              <a:solidFill>
                <a:schemeClr val="tx1"/>
              </a:solidFill>
              <a:effectLst>
                <a:outerShdw blurRad="38100" dist="19050" dir="2700000" algn="tl" rotWithShape="0">
                  <a:schemeClr val="dk1">
                    <a:alpha val="40000"/>
                  </a:schemeClr>
                </a:outerShdw>
              </a:effectLst>
            </a:endParaRPr>
          </a:p>
        </p:txBody>
      </p:sp>
      <p:pic>
        <p:nvPicPr>
          <p:cNvPr id="8" name="Picture 7"/>
          <p:cNvPicPr>
            <a:picLocks noChangeAspect="1"/>
          </p:cNvPicPr>
          <p:nvPr/>
        </p:nvPicPr>
        <p:blipFill>
          <a:blip r:embed="rId2"/>
          <a:stretch>
            <a:fillRect/>
          </a:stretch>
        </p:blipFill>
        <p:spPr>
          <a:xfrm>
            <a:off x="838199" y="1825624"/>
            <a:ext cx="8606052" cy="4486276"/>
          </a:xfrm>
          <a:prstGeom prst="rect">
            <a:avLst/>
          </a:prstGeom>
        </p:spPr>
      </p:pic>
    </p:spTree>
    <p:extLst>
      <p:ext uri="{BB962C8B-B14F-4D97-AF65-F5344CB8AC3E}">
        <p14:creationId xmlns:p14="http://schemas.microsoft.com/office/powerpoint/2010/main" val="175358343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solidFill>
                  <a:srgbClr val="FF0000"/>
                </a:solidFill>
              </a:rPr>
              <a:t>Test of Associations</a:t>
            </a:r>
          </a:p>
        </p:txBody>
      </p:sp>
      <p:sp>
        <p:nvSpPr>
          <p:cNvPr id="2" name="Content Placeholder 1"/>
          <p:cNvSpPr>
            <a:spLocks noGrp="1"/>
          </p:cNvSpPr>
          <p:nvPr>
            <p:ph idx="1"/>
          </p:nvPr>
        </p:nvSpPr>
        <p:spPr/>
        <p:txBody>
          <a:bodyPr>
            <a:normAutofit/>
          </a:bodyPr>
          <a:lstStyle/>
          <a:p>
            <a:r>
              <a:rPr lang="en-US" dirty="0"/>
              <a:t>The </a:t>
            </a:r>
            <a:r>
              <a:rPr lang="en-US" i="1" dirty="0">
                <a:solidFill>
                  <a:srgbClr val="FFFF00"/>
                </a:solidFill>
              </a:rPr>
              <a:t>p</a:t>
            </a:r>
            <a:r>
              <a:rPr lang="en-US" dirty="0">
                <a:solidFill>
                  <a:srgbClr val="FFFF00"/>
                </a:solidFill>
              </a:rPr>
              <a:t>-value</a:t>
            </a:r>
            <a:r>
              <a:rPr lang="en-US" dirty="0"/>
              <a:t> for the chi-square test only indicates how confident you can be that null hypothesis of no association is false. It does not tell you the magnitude of the association. </a:t>
            </a:r>
          </a:p>
          <a:p>
            <a:endParaRPr lang="en-US" dirty="0"/>
          </a:p>
          <a:p>
            <a:r>
              <a:rPr lang="en-US" dirty="0">
                <a:solidFill>
                  <a:srgbClr val="FFFF00"/>
                </a:solidFill>
              </a:rPr>
              <a:t>The value of chi-square statistics also does not tell you the magnitude of association.</a:t>
            </a:r>
            <a:r>
              <a:rPr lang="en-US" dirty="0"/>
              <a:t> It can be prove that if you double your sample size, you double the value of chi-square statistic, even though the strength of the association does not change. </a:t>
            </a:r>
          </a:p>
          <a:p>
            <a:pPr marL="0" indent="0">
              <a:buNone/>
            </a:pPr>
            <a:endParaRPr lang="en-US" dirty="0"/>
          </a:p>
          <a:p>
            <a:pPr marL="0" indent="0">
              <a:buNone/>
            </a:pPr>
            <a:endParaRPr lang="en-US" dirty="0"/>
          </a:p>
        </p:txBody>
      </p:sp>
      <p:sp>
        <p:nvSpPr>
          <p:cNvPr id="3" name="Rectangle 2"/>
          <p:cNvSpPr/>
          <p:nvPr/>
        </p:nvSpPr>
        <p:spPr>
          <a:xfrm>
            <a:off x="8460231" y="2489663"/>
            <a:ext cx="184730" cy="923330"/>
          </a:xfrm>
          <a:prstGeom prst="rect">
            <a:avLst/>
          </a:prstGeom>
          <a:noFill/>
        </p:spPr>
        <p:txBody>
          <a:bodyPr wrap="none" lIns="91440" tIns="45720" rIns="91440" bIns="45720">
            <a:spAutoFit/>
          </a:bodyPr>
          <a:lstStyle/>
          <a:p>
            <a:pPr algn="ctr"/>
            <a:endParaRPr lang="en-US" sz="5400" b="0" cap="none" spc="0" dirty="0">
              <a:ln w="0"/>
              <a:solidFill>
                <a:schemeClr val="tx1"/>
              </a:solidFill>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390570183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solidFill>
                  <a:srgbClr val="FF0000"/>
                </a:solidFill>
              </a:rPr>
              <a:t>Test of Associations</a:t>
            </a:r>
          </a:p>
        </p:txBody>
      </p:sp>
      <p:sp>
        <p:nvSpPr>
          <p:cNvPr id="2" name="Content Placeholder 1"/>
          <p:cNvSpPr>
            <a:spLocks noGrp="1"/>
          </p:cNvSpPr>
          <p:nvPr>
            <p:ph idx="1"/>
          </p:nvPr>
        </p:nvSpPr>
        <p:spPr/>
        <p:txBody>
          <a:bodyPr>
            <a:normAutofit/>
          </a:bodyPr>
          <a:lstStyle/>
          <a:p>
            <a:r>
              <a:rPr lang="en-US" dirty="0"/>
              <a:t>The </a:t>
            </a:r>
            <a:r>
              <a:rPr lang="en-US" i="1" dirty="0">
                <a:solidFill>
                  <a:srgbClr val="FFFF00"/>
                </a:solidFill>
              </a:rPr>
              <a:t>p</a:t>
            </a:r>
            <a:r>
              <a:rPr lang="en-US" dirty="0">
                <a:solidFill>
                  <a:srgbClr val="FFFF00"/>
                </a:solidFill>
              </a:rPr>
              <a:t>-value</a:t>
            </a:r>
            <a:r>
              <a:rPr lang="en-US" dirty="0"/>
              <a:t> for the chi-square test only indicates how confident you can be that null hypothesis of no association is false. It does not tell you the magnitude of the association. </a:t>
            </a:r>
          </a:p>
          <a:p>
            <a:endParaRPr lang="en-US" dirty="0"/>
          </a:p>
          <a:p>
            <a:r>
              <a:rPr lang="en-US" dirty="0">
                <a:solidFill>
                  <a:srgbClr val="FFFF00"/>
                </a:solidFill>
              </a:rPr>
              <a:t>The value of chi-square statistics also does not tell you the magnitude of association.</a:t>
            </a:r>
            <a:r>
              <a:rPr lang="en-US" dirty="0"/>
              <a:t> It can be prove that if you double your sample size, you double the value of chi-square statistic, even though the strength of the association does not change. </a:t>
            </a:r>
          </a:p>
          <a:p>
            <a:pPr marL="0" indent="0">
              <a:buNone/>
            </a:pPr>
            <a:endParaRPr lang="en-US" dirty="0"/>
          </a:p>
          <a:p>
            <a:pPr marL="0" indent="0">
              <a:buNone/>
            </a:pPr>
            <a:endParaRPr lang="en-US" dirty="0"/>
          </a:p>
        </p:txBody>
      </p:sp>
      <p:sp>
        <p:nvSpPr>
          <p:cNvPr id="3" name="Rectangle 2"/>
          <p:cNvSpPr/>
          <p:nvPr/>
        </p:nvSpPr>
        <p:spPr>
          <a:xfrm>
            <a:off x="8460231" y="2489663"/>
            <a:ext cx="184730" cy="923330"/>
          </a:xfrm>
          <a:prstGeom prst="rect">
            <a:avLst/>
          </a:prstGeom>
          <a:noFill/>
        </p:spPr>
        <p:txBody>
          <a:bodyPr wrap="none" lIns="91440" tIns="45720" rIns="91440" bIns="45720">
            <a:spAutoFit/>
          </a:bodyPr>
          <a:lstStyle/>
          <a:p>
            <a:pPr algn="ctr"/>
            <a:endParaRPr lang="en-US" sz="5400" b="0" cap="none" spc="0" dirty="0">
              <a:ln w="0"/>
              <a:solidFill>
                <a:schemeClr val="tx1"/>
              </a:solidFill>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385503039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solidFill>
                  <a:srgbClr val="FF0000"/>
                </a:solidFill>
              </a:rPr>
              <a:t>Test of Associations</a:t>
            </a:r>
          </a:p>
        </p:txBody>
      </p:sp>
      <p:sp>
        <p:nvSpPr>
          <p:cNvPr id="3" name="Rectangle 2"/>
          <p:cNvSpPr/>
          <p:nvPr/>
        </p:nvSpPr>
        <p:spPr>
          <a:xfrm>
            <a:off x="8460231" y="2489663"/>
            <a:ext cx="184730" cy="923330"/>
          </a:xfrm>
          <a:prstGeom prst="rect">
            <a:avLst/>
          </a:prstGeom>
          <a:noFill/>
        </p:spPr>
        <p:txBody>
          <a:bodyPr wrap="none" lIns="91440" tIns="45720" rIns="91440" bIns="45720">
            <a:spAutoFit/>
          </a:bodyPr>
          <a:lstStyle/>
          <a:p>
            <a:pPr algn="ctr"/>
            <a:endParaRPr lang="en-US" sz="5400" b="0" cap="none" spc="0" dirty="0">
              <a:ln w="0"/>
              <a:solidFill>
                <a:schemeClr val="tx1"/>
              </a:solidFill>
              <a:effectLst>
                <a:outerShdw blurRad="38100" dist="19050" dir="2700000" algn="tl" rotWithShape="0">
                  <a:schemeClr val="dk1">
                    <a:alpha val="40000"/>
                  </a:schemeClr>
                </a:outerShdw>
              </a:effectLst>
            </a:endParaRPr>
          </a:p>
        </p:txBody>
      </p:sp>
      <p:pic>
        <p:nvPicPr>
          <p:cNvPr id="6" name="Picture 5"/>
          <p:cNvPicPr>
            <a:picLocks noChangeAspect="1"/>
          </p:cNvPicPr>
          <p:nvPr/>
        </p:nvPicPr>
        <p:blipFill>
          <a:blip r:embed="rId2"/>
          <a:stretch>
            <a:fillRect/>
          </a:stretch>
        </p:blipFill>
        <p:spPr>
          <a:xfrm>
            <a:off x="838200" y="1690688"/>
            <a:ext cx="9056427" cy="3686530"/>
          </a:xfrm>
          <a:prstGeom prst="rect">
            <a:avLst/>
          </a:prstGeom>
        </p:spPr>
      </p:pic>
      <p:pic>
        <p:nvPicPr>
          <p:cNvPr id="7" name="Picture 6"/>
          <p:cNvPicPr>
            <a:picLocks noChangeAspect="1"/>
          </p:cNvPicPr>
          <p:nvPr/>
        </p:nvPicPr>
        <p:blipFill>
          <a:blip r:embed="rId3"/>
          <a:stretch>
            <a:fillRect/>
          </a:stretch>
        </p:blipFill>
        <p:spPr>
          <a:xfrm>
            <a:off x="838200" y="5679814"/>
            <a:ext cx="10230134" cy="871111"/>
          </a:xfrm>
          <a:prstGeom prst="rect">
            <a:avLst/>
          </a:prstGeom>
        </p:spPr>
      </p:pic>
    </p:spTree>
    <p:extLst>
      <p:ext uri="{BB962C8B-B14F-4D97-AF65-F5344CB8AC3E}">
        <p14:creationId xmlns:p14="http://schemas.microsoft.com/office/powerpoint/2010/main" val="313297283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solidFill>
                  <a:srgbClr val="FF0000"/>
                </a:solidFill>
              </a:rPr>
              <a:t>Test of Associations</a:t>
            </a:r>
            <a:endParaRPr lang="en-US" dirty="0"/>
          </a:p>
        </p:txBody>
      </p:sp>
      <p:sp>
        <p:nvSpPr>
          <p:cNvPr id="3" name="Rectangle 2"/>
          <p:cNvSpPr/>
          <p:nvPr/>
        </p:nvSpPr>
        <p:spPr>
          <a:xfrm>
            <a:off x="8460231" y="2489663"/>
            <a:ext cx="184730" cy="923330"/>
          </a:xfrm>
          <a:prstGeom prst="rect">
            <a:avLst/>
          </a:prstGeom>
          <a:noFill/>
        </p:spPr>
        <p:txBody>
          <a:bodyPr wrap="none" lIns="91440" tIns="45720" rIns="91440" bIns="45720">
            <a:spAutoFit/>
          </a:bodyPr>
          <a:lstStyle/>
          <a:p>
            <a:pPr algn="ctr"/>
            <a:endParaRPr lang="en-US" sz="5400" b="0" cap="none" spc="0" dirty="0">
              <a:ln w="0"/>
              <a:solidFill>
                <a:schemeClr val="tx1"/>
              </a:solidFill>
              <a:effectLst>
                <a:outerShdw blurRad="38100" dist="19050" dir="2700000" algn="tl" rotWithShape="0">
                  <a:schemeClr val="dk1">
                    <a:alpha val="40000"/>
                  </a:schemeClr>
                </a:outerShdw>
              </a:effectLst>
            </a:endParaRPr>
          </a:p>
        </p:txBody>
      </p:sp>
      <p:sp>
        <p:nvSpPr>
          <p:cNvPr id="5" name="Rectangle 4"/>
          <p:cNvSpPr/>
          <p:nvPr/>
        </p:nvSpPr>
        <p:spPr>
          <a:xfrm>
            <a:off x="3951691" y="2689718"/>
            <a:ext cx="3142207" cy="1446550"/>
          </a:xfrm>
          <a:prstGeom prst="rect">
            <a:avLst/>
          </a:prstGeom>
          <a:noFill/>
        </p:spPr>
        <p:txBody>
          <a:bodyPr wrap="none" lIns="91440" tIns="45720" rIns="91440" bIns="45720">
            <a:spAutoFit/>
          </a:bodyPr>
          <a:lstStyle/>
          <a:p>
            <a:pPr algn="ctr"/>
            <a:r>
              <a:rPr lang="en-US" sz="8800" b="0" cap="none" spc="0" dirty="0">
                <a:ln w="0"/>
                <a:solidFill>
                  <a:srgbClr val="FFFF00"/>
                </a:solidFill>
                <a:effectLst>
                  <a:outerShdw blurRad="38100" dist="19050" dir="2700000" algn="tl" rotWithShape="0">
                    <a:schemeClr val="dk1">
                      <a:alpha val="40000"/>
                    </a:schemeClr>
                  </a:outerShdw>
                </a:effectLst>
              </a:rPr>
              <a:t>DEMO</a:t>
            </a:r>
          </a:p>
        </p:txBody>
      </p:sp>
    </p:spTree>
    <p:extLst>
      <p:ext uri="{BB962C8B-B14F-4D97-AF65-F5344CB8AC3E}">
        <p14:creationId xmlns:p14="http://schemas.microsoft.com/office/powerpoint/2010/main" val="10750921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solidFill>
                  <a:srgbClr val="FF0000"/>
                </a:solidFill>
              </a:rPr>
              <a:t>Fisher’s Exact </a:t>
            </a:r>
            <a:r>
              <a:rPr lang="en-US" i="1" dirty="0">
                <a:solidFill>
                  <a:srgbClr val="FF0000"/>
                </a:solidFill>
              </a:rPr>
              <a:t>p-</a:t>
            </a:r>
            <a:r>
              <a:rPr lang="en-US" dirty="0">
                <a:solidFill>
                  <a:srgbClr val="FF0000"/>
                </a:solidFill>
              </a:rPr>
              <a:t>value</a:t>
            </a:r>
            <a:endParaRPr lang="en-US" i="1" dirty="0">
              <a:solidFill>
                <a:srgbClr val="FF0000"/>
              </a:solidFill>
            </a:endParaRPr>
          </a:p>
        </p:txBody>
      </p:sp>
      <p:sp>
        <p:nvSpPr>
          <p:cNvPr id="3" name="Rectangle 2"/>
          <p:cNvSpPr/>
          <p:nvPr/>
        </p:nvSpPr>
        <p:spPr>
          <a:xfrm>
            <a:off x="8460231" y="2489663"/>
            <a:ext cx="184730" cy="923330"/>
          </a:xfrm>
          <a:prstGeom prst="rect">
            <a:avLst/>
          </a:prstGeom>
          <a:noFill/>
        </p:spPr>
        <p:txBody>
          <a:bodyPr wrap="none" lIns="91440" tIns="45720" rIns="91440" bIns="45720">
            <a:spAutoFit/>
          </a:bodyPr>
          <a:lstStyle/>
          <a:p>
            <a:pPr algn="ctr"/>
            <a:endParaRPr lang="en-US" sz="5400" b="0" cap="none" spc="0" dirty="0">
              <a:ln w="0"/>
              <a:solidFill>
                <a:schemeClr val="tx1"/>
              </a:solidFill>
              <a:effectLst>
                <a:outerShdw blurRad="38100" dist="19050" dir="2700000" algn="tl" rotWithShape="0">
                  <a:schemeClr val="dk1">
                    <a:alpha val="40000"/>
                  </a:schemeClr>
                </a:outerShdw>
              </a:effectLst>
            </a:endParaRP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09123" y="1686878"/>
            <a:ext cx="5449473" cy="3321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09123" y="5298172"/>
            <a:ext cx="10063677" cy="11588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0064636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solidFill>
                  <a:srgbClr val="FF0000"/>
                </a:solidFill>
              </a:rPr>
              <a:t>Fisher’s Exact </a:t>
            </a:r>
            <a:r>
              <a:rPr lang="en-US" i="1" dirty="0">
                <a:solidFill>
                  <a:srgbClr val="FF0000"/>
                </a:solidFill>
              </a:rPr>
              <a:t>p-</a:t>
            </a:r>
            <a:r>
              <a:rPr lang="en-US" dirty="0">
                <a:solidFill>
                  <a:srgbClr val="FF0000"/>
                </a:solidFill>
              </a:rPr>
              <a:t>value</a:t>
            </a:r>
            <a:endParaRPr lang="en-US" i="1" dirty="0">
              <a:solidFill>
                <a:srgbClr val="FF0000"/>
              </a:solidFill>
            </a:endParaRPr>
          </a:p>
        </p:txBody>
      </p:sp>
      <p:sp>
        <p:nvSpPr>
          <p:cNvPr id="3" name="Rectangle 2"/>
          <p:cNvSpPr/>
          <p:nvPr/>
        </p:nvSpPr>
        <p:spPr>
          <a:xfrm>
            <a:off x="8460231" y="2489663"/>
            <a:ext cx="184730" cy="923330"/>
          </a:xfrm>
          <a:prstGeom prst="rect">
            <a:avLst/>
          </a:prstGeom>
          <a:noFill/>
        </p:spPr>
        <p:txBody>
          <a:bodyPr wrap="none" lIns="91440" tIns="45720" rIns="91440" bIns="45720">
            <a:spAutoFit/>
          </a:bodyPr>
          <a:lstStyle/>
          <a:p>
            <a:pPr algn="ctr"/>
            <a:endParaRPr lang="en-US" sz="5400" b="0" cap="none" spc="0" dirty="0">
              <a:ln w="0"/>
              <a:solidFill>
                <a:schemeClr val="tx1"/>
              </a:solidFill>
              <a:effectLst>
                <a:outerShdw blurRad="38100" dist="19050" dir="2700000" algn="tl" rotWithShape="0">
                  <a:schemeClr val="dk1">
                    <a:alpha val="40000"/>
                  </a:schemeClr>
                </a:outerShdw>
              </a:effectLst>
            </a:endParaRP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81074" y="1713077"/>
            <a:ext cx="5391591" cy="30980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Rectangle 6"/>
          <p:cNvSpPr/>
          <p:nvPr/>
        </p:nvSpPr>
        <p:spPr>
          <a:xfrm>
            <a:off x="6259541" y="1713077"/>
            <a:ext cx="5952527" cy="3970318"/>
          </a:xfrm>
          <a:prstGeom prst="rect">
            <a:avLst/>
          </a:prstGeom>
          <a:noFill/>
        </p:spPr>
        <p:txBody>
          <a:bodyPr wrap="none" lIns="91440" tIns="45720" rIns="91440" bIns="45720">
            <a:spAutoFit/>
          </a:bodyPr>
          <a:lstStyle/>
          <a:p>
            <a:pPr algn="ctr"/>
            <a:r>
              <a:rPr lang="en-IN" sz="2800" b="1" dirty="0">
                <a:ln w="18415" cmpd="sng">
                  <a:solidFill>
                    <a:srgbClr val="FFFFFF"/>
                  </a:solidFill>
                  <a:prstDash val="solid"/>
                </a:ln>
                <a:effectLst>
                  <a:outerShdw blurRad="63500" dir="3600000" algn="tl" rotWithShape="0">
                    <a:srgbClr val="000000">
                      <a:alpha val="70000"/>
                    </a:srgbClr>
                  </a:outerShdw>
                </a:effectLst>
              </a:rPr>
              <a:t>The criteria to use the chi-square</a:t>
            </a:r>
          </a:p>
          <a:p>
            <a:pPr algn="ctr"/>
            <a:r>
              <a:rPr lang="en-IN" sz="2800" b="1" dirty="0">
                <a:ln w="18415" cmpd="sng">
                  <a:solidFill>
                    <a:srgbClr val="FFFFFF"/>
                  </a:solidFill>
                  <a:prstDash val="solid"/>
                </a:ln>
                <a:effectLst>
                  <a:outerShdw blurRad="63500" dir="3600000" algn="tl" rotWithShape="0">
                    <a:srgbClr val="000000">
                      <a:alpha val="70000"/>
                    </a:srgbClr>
                  </a:outerShdw>
                </a:effectLst>
              </a:rPr>
              <a:t>algorithm is based on expected </a:t>
            </a:r>
          </a:p>
          <a:p>
            <a:pPr algn="ctr"/>
            <a:r>
              <a:rPr lang="en-IN" sz="2800" b="1" dirty="0">
                <a:ln w="18415" cmpd="sng">
                  <a:solidFill>
                    <a:srgbClr val="FFFFFF"/>
                  </a:solidFill>
                  <a:prstDash val="solid"/>
                </a:ln>
                <a:effectLst>
                  <a:outerShdw blurRad="63500" dir="3600000" algn="tl" rotWithShape="0">
                    <a:srgbClr val="000000">
                      <a:alpha val="70000"/>
                    </a:srgbClr>
                  </a:outerShdw>
                </a:effectLst>
              </a:rPr>
              <a:t>frequencies. Here, 1 out of 9 or </a:t>
            </a:r>
          </a:p>
          <a:p>
            <a:pPr algn="ctr"/>
            <a:r>
              <a:rPr lang="en-IN" sz="2800" b="1" dirty="0">
                <a:ln w="18415" cmpd="sng">
                  <a:solidFill>
                    <a:srgbClr val="FFFFFF"/>
                  </a:solidFill>
                  <a:prstDash val="solid"/>
                </a:ln>
                <a:effectLst>
                  <a:outerShdw blurRad="63500" dir="3600000" algn="tl" rotWithShape="0">
                    <a:srgbClr val="000000">
                      <a:alpha val="70000"/>
                    </a:srgbClr>
                  </a:outerShdw>
                </a:effectLst>
              </a:rPr>
              <a:t>11% of the cells has an </a:t>
            </a:r>
            <a:r>
              <a:rPr lang="en-IN" sz="2800" b="1" i="1" dirty="0">
                <a:ln w="18415" cmpd="sng">
                  <a:solidFill>
                    <a:srgbClr val="FFFFFF"/>
                  </a:solidFill>
                  <a:prstDash val="solid"/>
                </a:ln>
                <a:effectLst>
                  <a:outerShdw blurRad="63500" dir="3600000" algn="tl" rotWithShape="0">
                    <a:srgbClr val="000000">
                      <a:alpha val="70000"/>
                    </a:srgbClr>
                  </a:outerShdw>
                </a:effectLst>
              </a:rPr>
              <a:t>observed </a:t>
            </a:r>
          </a:p>
          <a:p>
            <a:pPr algn="ctr"/>
            <a:r>
              <a:rPr lang="en-IN" sz="2800" b="1" dirty="0">
                <a:ln w="18415" cmpd="sng">
                  <a:solidFill>
                    <a:srgbClr val="FFFFFF"/>
                  </a:solidFill>
                  <a:prstDash val="solid"/>
                </a:ln>
                <a:effectLst>
                  <a:outerShdw blurRad="63500" dir="3600000" algn="tl" rotWithShape="0">
                    <a:srgbClr val="000000">
                      <a:alpha val="70000"/>
                    </a:srgbClr>
                  </a:outerShdw>
                </a:effectLst>
              </a:rPr>
              <a:t>frequencies</a:t>
            </a:r>
            <a:r>
              <a:rPr lang="en-IN" sz="2800" b="1" i="1" dirty="0">
                <a:ln w="18415" cmpd="sng">
                  <a:solidFill>
                    <a:srgbClr val="FFFFFF"/>
                  </a:solidFill>
                  <a:prstDash val="solid"/>
                </a:ln>
                <a:effectLst>
                  <a:outerShdw blurRad="63500" dir="3600000" algn="tl" rotWithShape="0">
                    <a:srgbClr val="000000">
                      <a:alpha val="70000"/>
                    </a:srgbClr>
                  </a:outerShdw>
                </a:effectLst>
              </a:rPr>
              <a:t> </a:t>
            </a:r>
            <a:r>
              <a:rPr lang="en-IN" sz="2800" b="1" dirty="0">
                <a:ln w="18415" cmpd="sng">
                  <a:solidFill>
                    <a:srgbClr val="FFFFFF"/>
                  </a:solidFill>
                  <a:prstDash val="solid"/>
                </a:ln>
                <a:effectLst>
                  <a:outerShdw blurRad="63500" dir="3600000" algn="tl" rotWithShape="0">
                    <a:srgbClr val="000000">
                      <a:alpha val="70000"/>
                    </a:srgbClr>
                  </a:outerShdw>
                </a:effectLst>
              </a:rPr>
              <a:t>less than 5 and out </a:t>
            </a:r>
          </a:p>
          <a:p>
            <a:pPr algn="ctr"/>
            <a:r>
              <a:rPr lang="en-IN" sz="2800" b="1" dirty="0">
                <a:ln w="18415" cmpd="sng">
                  <a:solidFill>
                    <a:srgbClr val="FFFFFF"/>
                  </a:solidFill>
                  <a:prstDash val="solid"/>
                </a:ln>
                <a:effectLst>
                  <a:outerShdw blurRad="63500" dir="3600000" algn="tl" rotWithShape="0">
                    <a:srgbClr val="000000">
                      <a:alpha val="70000"/>
                    </a:srgbClr>
                  </a:outerShdw>
                </a:effectLst>
              </a:rPr>
              <a:t>of or 44% of the cells have expected</a:t>
            </a:r>
          </a:p>
          <a:p>
            <a:pPr algn="ctr"/>
            <a:r>
              <a:rPr lang="en-IN" sz="2800" b="1" dirty="0">
                <a:ln w="18415" cmpd="sng">
                  <a:solidFill>
                    <a:srgbClr val="FFFFFF"/>
                  </a:solidFill>
                  <a:prstDash val="solid"/>
                </a:ln>
                <a:effectLst>
                  <a:outerShdw blurRad="63500" dir="3600000" algn="tl" rotWithShape="0">
                    <a:srgbClr val="000000">
                      <a:alpha val="70000"/>
                    </a:srgbClr>
                  </a:outerShdw>
                </a:effectLst>
              </a:rPr>
              <a:t>frequencies less than 5. So in this case,</a:t>
            </a:r>
          </a:p>
          <a:p>
            <a:pPr algn="ctr"/>
            <a:r>
              <a:rPr lang="en-IN" sz="2800" b="1" dirty="0">
                <a:ln w="18415" cmpd="sng">
                  <a:solidFill>
                    <a:srgbClr val="FFFFFF"/>
                  </a:solidFill>
                  <a:prstDash val="solid"/>
                </a:ln>
                <a:effectLst>
                  <a:outerShdw blurRad="63500" dir="3600000" algn="tl" rotWithShape="0">
                    <a:srgbClr val="000000">
                      <a:alpha val="70000"/>
                    </a:srgbClr>
                  </a:outerShdw>
                </a:effectLst>
              </a:rPr>
              <a:t>Chi-square test might not be useful.</a:t>
            </a:r>
          </a:p>
          <a:p>
            <a:pPr algn="ctr"/>
            <a:endParaRPr lang="en-US" sz="2800" b="1" cap="none" spc="0" dirty="0">
              <a:ln w="18415" cmpd="sng">
                <a:solidFill>
                  <a:srgbClr val="FFFFFF"/>
                </a:solidFill>
                <a:prstDash val="solid"/>
              </a:ln>
              <a:effectLst>
                <a:outerShdw blurRad="63500" dir="3600000" algn="tl" rotWithShape="0">
                  <a:srgbClr val="000000">
                    <a:alpha val="70000"/>
                  </a:srgbClr>
                </a:outerShdw>
              </a:effectLst>
            </a:endParaRPr>
          </a:p>
        </p:txBody>
      </p:sp>
    </p:spTree>
    <p:extLst>
      <p:ext uri="{BB962C8B-B14F-4D97-AF65-F5344CB8AC3E}">
        <p14:creationId xmlns:p14="http://schemas.microsoft.com/office/powerpoint/2010/main" val="81861687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solidFill>
                  <a:srgbClr val="FF0000"/>
                </a:solidFill>
              </a:rPr>
              <a:t>Fisher’s Exact </a:t>
            </a:r>
            <a:r>
              <a:rPr lang="en-US" i="1" dirty="0">
                <a:solidFill>
                  <a:srgbClr val="FF0000"/>
                </a:solidFill>
              </a:rPr>
              <a:t>p-</a:t>
            </a:r>
            <a:r>
              <a:rPr lang="en-US" dirty="0">
                <a:solidFill>
                  <a:srgbClr val="FF0000"/>
                </a:solidFill>
              </a:rPr>
              <a:t>value</a:t>
            </a:r>
            <a:endParaRPr lang="en-US" i="1" dirty="0">
              <a:solidFill>
                <a:srgbClr val="FF0000"/>
              </a:solidFill>
            </a:endParaRPr>
          </a:p>
        </p:txBody>
      </p:sp>
      <p:sp>
        <p:nvSpPr>
          <p:cNvPr id="3" name="Rectangle 2"/>
          <p:cNvSpPr/>
          <p:nvPr/>
        </p:nvSpPr>
        <p:spPr>
          <a:xfrm>
            <a:off x="8460231" y="2489663"/>
            <a:ext cx="184730" cy="923330"/>
          </a:xfrm>
          <a:prstGeom prst="rect">
            <a:avLst/>
          </a:prstGeom>
          <a:noFill/>
        </p:spPr>
        <p:txBody>
          <a:bodyPr wrap="none" lIns="91440" tIns="45720" rIns="91440" bIns="45720">
            <a:spAutoFit/>
          </a:bodyPr>
          <a:lstStyle/>
          <a:p>
            <a:pPr algn="ctr"/>
            <a:endParaRPr lang="en-US" sz="5400" b="0" cap="none" spc="0" dirty="0">
              <a:ln w="0"/>
              <a:solidFill>
                <a:schemeClr val="tx1"/>
              </a:solidFill>
              <a:effectLst>
                <a:outerShdw blurRad="38100" dist="19050" dir="2700000" algn="tl" rotWithShape="0">
                  <a:schemeClr val="dk1">
                    <a:alpha val="40000"/>
                  </a:schemeClr>
                </a:outerShdw>
              </a:effectLst>
            </a:endParaRPr>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48398" y="1985345"/>
            <a:ext cx="7051871" cy="3894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51859368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solidFill>
                  <a:srgbClr val="FF0000"/>
                </a:solidFill>
              </a:rPr>
              <a:t>Fisher’s Exact </a:t>
            </a:r>
            <a:r>
              <a:rPr lang="en-US" i="1" dirty="0">
                <a:solidFill>
                  <a:srgbClr val="FF0000"/>
                </a:solidFill>
              </a:rPr>
              <a:t>p-</a:t>
            </a:r>
            <a:r>
              <a:rPr lang="en-US" dirty="0">
                <a:solidFill>
                  <a:srgbClr val="FF0000"/>
                </a:solidFill>
              </a:rPr>
              <a:t>value</a:t>
            </a:r>
            <a:endParaRPr lang="en-US" i="1" dirty="0">
              <a:solidFill>
                <a:srgbClr val="FF0000"/>
              </a:solidFill>
            </a:endParaRPr>
          </a:p>
        </p:txBody>
      </p:sp>
      <p:sp>
        <p:nvSpPr>
          <p:cNvPr id="2" name="Content Placeholder 1"/>
          <p:cNvSpPr>
            <a:spLocks noGrp="1"/>
          </p:cNvSpPr>
          <p:nvPr>
            <p:ph idx="1"/>
          </p:nvPr>
        </p:nvSpPr>
        <p:spPr/>
        <p:txBody>
          <a:bodyPr/>
          <a:lstStyle/>
          <a:p>
            <a:r>
              <a:rPr lang="en-US" dirty="0"/>
              <a:t>In previous left slide, with such a small sample size, the asymptotic p-values would not be valid because the accuracy of those p-values depends on large enough expected cell values in all the cells. </a:t>
            </a:r>
          </a:p>
          <a:p>
            <a:pPr marL="0" indent="0">
              <a:buNone/>
            </a:pPr>
            <a:endParaRPr lang="en-US" dirty="0"/>
          </a:p>
          <a:p>
            <a:r>
              <a:rPr lang="en-US" dirty="0">
                <a:solidFill>
                  <a:srgbClr val="FFFF00"/>
                </a:solidFill>
              </a:rPr>
              <a:t>Exact p-values</a:t>
            </a:r>
            <a:r>
              <a:rPr lang="en-US" dirty="0"/>
              <a:t> reflect the probability of observing a table with at least as much evidence of an association as the one actually observed, given there is no association among the variables. </a:t>
            </a:r>
          </a:p>
          <a:p>
            <a:endParaRPr lang="en-US" dirty="0"/>
          </a:p>
          <a:p>
            <a:r>
              <a:rPr lang="en-US" dirty="0"/>
              <a:t>Recall that expected count = (R*C)/T.</a:t>
            </a:r>
            <a:endParaRPr lang="en-IN" dirty="0"/>
          </a:p>
        </p:txBody>
      </p:sp>
      <p:sp>
        <p:nvSpPr>
          <p:cNvPr id="3" name="Rectangle 2"/>
          <p:cNvSpPr/>
          <p:nvPr/>
        </p:nvSpPr>
        <p:spPr>
          <a:xfrm>
            <a:off x="8460231" y="2489663"/>
            <a:ext cx="184730" cy="923330"/>
          </a:xfrm>
          <a:prstGeom prst="rect">
            <a:avLst/>
          </a:prstGeom>
          <a:noFill/>
        </p:spPr>
        <p:txBody>
          <a:bodyPr wrap="none" lIns="91440" tIns="45720" rIns="91440" bIns="45720">
            <a:spAutoFit/>
          </a:bodyPr>
          <a:lstStyle/>
          <a:p>
            <a:pPr algn="ctr"/>
            <a:endParaRPr lang="en-US" sz="5400" b="0" cap="none" spc="0" dirty="0">
              <a:ln w="0"/>
              <a:solidFill>
                <a:schemeClr val="tx1"/>
              </a:solidFill>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124616634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solidFill>
                  <a:srgbClr val="FF0000"/>
                </a:solidFill>
              </a:rPr>
              <a:t>Fisher’s Exact </a:t>
            </a:r>
            <a:r>
              <a:rPr lang="en-US" i="1" dirty="0">
                <a:solidFill>
                  <a:srgbClr val="FF0000"/>
                </a:solidFill>
              </a:rPr>
              <a:t>p-</a:t>
            </a:r>
            <a:r>
              <a:rPr lang="en-US" dirty="0">
                <a:solidFill>
                  <a:srgbClr val="FF0000"/>
                </a:solidFill>
              </a:rPr>
              <a:t>value</a:t>
            </a:r>
            <a:endParaRPr lang="en-US" i="1" dirty="0">
              <a:solidFill>
                <a:srgbClr val="FF0000"/>
              </a:solidFill>
            </a:endParaRPr>
          </a:p>
        </p:txBody>
      </p:sp>
      <p:sp>
        <p:nvSpPr>
          <p:cNvPr id="3" name="Rectangle 2"/>
          <p:cNvSpPr/>
          <p:nvPr/>
        </p:nvSpPr>
        <p:spPr>
          <a:xfrm>
            <a:off x="8460231" y="2489663"/>
            <a:ext cx="184730" cy="923330"/>
          </a:xfrm>
          <a:prstGeom prst="rect">
            <a:avLst/>
          </a:prstGeom>
          <a:noFill/>
        </p:spPr>
        <p:txBody>
          <a:bodyPr wrap="none" lIns="91440" tIns="45720" rIns="91440" bIns="45720">
            <a:spAutoFit/>
          </a:bodyPr>
          <a:lstStyle/>
          <a:p>
            <a:pPr algn="ctr"/>
            <a:endParaRPr lang="en-US" sz="5400" b="0" cap="none" spc="0" dirty="0">
              <a:ln w="0"/>
              <a:solidFill>
                <a:schemeClr val="tx1"/>
              </a:solidFill>
              <a:effectLst>
                <a:outerShdw blurRad="38100" dist="19050" dir="2700000" algn="tl" rotWithShape="0">
                  <a:schemeClr val="dk1">
                    <a:alpha val="40000"/>
                  </a:schemeClr>
                </a:outerShdw>
              </a:effectLst>
            </a:endParaRPr>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93970" y="1847484"/>
            <a:ext cx="8262571" cy="44548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54415008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solidFill>
                  <a:srgbClr val="FF0000"/>
                </a:solidFill>
              </a:rPr>
              <a:t>Fisher’s Exact </a:t>
            </a:r>
            <a:r>
              <a:rPr lang="en-US" i="1" dirty="0">
                <a:solidFill>
                  <a:srgbClr val="FF0000"/>
                </a:solidFill>
              </a:rPr>
              <a:t>p-</a:t>
            </a:r>
            <a:r>
              <a:rPr lang="en-US" dirty="0">
                <a:solidFill>
                  <a:srgbClr val="FF0000"/>
                </a:solidFill>
              </a:rPr>
              <a:t>value</a:t>
            </a:r>
            <a:endParaRPr lang="en-US" i="1" dirty="0">
              <a:solidFill>
                <a:srgbClr val="FF0000"/>
              </a:solidFill>
            </a:endParaRPr>
          </a:p>
        </p:txBody>
      </p:sp>
      <p:sp>
        <p:nvSpPr>
          <p:cNvPr id="2" name="Content Placeholder 1"/>
          <p:cNvSpPr>
            <a:spLocks noGrp="1"/>
          </p:cNvSpPr>
          <p:nvPr>
            <p:ph idx="1"/>
          </p:nvPr>
        </p:nvSpPr>
        <p:spPr/>
        <p:txBody>
          <a:bodyPr>
            <a:normAutofit lnSpcReduction="10000"/>
          </a:bodyPr>
          <a:lstStyle/>
          <a:p>
            <a:r>
              <a:rPr lang="en-US" dirty="0"/>
              <a:t>There are three possible tables, including observed table. </a:t>
            </a:r>
          </a:p>
          <a:p>
            <a:pPr marL="0" indent="0">
              <a:buNone/>
            </a:pPr>
            <a:endParaRPr lang="en-US" dirty="0"/>
          </a:p>
          <a:p>
            <a:r>
              <a:rPr lang="en-US" dirty="0">
                <a:solidFill>
                  <a:srgbClr val="FFFF00"/>
                </a:solidFill>
              </a:rPr>
              <a:t>Row total and column are same </a:t>
            </a:r>
            <a:r>
              <a:rPr lang="en-US" dirty="0"/>
              <a:t>across three tables because the computation of exact p-values is based on the assumption that row and column totals are same. </a:t>
            </a:r>
          </a:p>
          <a:p>
            <a:pPr marL="0" indent="0">
              <a:buNone/>
            </a:pPr>
            <a:endParaRPr lang="en-US" dirty="0"/>
          </a:p>
          <a:p>
            <a:r>
              <a:rPr lang="en-US" dirty="0">
                <a:solidFill>
                  <a:srgbClr val="FFFF00"/>
                </a:solidFill>
              </a:rPr>
              <a:t>Possible Table 2 is the most like expected table</a:t>
            </a:r>
            <a:r>
              <a:rPr lang="en-US" dirty="0"/>
              <a:t>. So, the probability (0.571) that its cell values would occur in a table, given these row and column totals and it is the greatest of any possible table that could occur by chance.  </a:t>
            </a:r>
            <a:endParaRPr lang="en-IN" dirty="0"/>
          </a:p>
        </p:txBody>
      </p:sp>
      <p:sp>
        <p:nvSpPr>
          <p:cNvPr id="3" name="Rectangle 2"/>
          <p:cNvSpPr/>
          <p:nvPr/>
        </p:nvSpPr>
        <p:spPr>
          <a:xfrm>
            <a:off x="8460231" y="2489663"/>
            <a:ext cx="184730" cy="923330"/>
          </a:xfrm>
          <a:prstGeom prst="rect">
            <a:avLst/>
          </a:prstGeom>
          <a:noFill/>
        </p:spPr>
        <p:txBody>
          <a:bodyPr wrap="none" lIns="91440" tIns="45720" rIns="91440" bIns="45720">
            <a:spAutoFit/>
          </a:bodyPr>
          <a:lstStyle/>
          <a:p>
            <a:pPr algn="ctr"/>
            <a:endParaRPr lang="en-US" sz="5400" b="0" cap="none" spc="0" dirty="0">
              <a:ln w="0"/>
              <a:solidFill>
                <a:schemeClr val="tx1"/>
              </a:solidFill>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79022712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solidFill>
                  <a:srgbClr val="FF0000"/>
                </a:solidFill>
              </a:rPr>
              <a:t>Fisher’s Exact </a:t>
            </a:r>
            <a:r>
              <a:rPr lang="en-US" i="1" dirty="0">
                <a:solidFill>
                  <a:srgbClr val="FF0000"/>
                </a:solidFill>
              </a:rPr>
              <a:t>p-</a:t>
            </a:r>
            <a:r>
              <a:rPr lang="en-US" dirty="0">
                <a:solidFill>
                  <a:srgbClr val="FF0000"/>
                </a:solidFill>
              </a:rPr>
              <a:t>value</a:t>
            </a:r>
            <a:endParaRPr lang="en-US" i="1" dirty="0">
              <a:solidFill>
                <a:srgbClr val="FF0000"/>
              </a:solidFill>
            </a:endParaRPr>
          </a:p>
        </p:txBody>
      </p:sp>
      <p:sp>
        <p:nvSpPr>
          <p:cNvPr id="3" name="Rectangle 2"/>
          <p:cNvSpPr/>
          <p:nvPr/>
        </p:nvSpPr>
        <p:spPr>
          <a:xfrm>
            <a:off x="8460231" y="2489663"/>
            <a:ext cx="184730" cy="923330"/>
          </a:xfrm>
          <a:prstGeom prst="rect">
            <a:avLst/>
          </a:prstGeom>
          <a:noFill/>
        </p:spPr>
        <p:txBody>
          <a:bodyPr wrap="none" lIns="91440" tIns="45720" rIns="91440" bIns="45720">
            <a:spAutoFit/>
          </a:bodyPr>
          <a:lstStyle/>
          <a:p>
            <a:pPr algn="ctr"/>
            <a:endParaRPr lang="en-US" sz="5400" b="0" cap="none" spc="0" dirty="0">
              <a:ln w="0"/>
              <a:solidFill>
                <a:schemeClr val="tx1"/>
              </a:solidFill>
              <a:effectLst>
                <a:outerShdw blurRad="38100" dist="19050" dir="2700000" algn="tl" rotWithShape="0">
                  <a:schemeClr val="dk1">
                    <a:alpha val="40000"/>
                  </a:schemeClr>
                </a:outerShdw>
              </a:effectLst>
            </a:endParaRPr>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37698" y="1818030"/>
            <a:ext cx="7882745" cy="43998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94689850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solidFill>
                  <a:srgbClr val="FF0000"/>
                </a:solidFill>
              </a:rPr>
              <a:t>Fisher’s Exact </a:t>
            </a:r>
            <a:r>
              <a:rPr lang="en-US" i="1" dirty="0">
                <a:solidFill>
                  <a:srgbClr val="FF0000"/>
                </a:solidFill>
              </a:rPr>
              <a:t>p-</a:t>
            </a:r>
            <a:r>
              <a:rPr lang="en-US" dirty="0">
                <a:solidFill>
                  <a:srgbClr val="FF0000"/>
                </a:solidFill>
              </a:rPr>
              <a:t>value</a:t>
            </a:r>
            <a:endParaRPr lang="en-US" i="1" dirty="0">
              <a:solidFill>
                <a:srgbClr val="FF0000"/>
              </a:solidFill>
            </a:endParaRPr>
          </a:p>
        </p:txBody>
      </p:sp>
      <p:sp>
        <p:nvSpPr>
          <p:cNvPr id="2" name="Content Placeholder 1"/>
          <p:cNvSpPr>
            <a:spLocks noGrp="1"/>
          </p:cNvSpPr>
          <p:nvPr>
            <p:ph idx="1"/>
          </p:nvPr>
        </p:nvSpPr>
        <p:spPr/>
        <p:txBody>
          <a:bodyPr/>
          <a:lstStyle/>
          <a:p>
            <a:r>
              <a:rPr lang="en-US" dirty="0"/>
              <a:t>To compute the exact p-values for this example, examine the chi-square value for each table and the p-values for each tables. </a:t>
            </a:r>
          </a:p>
          <a:p>
            <a:r>
              <a:rPr lang="en-US" dirty="0"/>
              <a:t>Consider only p-values which are greater than observed table’s p-value. </a:t>
            </a:r>
          </a:p>
          <a:p>
            <a:r>
              <a:rPr lang="en-US" dirty="0"/>
              <a:t>So in this case, the exact p-value would be </a:t>
            </a:r>
            <a:r>
              <a:rPr lang="en-US" b="1" dirty="0"/>
              <a:t>0.286</a:t>
            </a:r>
            <a:r>
              <a:rPr lang="en-US" dirty="0"/>
              <a:t>(observed table) + </a:t>
            </a:r>
            <a:r>
              <a:rPr lang="en-US" b="1" dirty="0"/>
              <a:t>0.143</a:t>
            </a:r>
            <a:r>
              <a:rPr lang="en-US" dirty="0"/>
              <a:t>(Possible Table 3) = 0.429.</a:t>
            </a:r>
          </a:p>
          <a:p>
            <a:r>
              <a:rPr lang="en-US" dirty="0">
                <a:solidFill>
                  <a:srgbClr val="7030A0"/>
                </a:solidFill>
              </a:rPr>
              <a:t>This means, you have 42.9% chance of obtaining a table with at least as much of an association as the observed table simply by random chance. </a:t>
            </a:r>
            <a:endParaRPr lang="en-IN" dirty="0">
              <a:solidFill>
                <a:srgbClr val="7030A0"/>
              </a:solidFill>
            </a:endParaRPr>
          </a:p>
        </p:txBody>
      </p:sp>
      <p:sp>
        <p:nvSpPr>
          <p:cNvPr id="3" name="Rectangle 2"/>
          <p:cNvSpPr/>
          <p:nvPr/>
        </p:nvSpPr>
        <p:spPr>
          <a:xfrm>
            <a:off x="8460231" y="2489663"/>
            <a:ext cx="184730" cy="923330"/>
          </a:xfrm>
          <a:prstGeom prst="rect">
            <a:avLst/>
          </a:prstGeom>
          <a:noFill/>
        </p:spPr>
        <p:txBody>
          <a:bodyPr wrap="none" lIns="91440" tIns="45720" rIns="91440" bIns="45720">
            <a:spAutoFit/>
          </a:bodyPr>
          <a:lstStyle/>
          <a:p>
            <a:pPr algn="ctr"/>
            <a:endParaRPr lang="en-US" sz="5400" b="0" cap="none" spc="0" dirty="0">
              <a:ln w="0"/>
              <a:solidFill>
                <a:schemeClr val="tx1"/>
              </a:solidFill>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60731671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solidFill>
                  <a:srgbClr val="FF0000"/>
                </a:solidFill>
              </a:rPr>
              <a:t>Fisher’s Exact </a:t>
            </a:r>
            <a:r>
              <a:rPr lang="en-US" i="1" dirty="0">
                <a:solidFill>
                  <a:srgbClr val="FF0000"/>
                </a:solidFill>
              </a:rPr>
              <a:t>p-</a:t>
            </a:r>
            <a:r>
              <a:rPr lang="en-US" dirty="0">
                <a:solidFill>
                  <a:srgbClr val="FF0000"/>
                </a:solidFill>
              </a:rPr>
              <a:t>value</a:t>
            </a:r>
            <a:endParaRPr lang="en-US" dirty="0"/>
          </a:p>
        </p:txBody>
      </p:sp>
      <p:sp>
        <p:nvSpPr>
          <p:cNvPr id="3" name="Rectangle 2"/>
          <p:cNvSpPr/>
          <p:nvPr/>
        </p:nvSpPr>
        <p:spPr>
          <a:xfrm>
            <a:off x="8460231" y="2489663"/>
            <a:ext cx="184730" cy="923330"/>
          </a:xfrm>
          <a:prstGeom prst="rect">
            <a:avLst/>
          </a:prstGeom>
          <a:noFill/>
        </p:spPr>
        <p:txBody>
          <a:bodyPr wrap="none" lIns="91440" tIns="45720" rIns="91440" bIns="45720">
            <a:spAutoFit/>
          </a:bodyPr>
          <a:lstStyle/>
          <a:p>
            <a:pPr algn="ctr"/>
            <a:endParaRPr lang="en-US" sz="5400" b="0" cap="none" spc="0" dirty="0">
              <a:ln w="0"/>
              <a:solidFill>
                <a:schemeClr val="tx1"/>
              </a:solidFill>
              <a:effectLst>
                <a:outerShdw blurRad="38100" dist="19050" dir="2700000" algn="tl" rotWithShape="0">
                  <a:schemeClr val="dk1">
                    <a:alpha val="40000"/>
                  </a:schemeClr>
                </a:outerShdw>
              </a:effectLst>
            </a:endParaRPr>
          </a:p>
        </p:txBody>
      </p:sp>
      <p:sp>
        <p:nvSpPr>
          <p:cNvPr id="5" name="Rectangle 4"/>
          <p:cNvSpPr/>
          <p:nvPr/>
        </p:nvSpPr>
        <p:spPr>
          <a:xfrm>
            <a:off x="3951691" y="2689718"/>
            <a:ext cx="3142207" cy="1446550"/>
          </a:xfrm>
          <a:prstGeom prst="rect">
            <a:avLst/>
          </a:prstGeom>
          <a:noFill/>
        </p:spPr>
        <p:txBody>
          <a:bodyPr wrap="none" lIns="91440" tIns="45720" rIns="91440" bIns="45720">
            <a:spAutoFit/>
          </a:bodyPr>
          <a:lstStyle/>
          <a:p>
            <a:pPr algn="ctr"/>
            <a:r>
              <a:rPr lang="en-US" sz="8800" b="0" cap="none" spc="0" dirty="0">
                <a:ln w="0"/>
                <a:solidFill>
                  <a:srgbClr val="FFFF00"/>
                </a:solidFill>
                <a:effectLst>
                  <a:outerShdw blurRad="38100" dist="19050" dir="2700000" algn="tl" rotWithShape="0">
                    <a:schemeClr val="dk1">
                      <a:alpha val="40000"/>
                    </a:schemeClr>
                  </a:outerShdw>
                </a:effectLst>
              </a:rPr>
              <a:t>DEMO</a:t>
            </a:r>
          </a:p>
        </p:txBody>
      </p:sp>
    </p:spTree>
    <p:extLst>
      <p:ext uri="{BB962C8B-B14F-4D97-AF65-F5344CB8AC3E}">
        <p14:creationId xmlns:p14="http://schemas.microsoft.com/office/powerpoint/2010/main" val="1746045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solidFill>
                  <a:srgbClr val="FF0000"/>
                </a:solidFill>
              </a:rPr>
              <a:t>Test of Ordinal Association</a:t>
            </a:r>
            <a:endParaRPr lang="en-US" i="1" dirty="0">
              <a:solidFill>
                <a:srgbClr val="FF0000"/>
              </a:solidFill>
            </a:endParaRPr>
          </a:p>
        </p:txBody>
      </p:sp>
      <p:sp>
        <p:nvSpPr>
          <p:cNvPr id="2" name="Content Placeholder 1"/>
          <p:cNvSpPr>
            <a:spLocks noGrp="1"/>
          </p:cNvSpPr>
          <p:nvPr>
            <p:ph idx="1"/>
          </p:nvPr>
        </p:nvSpPr>
        <p:spPr/>
        <p:txBody>
          <a:bodyPr>
            <a:normAutofit fontScale="92500" lnSpcReduction="10000"/>
          </a:bodyPr>
          <a:lstStyle/>
          <a:p>
            <a:r>
              <a:rPr lang="en-US" dirty="0"/>
              <a:t>Categorical variables can have </a:t>
            </a:r>
            <a:r>
              <a:rPr lang="en-US" i="1" dirty="0">
                <a:solidFill>
                  <a:srgbClr val="FFC000"/>
                </a:solidFill>
              </a:rPr>
              <a:t>ordinal</a:t>
            </a:r>
            <a:r>
              <a:rPr lang="en-US" dirty="0"/>
              <a:t> level of measurement.</a:t>
            </a:r>
          </a:p>
          <a:p>
            <a:endParaRPr lang="en-US" dirty="0"/>
          </a:p>
          <a:p>
            <a:r>
              <a:rPr lang="en-US"/>
              <a:t>General Chi-Square </a:t>
            </a:r>
            <a:r>
              <a:rPr lang="en-US" dirty="0"/>
              <a:t>test of association is not valid when the categorical variable is ordinal.</a:t>
            </a:r>
          </a:p>
          <a:p>
            <a:endParaRPr lang="en-US" dirty="0"/>
          </a:p>
          <a:p>
            <a:r>
              <a:rPr lang="en-US" dirty="0"/>
              <a:t>In our example, </a:t>
            </a:r>
            <a:r>
              <a:rPr lang="en-US" b="1" i="1" dirty="0">
                <a:solidFill>
                  <a:srgbClr val="FFC000"/>
                </a:solidFill>
              </a:rPr>
              <a:t>Survived</a:t>
            </a:r>
            <a:r>
              <a:rPr lang="en-US" dirty="0"/>
              <a:t> and </a:t>
            </a:r>
            <a:r>
              <a:rPr lang="en-US" b="1" i="1" dirty="0">
                <a:solidFill>
                  <a:srgbClr val="FFC000"/>
                </a:solidFill>
              </a:rPr>
              <a:t>Class</a:t>
            </a:r>
            <a:r>
              <a:rPr lang="en-US" b="1" dirty="0"/>
              <a:t> </a:t>
            </a:r>
            <a:r>
              <a:rPr lang="en-US" dirty="0"/>
              <a:t>have general association (produced by proc freq). We can test whether Survived and Class have significant ordinal association. </a:t>
            </a:r>
          </a:p>
          <a:p>
            <a:endParaRPr lang="en-US" b="1" dirty="0"/>
          </a:p>
          <a:p>
            <a:r>
              <a:rPr lang="en-US" dirty="0"/>
              <a:t>The appropriate test for ordinal associations is the </a:t>
            </a:r>
            <a:r>
              <a:rPr lang="en-US" b="1" dirty="0">
                <a:solidFill>
                  <a:srgbClr val="FFC000"/>
                </a:solidFill>
              </a:rPr>
              <a:t>Mantel-</a:t>
            </a:r>
            <a:r>
              <a:rPr lang="en-US" b="1" dirty="0" err="1">
                <a:solidFill>
                  <a:srgbClr val="FFC000"/>
                </a:solidFill>
              </a:rPr>
              <a:t>Haenszel</a:t>
            </a:r>
            <a:r>
              <a:rPr lang="en-US" b="1" dirty="0">
                <a:solidFill>
                  <a:srgbClr val="FFC000"/>
                </a:solidFill>
              </a:rPr>
              <a:t> chi-square</a:t>
            </a:r>
            <a:r>
              <a:rPr lang="en-US" dirty="0"/>
              <a:t> test.</a:t>
            </a:r>
            <a:r>
              <a:rPr lang="en-US" b="1" dirty="0"/>
              <a:t> </a:t>
            </a:r>
            <a:endParaRPr lang="en-US" b="1" dirty="0">
              <a:solidFill>
                <a:srgbClr val="7030A0"/>
              </a:solidFill>
            </a:endParaRPr>
          </a:p>
        </p:txBody>
      </p:sp>
      <p:sp>
        <p:nvSpPr>
          <p:cNvPr id="3" name="Rectangle 2"/>
          <p:cNvSpPr/>
          <p:nvPr/>
        </p:nvSpPr>
        <p:spPr>
          <a:xfrm>
            <a:off x="8460231" y="2489663"/>
            <a:ext cx="184730" cy="923330"/>
          </a:xfrm>
          <a:prstGeom prst="rect">
            <a:avLst/>
          </a:prstGeom>
          <a:noFill/>
        </p:spPr>
        <p:txBody>
          <a:bodyPr wrap="none" lIns="91440" tIns="45720" rIns="91440" bIns="45720">
            <a:spAutoFit/>
          </a:bodyPr>
          <a:lstStyle/>
          <a:p>
            <a:pPr algn="ctr"/>
            <a:endParaRPr lang="en-US" sz="5400" b="0" cap="none" spc="0" dirty="0">
              <a:ln w="0"/>
              <a:solidFill>
                <a:schemeClr val="tx1"/>
              </a:solidFill>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322157576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solidFill>
                  <a:srgbClr val="FF0000"/>
                </a:solidFill>
              </a:rPr>
              <a:t>Test of Ordinal Association</a:t>
            </a:r>
            <a:endParaRPr lang="en-US" i="1" dirty="0">
              <a:solidFill>
                <a:srgbClr val="FF0000"/>
              </a:solidFill>
            </a:endParaRPr>
          </a:p>
        </p:txBody>
      </p:sp>
      <p:sp>
        <p:nvSpPr>
          <p:cNvPr id="3" name="Rectangle 2"/>
          <p:cNvSpPr/>
          <p:nvPr/>
        </p:nvSpPr>
        <p:spPr>
          <a:xfrm>
            <a:off x="8460231" y="2489663"/>
            <a:ext cx="184730" cy="923330"/>
          </a:xfrm>
          <a:prstGeom prst="rect">
            <a:avLst/>
          </a:prstGeom>
          <a:noFill/>
        </p:spPr>
        <p:txBody>
          <a:bodyPr wrap="none" lIns="91440" tIns="45720" rIns="91440" bIns="45720">
            <a:spAutoFit/>
          </a:bodyPr>
          <a:lstStyle/>
          <a:p>
            <a:pPr algn="ctr"/>
            <a:endParaRPr lang="en-US" sz="5400" b="0" cap="none" spc="0" dirty="0">
              <a:ln w="0"/>
              <a:solidFill>
                <a:schemeClr val="tx1"/>
              </a:solidFill>
              <a:effectLst>
                <a:outerShdw blurRad="38100" dist="19050" dir="2700000" algn="tl" rotWithShape="0">
                  <a:schemeClr val="dk1">
                    <a:alpha val="40000"/>
                  </a:schemeClr>
                </a:outerShdw>
              </a:effectLst>
            </a:endParaRP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62308" y="2208309"/>
            <a:ext cx="8877446" cy="3219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7804546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solidFill>
                  <a:srgbClr val="FF0000"/>
                </a:solidFill>
              </a:rPr>
              <a:t>Test of Ordinal Association</a:t>
            </a:r>
            <a:endParaRPr lang="en-US" i="1" dirty="0">
              <a:solidFill>
                <a:srgbClr val="FF0000"/>
              </a:solidFill>
            </a:endParaRPr>
          </a:p>
        </p:txBody>
      </p:sp>
      <p:sp>
        <p:nvSpPr>
          <p:cNvPr id="3" name="Rectangle 2"/>
          <p:cNvSpPr/>
          <p:nvPr/>
        </p:nvSpPr>
        <p:spPr>
          <a:xfrm>
            <a:off x="8460231" y="2489663"/>
            <a:ext cx="184730" cy="923330"/>
          </a:xfrm>
          <a:prstGeom prst="rect">
            <a:avLst/>
          </a:prstGeom>
          <a:noFill/>
        </p:spPr>
        <p:txBody>
          <a:bodyPr wrap="none" lIns="91440" tIns="45720" rIns="91440" bIns="45720">
            <a:spAutoFit/>
          </a:bodyPr>
          <a:lstStyle/>
          <a:p>
            <a:pPr algn="ctr"/>
            <a:endParaRPr lang="en-US" sz="5400" b="0" cap="none" spc="0" dirty="0">
              <a:ln w="0"/>
              <a:solidFill>
                <a:schemeClr val="tx1"/>
              </a:solidFill>
              <a:effectLst>
                <a:outerShdw blurRad="38100" dist="19050" dir="2700000" algn="tl" rotWithShape="0">
                  <a:schemeClr val="dk1">
                    <a:alpha val="40000"/>
                  </a:schemeClr>
                </a:outerShdw>
              </a:effectLst>
            </a:endParaRP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6067" y="1603540"/>
            <a:ext cx="5362867" cy="31935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Rectangle 1"/>
          <p:cNvSpPr/>
          <p:nvPr/>
        </p:nvSpPr>
        <p:spPr>
          <a:xfrm>
            <a:off x="6545048" y="1981832"/>
            <a:ext cx="5646952" cy="1938992"/>
          </a:xfrm>
          <a:prstGeom prst="rect">
            <a:avLst/>
          </a:prstGeom>
          <a:noFill/>
        </p:spPr>
        <p:txBody>
          <a:bodyPr wrap="square" lIns="91440" tIns="45720" rIns="91440" bIns="45720">
            <a:spAutoFit/>
          </a:bodyPr>
          <a:lstStyle/>
          <a:p>
            <a:pPr algn="ctr"/>
            <a:r>
              <a:rPr lang="en-US" sz="2400" b="1" cap="none" spc="0" dirty="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algn="tl" rotWithShape="0">
                    <a:srgbClr val="000000"/>
                  </a:outerShdw>
                </a:effectLst>
              </a:rPr>
              <a:t>The Mantel-</a:t>
            </a:r>
            <a:r>
              <a:rPr lang="en-US" sz="2400" b="1" dirty="0" err="1">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algn="tl" rotWithShape="0">
                    <a:srgbClr val="000000"/>
                  </a:outerShdw>
                </a:effectLst>
              </a:rPr>
              <a:t>H</a:t>
            </a:r>
            <a:r>
              <a:rPr lang="en-US" sz="2400" b="1" cap="none" spc="0" dirty="0" err="1">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algn="tl" rotWithShape="0">
                    <a:srgbClr val="000000"/>
                  </a:outerShdw>
                </a:effectLst>
              </a:rPr>
              <a:t>aenszel</a:t>
            </a:r>
            <a:r>
              <a:rPr lang="en-US" sz="2400" b="1" cap="none" spc="0" dirty="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algn="tl" rotWithShape="0">
                    <a:srgbClr val="000000"/>
                  </a:outerShdw>
                </a:effectLst>
              </a:rPr>
              <a:t> chi-square</a:t>
            </a:r>
          </a:p>
          <a:p>
            <a:pPr algn="ctr"/>
            <a:r>
              <a:rPr lang="en-US" sz="2400" b="1" dirty="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algn="tl" rotWithShape="0">
                    <a:srgbClr val="000000"/>
                  </a:outerShdw>
                </a:effectLst>
              </a:rPr>
              <a:t>test is sensitive to ordinal associations. </a:t>
            </a:r>
          </a:p>
          <a:p>
            <a:pPr algn="ctr"/>
            <a:r>
              <a:rPr lang="en-US" sz="2400" b="1" cap="none" spc="0" dirty="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algn="tl" rotWithShape="0">
                    <a:srgbClr val="000000"/>
                  </a:outerShdw>
                </a:effectLst>
              </a:rPr>
              <a:t>An ordinal associations implies that as one</a:t>
            </a:r>
          </a:p>
          <a:p>
            <a:pPr algn="ctr"/>
            <a:r>
              <a:rPr lang="en-US" sz="2400" b="1" dirty="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algn="tl" rotWithShape="0">
                    <a:srgbClr val="000000"/>
                  </a:outerShdw>
                </a:effectLst>
              </a:rPr>
              <a:t>variable increases, the other variable tends to increase, or decrease. </a:t>
            </a:r>
            <a:endParaRPr lang="en-US" sz="2400" b="1" cap="none" spc="0" dirty="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algn="tl" rotWithShape="0">
                  <a:srgbClr val="000000"/>
                </a:outerShdw>
              </a:effectLst>
            </a:endParaRPr>
          </a:p>
        </p:txBody>
      </p:sp>
    </p:spTree>
    <p:extLst>
      <p:ext uri="{BB962C8B-B14F-4D97-AF65-F5344CB8AC3E}">
        <p14:creationId xmlns:p14="http://schemas.microsoft.com/office/powerpoint/2010/main" val="110852580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solidFill>
                  <a:srgbClr val="FF0000"/>
                </a:solidFill>
              </a:rPr>
              <a:t>Test of Ordinal Association</a:t>
            </a:r>
            <a:endParaRPr lang="en-US" i="1" dirty="0">
              <a:solidFill>
                <a:srgbClr val="FF0000"/>
              </a:solidFill>
            </a:endParaRPr>
          </a:p>
        </p:txBody>
      </p:sp>
      <p:sp>
        <p:nvSpPr>
          <p:cNvPr id="3" name="Rectangle 2"/>
          <p:cNvSpPr/>
          <p:nvPr/>
        </p:nvSpPr>
        <p:spPr>
          <a:xfrm>
            <a:off x="8460231" y="2489663"/>
            <a:ext cx="184730" cy="923330"/>
          </a:xfrm>
          <a:prstGeom prst="rect">
            <a:avLst/>
          </a:prstGeom>
          <a:noFill/>
        </p:spPr>
        <p:txBody>
          <a:bodyPr wrap="none" lIns="91440" tIns="45720" rIns="91440" bIns="45720">
            <a:spAutoFit/>
          </a:bodyPr>
          <a:lstStyle/>
          <a:p>
            <a:pPr algn="ctr"/>
            <a:endParaRPr lang="en-US" sz="5400" b="0" cap="none" spc="0" dirty="0">
              <a:ln w="0"/>
              <a:solidFill>
                <a:schemeClr val="tx1"/>
              </a:solidFill>
              <a:effectLst>
                <a:outerShdw blurRad="38100" dist="19050" dir="2700000" algn="tl" rotWithShape="0">
                  <a:schemeClr val="dk1">
                    <a:alpha val="40000"/>
                  </a:schemeClr>
                </a:outerShdw>
              </a:effectLst>
            </a:endParaRPr>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9318" y="1765464"/>
            <a:ext cx="10353820" cy="38756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10962381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solidFill>
                  <a:srgbClr val="FF0000"/>
                </a:solidFill>
              </a:rPr>
              <a:t>Test of Ordinal Association</a:t>
            </a:r>
            <a:endParaRPr lang="en-US" i="1" dirty="0">
              <a:solidFill>
                <a:srgbClr val="FF0000"/>
              </a:solidFill>
            </a:endParaRPr>
          </a:p>
        </p:txBody>
      </p:sp>
      <p:sp>
        <p:nvSpPr>
          <p:cNvPr id="3" name="Rectangle 2"/>
          <p:cNvSpPr/>
          <p:nvPr/>
        </p:nvSpPr>
        <p:spPr>
          <a:xfrm>
            <a:off x="8460231" y="2489663"/>
            <a:ext cx="184730" cy="923330"/>
          </a:xfrm>
          <a:prstGeom prst="rect">
            <a:avLst/>
          </a:prstGeom>
          <a:noFill/>
        </p:spPr>
        <p:txBody>
          <a:bodyPr wrap="none" lIns="91440" tIns="45720" rIns="91440" bIns="45720">
            <a:spAutoFit/>
          </a:bodyPr>
          <a:lstStyle/>
          <a:p>
            <a:pPr algn="ctr"/>
            <a:endParaRPr lang="en-US" sz="5400" b="0" cap="none" spc="0" dirty="0">
              <a:ln w="0"/>
              <a:solidFill>
                <a:schemeClr val="tx1"/>
              </a:solidFill>
              <a:effectLst>
                <a:outerShdw blurRad="38100" dist="19050" dir="2700000" algn="tl" rotWithShape="0">
                  <a:schemeClr val="dk1">
                    <a:alpha val="40000"/>
                  </a:schemeClr>
                </a:outerShdw>
              </a:effectLst>
            </a:endParaRP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80134" y="1771650"/>
            <a:ext cx="9822327" cy="22517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Rectangle 1"/>
          <p:cNvSpPr/>
          <p:nvPr/>
        </p:nvSpPr>
        <p:spPr>
          <a:xfrm>
            <a:off x="1080133" y="4035477"/>
            <a:ext cx="9822327" cy="2246769"/>
          </a:xfrm>
          <a:prstGeom prst="rect">
            <a:avLst/>
          </a:prstGeom>
        </p:spPr>
        <p:txBody>
          <a:bodyPr wrap="square">
            <a:spAutoFit/>
          </a:bodyPr>
          <a:lstStyle/>
          <a:p>
            <a:r>
              <a:rPr lang="en-IN" sz="2000" b="1" dirty="0"/>
              <a:t>The Mantel-</a:t>
            </a:r>
            <a:r>
              <a:rPr lang="en-IN" sz="2000" b="1" dirty="0" err="1"/>
              <a:t>Haenszel</a:t>
            </a:r>
            <a:r>
              <a:rPr lang="en-IN" sz="2000" b="1" dirty="0"/>
              <a:t> chi-square statistics is more powerful than general association chi- square statistics for detecting an ordinal association. The reason is that,  </a:t>
            </a:r>
          </a:p>
          <a:p>
            <a:r>
              <a:rPr lang="en-IN" sz="2000" b="1" dirty="0"/>
              <a:t> </a:t>
            </a:r>
          </a:p>
          <a:p>
            <a:pPr marL="285750" lvl="0" indent="-285750">
              <a:buFont typeface="Wingdings" pitchFamily="2" charset="2"/>
              <a:buChar char="Ø"/>
            </a:pPr>
            <a:r>
              <a:rPr lang="en-IN" sz="2000" b="1" dirty="0"/>
              <a:t>All Mantel-</a:t>
            </a:r>
            <a:r>
              <a:rPr lang="en-IN" sz="2000" b="1" dirty="0" err="1"/>
              <a:t>Haenszel</a:t>
            </a:r>
            <a:r>
              <a:rPr lang="en-IN" sz="2000" b="1" dirty="0"/>
              <a:t> statistics’ power is concentrated toward that objective. </a:t>
            </a:r>
          </a:p>
          <a:p>
            <a:endParaRPr lang="en-IN" sz="2000" b="1" dirty="0"/>
          </a:p>
          <a:p>
            <a:pPr marL="285750" lvl="0" indent="-285750">
              <a:buFont typeface="Wingdings" pitchFamily="2" charset="2"/>
              <a:buChar char="Ø"/>
            </a:pPr>
            <a:r>
              <a:rPr lang="en-IN" sz="2000" b="1" dirty="0"/>
              <a:t>The power of the general association statistics is dispersed over a great number of alternatives. </a:t>
            </a:r>
          </a:p>
        </p:txBody>
      </p:sp>
    </p:spTree>
    <p:extLst>
      <p:ext uri="{BB962C8B-B14F-4D97-AF65-F5344CB8AC3E}">
        <p14:creationId xmlns:p14="http://schemas.microsoft.com/office/powerpoint/2010/main" val="41354859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solidFill>
                  <a:srgbClr val="FF0000"/>
                </a:solidFill>
              </a:rPr>
              <a:t>Test of Ordinal Association</a:t>
            </a:r>
            <a:endParaRPr lang="en-US" i="1" dirty="0">
              <a:solidFill>
                <a:srgbClr val="FF0000"/>
              </a:solidFill>
            </a:endParaRPr>
          </a:p>
        </p:txBody>
      </p:sp>
      <p:sp>
        <p:nvSpPr>
          <p:cNvPr id="3" name="Rectangle 2"/>
          <p:cNvSpPr/>
          <p:nvPr/>
        </p:nvSpPr>
        <p:spPr>
          <a:xfrm>
            <a:off x="8460231" y="2489663"/>
            <a:ext cx="184730" cy="923330"/>
          </a:xfrm>
          <a:prstGeom prst="rect">
            <a:avLst/>
          </a:prstGeom>
          <a:noFill/>
        </p:spPr>
        <p:txBody>
          <a:bodyPr wrap="none" lIns="91440" tIns="45720" rIns="91440" bIns="45720">
            <a:spAutoFit/>
          </a:bodyPr>
          <a:lstStyle/>
          <a:p>
            <a:pPr algn="ctr"/>
            <a:endParaRPr lang="en-US" sz="5400" b="0" cap="none" spc="0" dirty="0">
              <a:ln w="0"/>
              <a:solidFill>
                <a:schemeClr val="tx1"/>
              </a:solidFill>
              <a:effectLst>
                <a:outerShdw blurRad="38100" dist="19050" dir="2700000" algn="tl" rotWithShape="0">
                  <a:schemeClr val="dk1">
                    <a:alpha val="40000"/>
                  </a:schemeClr>
                </a:outerShdw>
              </a:effectLst>
            </a:endParaRP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5761" y="1784514"/>
            <a:ext cx="5767754" cy="41379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Rectangle 4"/>
          <p:cNvSpPr/>
          <p:nvPr/>
        </p:nvSpPr>
        <p:spPr>
          <a:xfrm>
            <a:off x="6133514" y="1704833"/>
            <a:ext cx="6096000" cy="4524315"/>
          </a:xfrm>
          <a:prstGeom prst="rect">
            <a:avLst/>
          </a:prstGeom>
        </p:spPr>
        <p:txBody>
          <a:bodyPr>
            <a:spAutoFit/>
          </a:bodyPr>
          <a:lstStyle/>
          <a:p>
            <a:r>
              <a:rPr lang="en-IN" sz="2400" dirty="0"/>
              <a:t>To measure the strength of ordinal association, you can use the </a:t>
            </a:r>
            <a:r>
              <a:rPr lang="en-IN" sz="2400" i="1" dirty="0">
                <a:solidFill>
                  <a:srgbClr val="FFC000"/>
                </a:solidFill>
              </a:rPr>
              <a:t>Spearman correlation statistic</a:t>
            </a:r>
            <a:r>
              <a:rPr lang="en-IN" sz="2400" dirty="0"/>
              <a:t>. </a:t>
            </a:r>
          </a:p>
          <a:p>
            <a:r>
              <a:rPr lang="en-IN" sz="2400" dirty="0"/>
              <a:t> </a:t>
            </a:r>
          </a:p>
          <a:p>
            <a:r>
              <a:rPr lang="en-IN" sz="2400" dirty="0"/>
              <a:t>This statistic, </a:t>
            </a:r>
          </a:p>
          <a:p>
            <a:pPr marL="342900" lvl="0" indent="-342900">
              <a:buFont typeface="Wingdings" pitchFamily="2" charset="2"/>
              <a:buChar char="Ø"/>
            </a:pPr>
            <a:r>
              <a:rPr lang="en-IN" sz="2400" dirty="0"/>
              <a:t>has a range between -1 to 1.</a:t>
            </a:r>
          </a:p>
          <a:p>
            <a:pPr marL="342900" lvl="0" indent="-342900">
              <a:buFont typeface="Wingdings" pitchFamily="2" charset="2"/>
              <a:buChar char="Ø"/>
            </a:pPr>
            <a:r>
              <a:rPr lang="en-IN" sz="2400" dirty="0"/>
              <a:t>has a value close to 1 if there is relatively high degree of positive correlation. </a:t>
            </a:r>
          </a:p>
          <a:p>
            <a:pPr marL="342900" lvl="0" indent="-342900">
              <a:buFont typeface="Wingdings" pitchFamily="2" charset="2"/>
              <a:buChar char="Ø"/>
            </a:pPr>
            <a:r>
              <a:rPr lang="en-IN" sz="2400" dirty="0"/>
              <a:t>has a value close to -1 if there is relatively high degree of negative correlation. </a:t>
            </a:r>
          </a:p>
          <a:p>
            <a:pPr marL="342900" lvl="0" indent="-342900">
              <a:buFont typeface="Wingdings" pitchFamily="2" charset="2"/>
              <a:buChar char="Ø"/>
            </a:pPr>
            <a:r>
              <a:rPr lang="en-IN" sz="2400" dirty="0"/>
              <a:t>is appropriate only if both the variables are ordinal scaled and values are in logical order. </a:t>
            </a:r>
          </a:p>
          <a:p>
            <a:r>
              <a:rPr lang="en-IN" sz="2400" dirty="0"/>
              <a:t> </a:t>
            </a:r>
            <a:endParaRPr lang="en-IN" sz="2400" dirty="0">
              <a:effectLst/>
            </a:endParaRPr>
          </a:p>
        </p:txBody>
      </p:sp>
    </p:spTree>
    <p:extLst>
      <p:ext uri="{BB962C8B-B14F-4D97-AF65-F5344CB8AC3E}">
        <p14:creationId xmlns:p14="http://schemas.microsoft.com/office/powerpoint/2010/main" val="257190945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solidFill>
                  <a:srgbClr val="FF0000"/>
                </a:solidFill>
              </a:rPr>
              <a:t>Test of Ordinal Association</a:t>
            </a:r>
            <a:endParaRPr lang="en-US" i="1" dirty="0">
              <a:solidFill>
                <a:srgbClr val="FF0000"/>
              </a:solidFill>
            </a:endParaRPr>
          </a:p>
        </p:txBody>
      </p:sp>
      <p:sp>
        <p:nvSpPr>
          <p:cNvPr id="3" name="Rectangle 2"/>
          <p:cNvSpPr/>
          <p:nvPr/>
        </p:nvSpPr>
        <p:spPr>
          <a:xfrm>
            <a:off x="8460231" y="2489663"/>
            <a:ext cx="184730" cy="923330"/>
          </a:xfrm>
          <a:prstGeom prst="rect">
            <a:avLst/>
          </a:prstGeom>
          <a:noFill/>
        </p:spPr>
        <p:txBody>
          <a:bodyPr wrap="none" lIns="91440" tIns="45720" rIns="91440" bIns="45720">
            <a:spAutoFit/>
          </a:bodyPr>
          <a:lstStyle/>
          <a:p>
            <a:pPr algn="ctr"/>
            <a:endParaRPr lang="en-US" sz="5400" b="0" cap="none" spc="0" dirty="0">
              <a:ln w="0"/>
              <a:solidFill>
                <a:schemeClr val="tx1"/>
              </a:solidFill>
              <a:effectLst>
                <a:outerShdw blurRad="38100" dist="19050" dir="2700000" algn="tl" rotWithShape="0">
                  <a:schemeClr val="dk1">
                    <a:alpha val="40000"/>
                  </a:schemeClr>
                </a:outerShdw>
              </a:effectLst>
            </a:endParaRPr>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09649" y="1799638"/>
            <a:ext cx="7450581" cy="17735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Rectangle 1"/>
          <p:cNvSpPr/>
          <p:nvPr/>
        </p:nvSpPr>
        <p:spPr>
          <a:xfrm>
            <a:off x="1009649" y="4556985"/>
            <a:ext cx="9020616" cy="1754326"/>
          </a:xfrm>
          <a:prstGeom prst="rect">
            <a:avLst/>
          </a:prstGeom>
        </p:spPr>
        <p:txBody>
          <a:bodyPr wrap="square">
            <a:spAutoFit/>
          </a:bodyPr>
          <a:lstStyle/>
          <a:p>
            <a:pPr algn="ctr"/>
            <a:r>
              <a:rPr lang="en-IN" sz="3600" b="1" i="1" dirty="0"/>
              <a:t>The Spearmen statistic can be interpreted as the Pearson correlation between the ranks on variable X and ranks on variable Y. </a:t>
            </a:r>
            <a:endParaRPr lang="en-IN" sz="3600" b="1" i="1" dirty="0">
              <a:effectLst/>
            </a:endParaRPr>
          </a:p>
        </p:txBody>
      </p:sp>
    </p:spTree>
    <p:extLst>
      <p:ext uri="{BB962C8B-B14F-4D97-AF65-F5344CB8AC3E}">
        <p14:creationId xmlns:p14="http://schemas.microsoft.com/office/powerpoint/2010/main" val="181335863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solidFill>
                  <a:srgbClr val="FF0000"/>
                </a:solidFill>
              </a:rPr>
              <a:t>Test of Ordinal Association</a:t>
            </a:r>
            <a:endParaRPr lang="en-US" dirty="0"/>
          </a:p>
        </p:txBody>
      </p:sp>
      <p:sp>
        <p:nvSpPr>
          <p:cNvPr id="3" name="Rectangle 2"/>
          <p:cNvSpPr/>
          <p:nvPr/>
        </p:nvSpPr>
        <p:spPr>
          <a:xfrm>
            <a:off x="8460231" y="2489663"/>
            <a:ext cx="184730" cy="923330"/>
          </a:xfrm>
          <a:prstGeom prst="rect">
            <a:avLst/>
          </a:prstGeom>
          <a:noFill/>
        </p:spPr>
        <p:txBody>
          <a:bodyPr wrap="none" lIns="91440" tIns="45720" rIns="91440" bIns="45720">
            <a:spAutoFit/>
          </a:bodyPr>
          <a:lstStyle/>
          <a:p>
            <a:pPr algn="ctr"/>
            <a:endParaRPr lang="en-US" sz="5400" b="0" cap="none" spc="0" dirty="0">
              <a:ln w="0"/>
              <a:solidFill>
                <a:schemeClr val="tx1"/>
              </a:solidFill>
              <a:effectLst>
                <a:outerShdw blurRad="38100" dist="19050" dir="2700000" algn="tl" rotWithShape="0">
                  <a:schemeClr val="dk1">
                    <a:alpha val="40000"/>
                  </a:schemeClr>
                </a:outerShdw>
              </a:effectLst>
            </a:endParaRPr>
          </a:p>
        </p:txBody>
      </p:sp>
      <p:sp>
        <p:nvSpPr>
          <p:cNvPr id="5" name="Rectangle 4"/>
          <p:cNvSpPr/>
          <p:nvPr/>
        </p:nvSpPr>
        <p:spPr>
          <a:xfrm>
            <a:off x="3951691" y="2689718"/>
            <a:ext cx="3142207" cy="1446550"/>
          </a:xfrm>
          <a:prstGeom prst="rect">
            <a:avLst/>
          </a:prstGeom>
          <a:noFill/>
        </p:spPr>
        <p:txBody>
          <a:bodyPr wrap="none" lIns="91440" tIns="45720" rIns="91440" bIns="45720">
            <a:spAutoFit/>
          </a:bodyPr>
          <a:lstStyle/>
          <a:p>
            <a:pPr algn="ctr"/>
            <a:r>
              <a:rPr lang="en-US" sz="8800" b="0" cap="none" spc="0" dirty="0">
                <a:ln w="0"/>
                <a:solidFill>
                  <a:srgbClr val="FFFF00"/>
                </a:solidFill>
                <a:effectLst>
                  <a:outerShdw blurRad="38100" dist="19050" dir="2700000" algn="tl" rotWithShape="0">
                    <a:schemeClr val="dk1">
                      <a:alpha val="40000"/>
                    </a:schemeClr>
                  </a:outerShdw>
                </a:effectLst>
              </a:rPr>
              <a:t>DEMO</a:t>
            </a:r>
          </a:p>
        </p:txBody>
      </p:sp>
    </p:spTree>
    <p:extLst>
      <p:ext uri="{BB962C8B-B14F-4D97-AF65-F5344CB8AC3E}">
        <p14:creationId xmlns:p14="http://schemas.microsoft.com/office/powerpoint/2010/main" val="428280420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solidFill>
                  <a:srgbClr val="FF0000"/>
                </a:solidFill>
              </a:rPr>
              <a:t>Odds and Odds Ratio</a:t>
            </a:r>
            <a:endParaRPr lang="en-US" i="1" dirty="0">
              <a:solidFill>
                <a:srgbClr val="FF0000"/>
              </a:solidFill>
            </a:endParaRPr>
          </a:p>
        </p:txBody>
      </p:sp>
      <p:sp>
        <p:nvSpPr>
          <p:cNvPr id="3" name="Rectangle 2"/>
          <p:cNvSpPr/>
          <p:nvPr/>
        </p:nvSpPr>
        <p:spPr>
          <a:xfrm>
            <a:off x="8460231" y="2489663"/>
            <a:ext cx="184730" cy="923330"/>
          </a:xfrm>
          <a:prstGeom prst="rect">
            <a:avLst/>
          </a:prstGeom>
          <a:noFill/>
        </p:spPr>
        <p:txBody>
          <a:bodyPr wrap="none" lIns="91440" tIns="45720" rIns="91440" bIns="45720">
            <a:spAutoFit/>
          </a:bodyPr>
          <a:lstStyle/>
          <a:p>
            <a:pPr algn="ctr"/>
            <a:endParaRPr lang="en-US" sz="5400" b="0" cap="none" spc="0" dirty="0">
              <a:ln w="0"/>
              <a:solidFill>
                <a:schemeClr val="tx1"/>
              </a:solidFill>
              <a:effectLst>
                <a:outerShdw blurRad="38100" dist="19050" dir="2700000" algn="tl" rotWithShape="0">
                  <a:schemeClr val="dk1">
                    <a:alpha val="40000"/>
                  </a:schemeClr>
                </a:outerShdw>
              </a:effectLst>
            </a:endParaRP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46138" y="1706660"/>
            <a:ext cx="5115511" cy="34280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Rectangle 4"/>
          <p:cNvSpPr/>
          <p:nvPr/>
        </p:nvSpPr>
        <p:spPr>
          <a:xfrm>
            <a:off x="6161649" y="1706660"/>
            <a:ext cx="6096000" cy="3416320"/>
          </a:xfrm>
          <a:prstGeom prst="rect">
            <a:avLst/>
          </a:prstGeom>
        </p:spPr>
        <p:txBody>
          <a:bodyPr>
            <a:spAutoFit/>
          </a:bodyPr>
          <a:lstStyle/>
          <a:p>
            <a:r>
              <a:rPr lang="en-IN" sz="3600" dirty="0"/>
              <a:t>The odds ratio can be used as a measure of strength of association for 2*2 tables. Do not mistake odds for probability. Odds are calculated from probabilities. </a:t>
            </a:r>
          </a:p>
        </p:txBody>
      </p:sp>
    </p:spTree>
    <p:extLst>
      <p:ext uri="{BB962C8B-B14F-4D97-AF65-F5344CB8AC3E}">
        <p14:creationId xmlns:p14="http://schemas.microsoft.com/office/powerpoint/2010/main" val="281082321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solidFill>
                  <a:srgbClr val="FF0000"/>
                </a:solidFill>
              </a:rPr>
              <a:t>Odds and Odds Ratio</a:t>
            </a:r>
            <a:endParaRPr lang="en-US" i="1" dirty="0">
              <a:solidFill>
                <a:srgbClr val="FF0000"/>
              </a:solidFill>
            </a:endParaRPr>
          </a:p>
        </p:txBody>
      </p:sp>
      <p:sp>
        <p:nvSpPr>
          <p:cNvPr id="3" name="Rectangle 2"/>
          <p:cNvSpPr/>
          <p:nvPr/>
        </p:nvSpPr>
        <p:spPr>
          <a:xfrm>
            <a:off x="8460231" y="2489663"/>
            <a:ext cx="184730" cy="923330"/>
          </a:xfrm>
          <a:prstGeom prst="rect">
            <a:avLst/>
          </a:prstGeom>
          <a:noFill/>
        </p:spPr>
        <p:txBody>
          <a:bodyPr wrap="none" lIns="91440" tIns="45720" rIns="91440" bIns="45720">
            <a:spAutoFit/>
          </a:bodyPr>
          <a:lstStyle/>
          <a:p>
            <a:pPr algn="ctr"/>
            <a:endParaRPr lang="en-US" sz="5400" b="0" cap="none" spc="0" dirty="0">
              <a:ln w="0"/>
              <a:solidFill>
                <a:schemeClr val="tx1"/>
              </a:solidFill>
              <a:effectLst>
                <a:outerShdw blurRad="38100" dist="19050" dir="2700000" algn="tl" rotWithShape="0">
                  <a:schemeClr val="dk1">
                    <a:alpha val="40000"/>
                  </a:schemeClr>
                </a:outerShdw>
              </a:effectLst>
            </a:endParaRP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79243" y="1632115"/>
            <a:ext cx="7180019" cy="37839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79242" y="5709652"/>
            <a:ext cx="10795415" cy="7614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90263424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solidFill>
                  <a:srgbClr val="FF0000"/>
                </a:solidFill>
              </a:rPr>
              <a:t>Odds and Odds Ratio</a:t>
            </a:r>
            <a:endParaRPr lang="en-US" i="1" dirty="0">
              <a:solidFill>
                <a:srgbClr val="FF0000"/>
              </a:solidFill>
            </a:endParaRPr>
          </a:p>
        </p:txBody>
      </p:sp>
      <p:sp>
        <p:nvSpPr>
          <p:cNvPr id="3" name="Rectangle 2"/>
          <p:cNvSpPr/>
          <p:nvPr/>
        </p:nvSpPr>
        <p:spPr>
          <a:xfrm>
            <a:off x="8460231" y="2489663"/>
            <a:ext cx="184730" cy="923330"/>
          </a:xfrm>
          <a:prstGeom prst="rect">
            <a:avLst/>
          </a:prstGeom>
          <a:noFill/>
        </p:spPr>
        <p:txBody>
          <a:bodyPr wrap="none" lIns="91440" tIns="45720" rIns="91440" bIns="45720">
            <a:spAutoFit/>
          </a:bodyPr>
          <a:lstStyle/>
          <a:p>
            <a:pPr algn="ctr"/>
            <a:endParaRPr lang="en-US" sz="5400" b="0" cap="none" spc="0" dirty="0">
              <a:ln w="0"/>
              <a:solidFill>
                <a:schemeClr val="tx1"/>
              </a:solidFill>
              <a:effectLst>
                <a:outerShdw blurRad="38100" dist="19050" dir="2700000" algn="tl" rotWithShape="0">
                  <a:schemeClr val="dk1">
                    <a:alpha val="40000"/>
                  </a:schemeClr>
                </a:outerShdw>
              </a:effectLst>
            </a:endParaRPr>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41375" y="1617827"/>
            <a:ext cx="8243301" cy="45156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2367483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solidFill>
                  <a:srgbClr val="FF0000"/>
                </a:solidFill>
              </a:rPr>
              <a:t>Odds and Odds Ratio</a:t>
            </a:r>
            <a:endParaRPr lang="en-US" i="1" dirty="0">
              <a:solidFill>
                <a:srgbClr val="FF0000"/>
              </a:solidFill>
            </a:endParaRPr>
          </a:p>
        </p:txBody>
      </p:sp>
      <p:sp>
        <p:nvSpPr>
          <p:cNvPr id="3" name="Rectangle 2"/>
          <p:cNvSpPr/>
          <p:nvPr/>
        </p:nvSpPr>
        <p:spPr>
          <a:xfrm>
            <a:off x="8460231" y="2489663"/>
            <a:ext cx="184730" cy="923330"/>
          </a:xfrm>
          <a:prstGeom prst="rect">
            <a:avLst/>
          </a:prstGeom>
          <a:noFill/>
        </p:spPr>
        <p:txBody>
          <a:bodyPr wrap="none" lIns="91440" tIns="45720" rIns="91440" bIns="45720">
            <a:spAutoFit/>
          </a:bodyPr>
          <a:lstStyle/>
          <a:p>
            <a:pPr algn="ctr"/>
            <a:endParaRPr lang="en-US" sz="5400" b="0" cap="none" spc="0" dirty="0">
              <a:ln w="0"/>
              <a:solidFill>
                <a:schemeClr val="tx1"/>
              </a:solidFill>
              <a:effectLst>
                <a:outerShdw blurRad="38100" dist="19050" dir="2700000" algn="tl" rotWithShape="0">
                  <a:schemeClr val="dk1">
                    <a:alpha val="40000"/>
                  </a:schemeClr>
                </a:outerShdw>
              </a:effectLst>
            </a:endParaRPr>
          </a:p>
        </p:txBody>
      </p:sp>
      <p:sp>
        <p:nvSpPr>
          <p:cNvPr id="2" name="Rectangle 1"/>
          <p:cNvSpPr/>
          <p:nvPr/>
        </p:nvSpPr>
        <p:spPr>
          <a:xfrm>
            <a:off x="1036319" y="1694326"/>
            <a:ext cx="10274106" cy="3970318"/>
          </a:xfrm>
          <a:prstGeom prst="rect">
            <a:avLst/>
          </a:prstGeom>
        </p:spPr>
        <p:txBody>
          <a:bodyPr wrap="square">
            <a:spAutoFit/>
          </a:bodyPr>
          <a:lstStyle/>
          <a:p>
            <a:pPr marL="457200" indent="-457200">
              <a:buFont typeface="Wingdings" pitchFamily="2" charset="2"/>
              <a:buChar char="Ø"/>
            </a:pPr>
            <a:r>
              <a:rPr lang="en-IN" sz="2800" dirty="0"/>
              <a:t>The odds of an outcome are the ratio of the expected probability that the outcome will occur to the expected probability that the outcome will </a:t>
            </a:r>
            <a:r>
              <a:rPr lang="en-IN" sz="2800" b="1" i="1" dirty="0"/>
              <a:t>not</a:t>
            </a:r>
            <a:r>
              <a:rPr lang="en-IN" sz="2800" dirty="0"/>
              <a:t> occur. </a:t>
            </a:r>
          </a:p>
          <a:p>
            <a:endParaRPr lang="en-US" sz="2800" dirty="0"/>
          </a:p>
          <a:p>
            <a:endParaRPr lang="en-IN" sz="2800" dirty="0"/>
          </a:p>
          <a:p>
            <a:pPr marL="457200" indent="-457200">
              <a:buFont typeface="Wingdings" pitchFamily="2" charset="2"/>
              <a:buChar char="Ø"/>
            </a:pPr>
            <a:r>
              <a:rPr lang="en-IN" sz="2800" dirty="0"/>
              <a:t>The odds for group B are 9, which indicate that you expect 9 times as many occurrences as non-occurrences in Group B.</a:t>
            </a:r>
          </a:p>
          <a:p>
            <a:pPr marL="457200" indent="-457200">
              <a:buFont typeface="Wingdings" pitchFamily="2" charset="2"/>
              <a:buChar char="Ø"/>
            </a:pPr>
            <a:endParaRPr lang="en-US" sz="2800" dirty="0"/>
          </a:p>
          <a:p>
            <a:pPr marL="457200" indent="-457200">
              <a:buFont typeface="Wingdings" pitchFamily="2" charset="2"/>
              <a:buChar char="Ø"/>
            </a:pPr>
            <a:r>
              <a:rPr lang="en-US" sz="2800" dirty="0"/>
              <a:t>What are the odds of having outcome in Group A?</a:t>
            </a:r>
            <a:endParaRPr lang="en-IN" sz="2800" dirty="0"/>
          </a:p>
        </p:txBody>
      </p:sp>
    </p:spTree>
    <p:extLst>
      <p:ext uri="{BB962C8B-B14F-4D97-AF65-F5344CB8AC3E}">
        <p14:creationId xmlns:p14="http://schemas.microsoft.com/office/powerpoint/2010/main" val="179867764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solidFill>
                  <a:srgbClr val="FF0000"/>
                </a:solidFill>
              </a:rPr>
              <a:t>Odds and Odds Ratio</a:t>
            </a:r>
            <a:endParaRPr lang="en-US" i="1" dirty="0">
              <a:solidFill>
                <a:srgbClr val="FF0000"/>
              </a:solidFill>
            </a:endParaRPr>
          </a:p>
        </p:txBody>
      </p:sp>
      <p:sp>
        <p:nvSpPr>
          <p:cNvPr id="3" name="Rectangle 2"/>
          <p:cNvSpPr/>
          <p:nvPr/>
        </p:nvSpPr>
        <p:spPr>
          <a:xfrm>
            <a:off x="8460231" y="2489663"/>
            <a:ext cx="184730" cy="923330"/>
          </a:xfrm>
          <a:prstGeom prst="rect">
            <a:avLst/>
          </a:prstGeom>
          <a:noFill/>
        </p:spPr>
        <p:txBody>
          <a:bodyPr wrap="none" lIns="91440" tIns="45720" rIns="91440" bIns="45720">
            <a:spAutoFit/>
          </a:bodyPr>
          <a:lstStyle/>
          <a:p>
            <a:pPr algn="ctr"/>
            <a:endParaRPr lang="en-US" sz="5400" b="0" cap="none" spc="0" dirty="0">
              <a:ln w="0"/>
              <a:solidFill>
                <a:schemeClr val="tx1"/>
              </a:solidFill>
              <a:effectLst>
                <a:outerShdw blurRad="38100" dist="19050" dir="2700000" algn="tl" rotWithShape="0">
                  <a:schemeClr val="dk1">
                    <a:alpha val="40000"/>
                  </a:schemeClr>
                </a:outerShdw>
              </a:effectLst>
            </a:endParaRPr>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06951" y="1785791"/>
            <a:ext cx="6925701" cy="37006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099"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06951" y="5722401"/>
            <a:ext cx="10709911" cy="9316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6693574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solidFill>
                  <a:srgbClr val="FF0000"/>
                </a:solidFill>
              </a:rPr>
              <a:t>Odds and Odds Ratio</a:t>
            </a:r>
            <a:endParaRPr lang="en-US" i="1" dirty="0">
              <a:solidFill>
                <a:srgbClr val="FF0000"/>
              </a:solidFill>
            </a:endParaRPr>
          </a:p>
        </p:txBody>
      </p:sp>
      <p:sp>
        <p:nvSpPr>
          <p:cNvPr id="3" name="Rectangle 2"/>
          <p:cNvSpPr/>
          <p:nvPr/>
        </p:nvSpPr>
        <p:spPr>
          <a:xfrm>
            <a:off x="8460231" y="2489663"/>
            <a:ext cx="184730" cy="923330"/>
          </a:xfrm>
          <a:prstGeom prst="rect">
            <a:avLst/>
          </a:prstGeom>
          <a:noFill/>
        </p:spPr>
        <p:txBody>
          <a:bodyPr wrap="none" lIns="91440" tIns="45720" rIns="91440" bIns="45720">
            <a:spAutoFit/>
          </a:bodyPr>
          <a:lstStyle/>
          <a:p>
            <a:pPr algn="ctr"/>
            <a:endParaRPr lang="en-US" sz="5400" b="0" cap="none" spc="0" dirty="0">
              <a:ln w="0"/>
              <a:solidFill>
                <a:schemeClr val="tx1"/>
              </a:solidFill>
              <a:effectLst>
                <a:outerShdw blurRad="38100" dist="19050" dir="2700000" algn="tl" rotWithShape="0">
                  <a:schemeClr val="dk1">
                    <a:alpha val="40000"/>
                  </a:schemeClr>
                </a:outerShdw>
              </a:effectLst>
            </a:endParaRPr>
          </a:p>
        </p:txBody>
      </p:sp>
      <p:sp>
        <p:nvSpPr>
          <p:cNvPr id="2" name="Rectangle 1"/>
          <p:cNvSpPr/>
          <p:nvPr/>
        </p:nvSpPr>
        <p:spPr>
          <a:xfrm>
            <a:off x="1008183" y="1843332"/>
            <a:ext cx="10175631" cy="4154984"/>
          </a:xfrm>
          <a:prstGeom prst="rect">
            <a:avLst/>
          </a:prstGeom>
        </p:spPr>
        <p:txBody>
          <a:bodyPr wrap="square">
            <a:spAutoFit/>
          </a:bodyPr>
          <a:lstStyle/>
          <a:p>
            <a:pPr marL="285750" indent="-285750">
              <a:buFont typeface="Wingdings" pitchFamily="2" charset="2"/>
              <a:buChar char="Ø"/>
            </a:pPr>
            <a:r>
              <a:rPr lang="en-IN" sz="2400" dirty="0"/>
              <a:t>The odds ration shows the relationship between the predictor variable and outcome variable. </a:t>
            </a:r>
          </a:p>
          <a:p>
            <a:endParaRPr lang="en-IN" sz="2400" dirty="0"/>
          </a:p>
          <a:p>
            <a:pPr marL="285750" indent="-285750">
              <a:buFont typeface="Wingdings" pitchFamily="2" charset="2"/>
              <a:buChar char="Ø"/>
            </a:pPr>
            <a:r>
              <a:rPr lang="en-IN" sz="2400" dirty="0"/>
              <a:t>If the odds ratio is 1, then there is no association between predictor variable and outcome variable. </a:t>
            </a:r>
          </a:p>
          <a:p>
            <a:endParaRPr lang="en-IN" sz="2400" dirty="0"/>
          </a:p>
          <a:p>
            <a:pPr marL="285750" indent="-285750">
              <a:buFont typeface="Wingdings" pitchFamily="2" charset="2"/>
              <a:buChar char="Ø"/>
            </a:pPr>
            <a:r>
              <a:rPr lang="en-IN" sz="2400" dirty="0"/>
              <a:t>If the odds ratio is greater than 1, then Group A, the numerator group, is more likely to have the outcome. </a:t>
            </a:r>
          </a:p>
          <a:p>
            <a:endParaRPr lang="en-IN" sz="2400" dirty="0"/>
          </a:p>
          <a:p>
            <a:pPr marL="285750" indent="-285750">
              <a:buFont typeface="Wingdings" pitchFamily="2" charset="2"/>
              <a:buChar char="Ø"/>
            </a:pPr>
            <a:r>
              <a:rPr lang="en-IN" sz="2400" dirty="0"/>
              <a:t>If the odds ratio is less than 1, then Group B, the denominator group, is more likely to have the outcome.   </a:t>
            </a:r>
            <a:endParaRPr lang="en-IN" sz="2400" dirty="0">
              <a:effectLst/>
            </a:endParaRPr>
          </a:p>
        </p:txBody>
      </p:sp>
    </p:spTree>
    <p:extLst>
      <p:ext uri="{BB962C8B-B14F-4D97-AF65-F5344CB8AC3E}">
        <p14:creationId xmlns:p14="http://schemas.microsoft.com/office/powerpoint/2010/main" val="420075901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solidFill>
                  <a:srgbClr val="FF0000"/>
                </a:solidFill>
              </a:rPr>
              <a:t>Odds and </a:t>
            </a:r>
            <a:r>
              <a:rPr lang="en-US">
                <a:solidFill>
                  <a:srgbClr val="FF0000"/>
                </a:solidFill>
              </a:rPr>
              <a:t>Odds Ratio</a:t>
            </a:r>
            <a:endParaRPr lang="en-US" dirty="0"/>
          </a:p>
        </p:txBody>
      </p:sp>
      <p:sp>
        <p:nvSpPr>
          <p:cNvPr id="3" name="Rectangle 2"/>
          <p:cNvSpPr/>
          <p:nvPr/>
        </p:nvSpPr>
        <p:spPr>
          <a:xfrm>
            <a:off x="8460231" y="2489663"/>
            <a:ext cx="184730" cy="923330"/>
          </a:xfrm>
          <a:prstGeom prst="rect">
            <a:avLst/>
          </a:prstGeom>
          <a:noFill/>
        </p:spPr>
        <p:txBody>
          <a:bodyPr wrap="none" lIns="91440" tIns="45720" rIns="91440" bIns="45720">
            <a:spAutoFit/>
          </a:bodyPr>
          <a:lstStyle/>
          <a:p>
            <a:pPr algn="ctr"/>
            <a:endParaRPr lang="en-US" sz="5400" b="0" cap="none" spc="0" dirty="0">
              <a:ln w="0"/>
              <a:solidFill>
                <a:schemeClr val="tx1"/>
              </a:solidFill>
              <a:effectLst>
                <a:outerShdw blurRad="38100" dist="19050" dir="2700000" algn="tl" rotWithShape="0">
                  <a:schemeClr val="dk1">
                    <a:alpha val="40000"/>
                  </a:schemeClr>
                </a:outerShdw>
              </a:effectLst>
            </a:endParaRPr>
          </a:p>
        </p:txBody>
      </p:sp>
      <p:sp>
        <p:nvSpPr>
          <p:cNvPr id="5" name="Rectangle 4"/>
          <p:cNvSpPr/>
          <p:nvPr/>
        </p:nvSpPr>
        <p:spPr>
          <a:xfrm>
            <a:off x="3951691" y="2689718"/>
            <a:ext cx="3142207" cy="1446550"/>
          </a:xfrm>
          <a:prstGeom prst="rect">
            <a:avLst/>
          </a:prstGeom>
          <a:noFill/>
        </p:spPr>
        <p:txBody>
          <a:bodyPr wrap="none" lIns="91440" tIns="45720" rIns="91440" bIns="45720">
            <a:spAutoFit/>
          </a:bodyPr>
          <a:lstStyle/>
          <a:p>
            <a:pPr algn="ctr"/>
            <a:r>
              <a:rPr lang="en-US" sz="8800" b="0" cap="none" spc="0" dirty="0">
                <a:ln w="0"/>
                <a:solidFill>
                  <a:srgbClr val="FFFF00"/>
                </a:solidFill>
                <a:effectLst>
                  <a:outerShdw blurRad="38100" dist="19050" dir="2700000" algn="tl" rotWithShape="0">
                    <a:schemeClr val="dk1">
                      <a:alpha val="40000"/>
                    </a:schemeClr>
                  </a:outerShdw>
                </a:effectLst>
              </a:rPr>
              <a:t>DEMO</a:t>
            </a:r>
          </a:p>
        </p:txBody>
      </p:sp>
    </p:spTree>
    <p:extLst>
      <p:ext uri="{BB962C8B-B14F-4D97-AF65-F5344CB8AC3E}">
        <p14:creationId xmlns:p14="http://schemas.microsoft.com/office/powerpoint/2010/main" val="9199159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solidFill>
                  <a:srgbClr val="FF0000"/>
                </a:solidFill>
              </a:rPr>
              <a:t>Logistic Regression</a:t>
            </a:r>
          </a:p>
        </p:txBody>
      </p:sp>
      <p:sp>
        <p:nvSpPr>
          <p:cNvPr id="3" name="Rectangle 2"/>
          <p:cNvSpPr/>
          <p:nvPr/>
        </p:nvSpPr>
        <p:spPr>
          <a:xfrm>
            <a:off x="8460231" y="2489663"/>
            <a:ext cx="184730" cy="923330"/>
          </a:xfrm>
          <a:prstGeom prst="rect">
            <a:avLst/>
          </a:prstGeom>
          <a:noFill/>
        </p:spPr>
        <p:txBody>
          <a:bodyPr wrap="none" lIns="91440" tIns="45720" rIns="91440" bIns="45720">
            <a:spAutoFit/>
          </a:bodyPr>
          <a:lstStyle/>
          <a:p>
            <a:pPr algn="ctr"/>
            <a:endParaRPr lang="en-US" sz="5400" b="0" cap="none" spc="0" dirty="0">
              <a:ln w="0"/>
              <a:solidFill>
                <a:schemeClr val="tx1"/>
              </a:solidFill>
              <a:effectLst>
                <a:outerShdw blurRad="38100" dist="19050" dir="2700000" algn="tl" rotWithShape="0">
                  <a:schemeClr val="dk1">
                    <a:alpha val="40000"/>
                  </a:schemeClr>
                </a:outerShdw>
              </a:effectLst>
            </a:endParaRPr>
          </a:p>
        </p:txBody>
      </p:sp>
      <p:sp>
        <p:nvSpPr>
          <p:cNvPr id="2" name="Rectangle 1"/>
          <p:cNvSpPr/>
          <p:nvPr/>
        </p:nvSpPr>
        <p:spPr>
          <a:xfrm>
            <a:off x="1008183" y="1843332"/>
            <a:ext cx="10175631" cy="3046988"/>
          </a:xfrm>
          <a:prstGeom prst="rect">
            <a:avLst/>
          </a:prstGeom>
        </p:spPr>
        <p:txBody>
          <a:bodyPr wrap="square">
            <a:spAutoFit/>
          </a:bodyPr>
          <a:lstStyle/>
          <a:p>
            <a:pPr marL="285750" indent="-285750">
              <a:buFont typeface="Wingdings" pitchFamily="2" charset="2"/>
              <a:buChar char="Ø"/>
            </a:pPr>
            <a:r>
              <a:rPr lang="en-US" sz="2400" dirty="0"/>
              <a:t>Concept of Logistic regression. </a:t>
            </a:r>
          </a:p>
          <a:p>
            <a:endParaRPr lang="en-IN" sz="2400" dirty="0"/>
          </a:p>
          <a:p>
            <a:pPr marL="285750" indent="-285750">
              <a:buFont typeface="Wingdings" pitchFamily="2" charset="2"/>
              <a:buChar char="Ø"/>
            </a:pPr>
            <a:r>
              <a:rPr lang="en-US" sz="2400" dirty="0"/>
              <a:t>Fit a binary logistic regression model using the </a:t>
            </a:r>
            <a:r>
              <a:rPr lang="en-US" sz="2400" b="1" i="1" dirty="0">
                <a:solidFill>
                  <a:srgbClr val="FFC000"/>
                </a:solidFill>
              </a:rPr>
              <a:t>PROC LOGISTIC</a:t>
            </a:r>
            <a:r>
              <a:rPr lang="en-US" sz="2400" dirty="0"/>
              <a:t> procedure.</a:t>
            </a:r>
          </a:p>
          <a:p>
            <a:pPr marL="285750" indent="-285750">
              <a:buFont typeface="Wingdings" pitchFamily="2" charset="2"/>
              <a:buChar char="Ø"/>
            </a:pPr>
            <a:endParaRPr lang="en-US" sz="2400" dirty="0">
              <a:effectLst/>
            </a:endParaRPr>
          </a:p>
          <a:p>
            <a:pPr marL="285750" indent="-285750">
              <a:buFont typeface="Wingdings" pitchFamily="2" charset="2"/>
              <a:buChar char="Ø"/>
            </a:pPr>
            <a:r>
              <a:rPr lang="en-US" sz="2400" dirty="0"/>
              <a:t>Analyze the standard output from the LOGISTIC procedure with one continuous predictor variable. </a:t>
            </a:r>
          </a:p>
          <a:p>
            <a:pPr marL="285750" indent="-285750">
              <a:buFont typeface="Wingdings" pitchFamily="2" charset="2"/>
              <a:buChar char="Ø"/>
            </a:pPr>
            <a:endParaRPr lang="en-US" sz="2400" dirty="0">
              <a:effectLst/>
            </a:endParaRPr>
          </a:p>
          <a:p>
            <a:pPr marL="285750" indent="-285750">
              <a:buFont typeface="Wingdings" pitchFamily="2" charset="2"/>
              <a:buChar char="Ø"/>
            </a:pPr>
            <a:r>
              <a:rPr lang="en-US" sz="2400" dirty="0"/>
              <a:t>Read and interpret odds ratio tables and plots.</a:t>
            </a:r>
            <a:endParaRPr lang="en-IN" sz="2400" dirty="0">
              <a:effectLst/>
            </a:endParaRPr>
          </a:p>
        </p:txBody>
      </p:sp>
    </p:spTree>
    <p:extLst>
      <p:ext uri="{BB962C8B-B14F-4D97-AF65-F5344CB8AC3E}">
        <p14:creationId xmlns:p14="http://schemas.microsoft.com/office/powerpoint/2010/main" val="267451221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solidFill>
                  <a:srgbClr val="FF0000"/>
                </a:solidFill>
              </a:rPr>
              <a:t>Logistic Regression</a:t>
            </a:r>
          </a:p>
        </p:txBody>
      </p:sp>
      <p:sp>
        <p:nvSpPr>
          <p:cNvPr id="3" name="Rectangle 2"/>
          <p:cNvSpPr/>
          <p:nvPr/>
        </p:nvSpPr>
        <p:spPr>
          <a:xfrm>
            <a:off x="8460231" y="2489663"/>
            <a:ext cx="184730" cy="923330"/>
          </a:xfrm>
          <a:prstGeom prst="rect">
            <a:avLst/>
          </a:prstGeom>
          <a:noFill/>
        </p:spPr>
        <p:txBody>
          <a:bodyPr wrap="none" lIns="91440" tIns="45720" rIns="91440" bIns="45720">
            <a:spAutoFit/>
          </a:bodyPr>
          <a:lstStyle/>
          <a:p>
            <a:pPr algn="ctr"/>
            <a:endParaRPr lang="en-US" sz="5400" b="0" cap="none" spc="0" dirty="0">
              <a:ln w="0"/>
              <a:solidFill>
                <a:schemeClr val="tx1"/>
              </a:solidFill>
              <a:effectLst>
                <a:outerShdw blurRad="38100" dist="19050" dir="2700000" algn="tl" rotWithShape="0">
                  <a:schemeClr val="dk1">
                    <a:alpha val="40000"/>
                  </a:schemeClr>
                </a:outerShdw>
              </a:effectLst>
            </a:endParaRPr>
          </a:p>
        </p:txBody>
      </p:sp>
      <p:pic>
        <p:nvPicPr>
          <p:cNvPr id="102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86266" y="1730326"/>
            <a:ext cx="9495692" cy="44594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20141382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solidFill>
                  <a:srgbClr val="FF0000"/>
                </a:solidFill>
              </a:rPr>
              <a:t>Logistic Regression</a:t>
            </a:r>
          </a:p>
        </p:txBody>
      </p:sp>
      <p:sp>
        <p:nvSpPr>
          <p:cNvPr id="2" name="Content Placeholder 1"/>
          <p:cNvSpPr>
            <a:spLocks noGrp="1"/>
          </p:cNvSpPr>
          <p:nvPr>
            <p:ph idx="1"/>
          </p:nvPr>
        </p:nvSpPr>
        <p:spPr/>
        <p:txBody>
          <a:bodyPr/>
          <a:lstStyle/>
          <a:p>
            <a:pPr>
              <a:buFont typeface="Wingdings" pitchFamily="2" charset="2"/>
              <a:buChar char="Ø"/>
            </a:pPr>
            <a:r>
              <a:rPr lang="en-US" sz="2400" i="1" dirty="0"/>
              <a:t>Regression Analysis</a:t>
            </a:r>
            <a:r>
              <a:rPr lang="en-US" sz="2400" dirty="0"/>
              <a:t> enables you to characterize the relationship between a response variable and one or more predictor variable. </a:t>
            </a:r>
          </a:p>
          <a:p>
            <a:pPr>
              <a:buFont typeface="Wingdings" pitchFamily="2" charset="2"/>
              <a:buChar char="Ø"/>
            </a:pPr>
            <a:endParaRPr lang="en-US" sz="2400" dirty="0"/>
          </a:p>
          <a:p>
            <a:pPr>
              <a:buFont typeface="Wingdings" pitchFamily="2" charset="2"/>
              <a:buChar char="Ø"/>
            </a:pPr>
            <a:r>
              <a:rPr lang="en-US" sz="2400" dirty="0"/>
              <a:t>In </a:t>
            </a:r>
            <a:r>
              <a:rPr lang="en-US" sz="2400" i="1" dirty="0"/>
              <a:t>Linear Regression</a:t>
            </a:r>
            <a:r>
              <a:rPr lang="en-US" sz="2400" dirty="0"/>
              <a:t>, the response variable is numeric. </a:t>
            </a:r>
          </a:p>
          <a:p>
            <a:pPr>
              <a:buFont typeface="Wingdings" pitchFamily="2" charset="2"/>
              <a:buChar char="Ø"/>
            </a:pPr>
            <a:endParaRPr lang="en-US" sz="2400" dirty="0"/>
          </a:p>
          <a:p>
            <a:pPr>
              <a:buFont typeface="Wingdings" pitchFamily="2" charset="2"/>
              <a:buChar char="Ø"/>
            </a:pPr>
            <a:r>
              <a:rPr lang="en-US" sz="2400" dirty="0"/>
              <a:t>In </a:t>
            </a:r>
            <a:r>
              <a:rPr lang="en-US" sz="2400" i="1" dirty="0"/>
              <a:t>Logistic regression</a:t>
            </a:r>
            <a:r>
              <a:rPr lang="en-US" sz="2400" dirty="0"/>
              <a:t>, the response variable is categorical. It is useful to model responses like “Yes” or “No”, “Died” or “Survived” and so on.</a:t>
            </a:r>
          </a:p>
          <a:p>
            <a:pPr marL="0" indent="0">
              <a:buNone/>
            </a:pPr>
            <a:endParaRPr lang="en-US" dirty="0"/>
          </a:p>
          <a:p>
            <a:pPr>
              <a:buFont typeface="Wingdings" pitchFamily="2" charset="2"/>
              <a:buChar char="Ø"/>
            </a:pPr>
            <a:endParaRPr lang="en-IN" dirty="0"/>
          </a:p>
        </p:txBody>
      </p:sp>
      <p:sp>
        <p:nvSpPr>
          <p:cNvPr id="3" name="Rectangle 2"/>
          <p:cNvSpPr/>
          <p:nvPr/>
        </p:nvSpPr>
        <p:spPr>
          <a:xfrm>
            <a:off x="8460231" y="2489663"/>
            <a:ext cx="184730" cy="923330"/>
          </a:xfrm>
          <a:prstGeom prst="rect">
            <a:avLst/>
          </a:prstGeom>
          <a:noFill/>
        </p:spPr>
        <p:txBody>
          <a:bodyPr wrap="none" lIns="91440" tIns="45720" rIns="91440" bIns="45720">
            <a:spAutoFit/>
          </a:bodyPr>
          <a:lstStyle/>
          <a:p>
            <a:pPr algn="ctr"/>
            <a:endParaRPr lang="en-US" sz="5400" b="0" cap="none" spc="0" dirty="0">
              <a:ln w="0"/>
              <a:solidFill>
                <a:schemeClr val="tx1"/>
              </a:solidFill>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374546390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solidFill>
                  <a:srgbClr val="FF0000"/>
                </a:solidFill>
              </a:rPr>
              <a:t>Logistic Regression</a:t>
            </a:r>
          </a:p>
        </p:txBody>
      </p:sp>
      <p:sp>
        <p:nvSpPr>
          <p:cNvPr id="3" name="Rectangle 2"/>
          <p:cNvSpPr/>
          <p:nvPr/>
        </p:nvSpPr>
        <p:spPr>
          <a:xfrm>
            <a:off x="8460231" y="2489663"/>
            <a:ext cx="184730" cy="923330"/>
          </a:xfrm>
          <a:prstGeom prst="rect">
            <a:avLst/>
          </a:prstGeom>
          <a:noFill/>
        </p:spPr>
        <p:txBody>
          <a:bodyPr wrap="none" lIns="91440" tIns="45720" rIns="91440" bIns="45720">
            <a:spAutoFit/>
          </a:bodyPr>
          <a:lstStyle/>
          <a:p>
            <a:pPr algn="ctr"/>
            <a:endParaRPr lang="en-US" sz="5400" b="0" cap="none" spc="0" dirty="0">
              <a:ln w="0"/>
              <a:solidFill>
                <a:schemeClr val="tx1"/>
              </a:solidFill>
              <a:effectLst>
                <a:outerShdw blurRad="38100" dist="19050" dir="2700000" algn="tl" rotWithShape="0">
                  <a:schemeClr val="dk1">
                    <a:alpha val="40000"/>
                  </a:schemeClr>
                </a:outerShdw>
              </a:effectLst>
            </a:endParaRP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00052" y="1662624"/>
            <a:ext cx="9930545" cy="4906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53479922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solidFill>
                  <a:srgbClr val="FF0000"/>
                </a:solidFill>
              </a:rPr>
              <a:t>Logistic Regression</a:t>
            </a:r>
          </a:p>
        </p:txBody>
      </p:sp>
      <p:sp>
        <p:nvSpPr>
          <p:cNvPr id="2" name="Content Placeholder 1"/>
          <p:cNvSpPr>
            <a:spLocks noGrp="1"/>
          </p:cNvSpPr>
          <p:nvPr>
            <p:ph idx="1"/>
          </p:nvPr>
        </p:nvSpPr>
        <p:spPr/>
        <p:txBody>
          <a:bodyPr>
            <a:normAutofit fontScale="92500" lnSpcReduction="10000"/>
          </a:bodyPr>
          <a:lstStyle/>
          <a:p>
            <a:r>
              <a:rPr lang="en-US" dirty="0"/>
              <a:t>If the response variable is </a:t>
            </a:r>
            <a:r>
              <a:rPr lang="en-US" i="1" dirty="0">
                <a:solidFill>
                  <a:srgbClr val="FFC000"/>
                </a:solidFill>
              </a:rPr>
              <a:t>dichotomous (two categories), </a:t>
            </a:r>
            <a:r>
              <a:rPr lang="en-US" dirty="0"/>
              <a:t>the appropriate logistic regression model is binary logistic regression. </a:t>
            </a:r>
          </a:p>
          <a:p>
            <a:endParaRPr lang="en-US" dirty="0"/>
          </a:p>
          <a:p>
            <a:r>
              <a:rPr lang="en-US" dirty="0"/>
              <a:t>For </a:t>
            </a:r>
            <a:r>
              <a:rPr lang="en-US" i="1" dirty="0">
                <a:solidFill>
                  <a:srgbClr val="FFC000"/>
                </a:solidFill>
              </a:rPr>
              <a:t>more than two categories (levels) </a:t>
            </a:r>
            <a:r>
              <a:rPr lang="en-US" dirty="0"/>
              <a:t>within the response variable, then there are two possible logistic regression models:</a:t>
            </a:r>
          </a:p>
          <a:p>
            <a:pPr marL="0" indent="0">
              <a:buNone/>
            </a:pPr>
            <a:endParaRPr lang="en-US" dirty="0"/>
          </a:p>
          <a:p>
            <a:pPr marL="0" indent="0">
              <a:buNone/>
            </a:pPr>
            <a:r>
              <a:rPr lang="en-US" dirty="0"/>
              <a:t>1. If the response variable is </a:t>
            </a:r>
            <a:r>
              <a:rPr lang="en-US" i="1" dirty="0">
                <a:solidFill>
                  <a:srgbClr val="FFC000"/>
                </a:solidFill>
              </a:rPr>
              <a:t>nominal</a:t>
            </a:r>
            <a:r>
              <a:rPr lang="en-US" dirty="0"/>
              <a:t>, you fit the nominal logistic regression model.</a:t>
            </a:r>
          </a:p>
          <a:p>
            <a:pPr marL="0" indent="0">
              <a:buNone/>
            </a:pPr>
            <a:endParaRPr lang="en-US" dirty="0"/>
          </a:p>
          <a:p>
            <a:pPr marL="0" indent="0">
              <a:buNone/>
            </a:pPr>
            <a:r>
              <a:rPr lang="en-US" dirty="0"/>
              <a:t>2. If the response variable is </a:t>
            </a:r>
            <a:r>
              <a:rPr lang="en-US" i="1" dirty="0">
                <a:solidFill>
                  <a:srgbClr val="FFC000"/>
                </a:solidFill>
              </a:rPr>
              <a:t>ordinal</a:t>
            </a:r>
            <a:r>
              <a:rPr lang="en-US" dirty="0"/>
              <a:t>, you fit the ordinal logistic regression model.  </a:t>
            </a:r>
            <a:endParaRPr lang="en-IN" dirty="0"/>
          </a:p>
        </p:txBody>
      </p:sp>
      <p:sp>
        <p:nvSpPr>
          <p:cNvPr id="3" name="Rectangle 2"/>
          <p:cNvSpPr/>
          <p:nvPr/>
        </p:nvSpPr>
        <p:spPr>
          <a:xfrm>
            <a:off x="8460231" y="2489663"/>
            <a:ext cx="184730" cy="923330"/>
          </a:xfrm>
          <a:prstGeom prst="rect">
            <a:avLst/>
          </a:prstGeom>
          <a:noFill/>
        </p:spPr>
        <p:txBody>
          <a:bodyPr wrap="none" lIns="91440" tIns="45720" rIns="91440" bIns="45720">
            <a:spAutoFit/>
          </a:bodyPr>
          <a:lstStyle/>
          <a:p>
            <a:pPr algn="ctr"/>
            <a:endParaRPr lang="en-US" sz="5400" b="0" cap="none" spc="0" dirty="0">
              <a:ln w="0"/>
              <a:solidFill>
                <a:schemeClr val="tx1"/>
              </a:solidFill>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110850694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solidFill>
                  <a:srgbClr val="FF0000"/>
                </a:solidFill>
              </a:rPr>
              <a:t>Logistic Regression</a:t>
            </a:r>
          </a:p>
        </p:txBody>
      </p:sp>
      <p:sp>
        <p:nvSpPr>
          <p:cNvPr id="2" name="Content Placeholder 1"/>
          <p:cNvSpPr>
            <a:spLocks noGrp="1"/>
          </p:cNvSpPr>
          <p:nvPr>
            <p:ph idx="1"/>
          </p:nvPr>
        </p:nvSpPr>
        <p:spPr/>
        <p:txBody>
          <a:bodyPr>
            <a:normAutofit lnSpcReduction="10000"/>
          </a:bodyPr>
          <a:lstStyle/>
          <a:p>
            <a:r>
              <a:rPr lang="en-US" dirty="0"/>
              <a:t>You might be tempted to analyze a regression model with binary response variable using </a:t>
            </a:r>
            <a:r>
              <a:rPr lang="en-US" b="1" i="1" dirty="0"/>
              <a:t>PROC REG</a:t>
            </a:r>
            <a:r>
              <a:rPr lang="en-US" dirty="0"/>
              <a:t>. However, there is problem in that.</a:t>
            </a:r>
          </a:p>
          <a:p>
            <a:pPr marL="0" indent="0">
              <a:buNone/>
            </a:pPr>
            <a:endParaRPr lang="en-US" dirty="0"/>
          </a:p>
          <a:p>
            <a:r>
              <a:rPr lang="en-US" dirty="0"/>
              <a:t>Besides the arbitrary nature of coding, there is the problem that predicted values will take on values that have no intrinsic meaning with regard to response variable. </a:t>
            </a:r>
          </a:p>
          <a:p>
            <a:pPr marL="0" indent="0">
              <a:buNone/>
            </a:pPr>
            <a:endParaRPr lang="en-US" dirty="0"/>
          </a:p>
          <a:p>
            <a:r>
              <a:rPr lang="en-US" dirty="0"/>
              <a:t>There is also the mathematical inconvenience of not able to being assume the normality and constant variance when the response variable has only two values.  </a:t>
            </a:r>
          </a:p>
          <a:p>
            <a:endParaRPr lang="en-IN" dirty="0"/>
          </a:p>
        </p:txBody>
      </p:sp>
      <p:sp>
        <p:nvSpPr>
          <p:cNvPr id="3" name="Rectangle 2"/>
          <p:cNvSpPr/>
          <p:nvPr/>
        </p:nvSpPr>
        <p:spPr>
          <a:xfrm>
            <a:off x="8460231" y="2489663"/>
            <a:ext cx="184730" cy="923330"/>
          </a:xfrm>
          <a:prstGeom prst="rect">
            <a:avLst/>
          </a:prstGeom>
          <a:noFill/>
        </p:spPr>
        <p:txBody>
          <a:bodyPr wrap="none" lIns="91440" tIns="45720" rIns="91440" bIns="45720">
            <a:spAutoFit/>
          </a:bodyPr>
          <a:lstStyle/>
          <a:p>
            <a:pPr algn="ctr"/>
            <a:endParaRPr lang="en-US" sz="5400" b="0" cap="none" spc="0" dirty="0">
              <a:ln w="0"/>
              <a:solidFill>
                <a:schemeClr val="tx1"/>
              </a:solidFill>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397428785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solidFill>
                  <a:srgbClr val="FF0000"/>
                </a:solidFill>
              </a:rPr>
              <a:t>Logistic Regression</a:t>
            </a:r>
          </a:p>
        </p:txBody>
      </p:sp>
      <p:sp>
        <p:nvSpPr>
          <p:cNvPr id="3" name="Rectangle 2"/>
          <p:cNvSpPr/>
          <p:nvPr/>
        </p:nvSpPr>
        <p:spPr>
          <a:xfrm>
            <a:off x="8460231" y="2489663"/>
            <a:ext cx="184730" cy="923330"/>
          </a:xfrm>
          <a:prstGeom prst="rect">
            <a:avLst/>
          </a:prstGeom>
          <a:noFill/>
        </p:spPr>
        <p:txBody>
          <a:bodyPr wrap="none" lIns="91440" tIns="45720" rIns="91440" bIns="45720">
            <a:spAutoFit/>
          </a:bodyPr>
          <a:lstStyle/>
          <a:p>
            <a:pPr algn="ctr"/>
            <a:endParaRPr lang="en-US" sz="5400" b="0" cap="none" spc="0" dirty="0">
              <a:ln w="0"/>
              <a:solidFill>
                <a:schemeClr val="tx1"/>
              </a:solidFill>
              <a:effectLst>
                <a:outerShdw blurRad="38100" dist="19050" dir="2700000" algn="tl" rotWithShape="0">
                  <a:schemeClr val="dk1">
                    <a:alpha val="40000"/>
                  </a:schemeClr>
                </a:outerShdw>
              </a:effectLst>
            </a:endParaRPr>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69498" y="1662258"/>
            <a:ext cx="10917702" cy="47385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05013164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solidFill>
                  <a:srgbClr val="FF0000"/>
                </a:solidFill>
              </a:rPr>
              <a:t>Logistic Regression</a:t>
            </a:r>
          </a:p>
        </p:txBody>
      </p:sp>
      <p:sp>
        <p:nvSpPr>
          <p:cNvPr id="2" name="Content Placeholder 1"/>
          <p:cNvSpPr>
            <a:spLocks noGrp="1"/>
          </p:cNvSpPr>
          <p:nvPr>
            <p:ph idx="1"/>
          </p:nvPr>
        </p:nvSpPr>
        <p:spPr/>
        <p:txBody>
          <a:bodyPr/>
          <a:lstStyle/>
          <a:p>
            <a:r>
              <a:rPr lang="en-US" dirty="0"/>
              <a:t>Instead of modeling the zeros and ones directly, another way of thinking about modeling a binary variable is to model the probability of either zeros and ones.</a:t>
            </a:r>
          </a:p>
          <a:p>
            <a:endParaRPr lang="en-US" dirty="0"/>
          </a:p>
          <a:p>
            <a:r>
              <a:rPr lang="en-US" dirty="0"/>
              <a:t>It can be done by using </a:t>
            </a:r>
            <a:r>
              <a:rPr lang="en-US" b="1" i="1" dirty="0">
                <a:solidFill>
                  <a:srgbClr val="FFC000"/>
                </a:solidFill>
              </a:rPr>
              <a:t>Linear Probability Model (LPM).</a:t>
            </a:r>
          </a:p>
          <a:p>
            <a:endParaRPr lang="en-US" dirty="0"/>
          </a:p>
          <a:p>
            <a:r>
              <a:rPr lang="en-US" dirty="0"/>
              <a:t> If you can model the probability of one (</a:t>
            </a:r>
            <a:r>
              <a:rPr lang="en-US" i="1" dirty="0"/>
              <a:t>p</a:t>
            </a:r>
            <a:r>
              <a:rPr lang="en-US" dirty="0"/>
              <a:t>), you can also model the probability of zeros (1-</a:t>
            </a:r>
            <a:r>
              <a:rPr lang="en-US" i="1" dirty="0"/>
              <a:t>p</a:t>
            </a:r>
            <a:r>
              <a:rPr lang="en-US" dirty="0"/>
              <a:t>).</a:t>
            </a:r>
          </a:p>
        </p:txBody>
      </p:sp>
      <p:sp>
        <p:nvSpPr>
          <p:cNvPr id="3" name="Rectangle 2"/>
          <p:cNvSpPr/>
          <p:nvPr/>
        </p:nvSpPr>
        <p:spPr>
          <a:xfrm>
            <a:off x="8460231" y="2489663"/>
            <a:ext cx="184730" cy="923330"/>
          </a:xfrm>
          <a:prstGeom prst="rect">
            <a:avLst/>
          </a:prstGeom>
          <a:noFill/>
        </p:spPr>
        <p:txBody>
          <a:bodyPr wrap="none" lIns="91440" tIns="45720" rIns="91440" bIns="45720">
            <a:spAutoFit/>
          </a:bodyPr>
          <a:lstStyle/>
          <a:p>
            <a:pPr algn="ctr"/>
            <a:endParaRPr lang="en-US" sz="5400" b="0" cap="none" spc="0" dirty="0">
              <a:ln w="0"/>
              <a:solidFill>
                <a:schemeClr val="tx1"/>
              </a:solidFill>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1147579752"/>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solidFill>
                  <a:srgbClr val="FF0000"/>
                </a:solidFill>
              </a:rPr>
              <a:t>Logistic Regression</a:t>
            </a:r>
          </a:p>
        </p:txBody>
      </p:sp>
      <p:sp>
        <p:nvSpPr>
          <p:cNvPr id="2" name="Content Placeholder 1"/>
          <p:cNvSpPr>
            <a:spLocks noGrp="1"/>
          </p:cNvSpPr>
          <p:nvPr>
            <p:ph idx="1"/>
          </p:nvPr>
        </p:nvSpPr>
        <p:spPr/>
        <p:txBody>
          <a:bodyPr/>
          <a:lstStyle/>
          <a:p>
            <a:r>
              <a:rPr lang="en-US" dirty="0"/>
              <a:t>One problem is that the predicted values from linear model can assume, theoretically, any values. However, probabilities are by definition bounded between 0 to 1. </a:t>
            </a:r>
          </a:p>
          <a:p>
            <a:pPr marL="0" indent="0">
              <a:buNone/>
            </a:pPr>
            <a:endParaRPr lang="en-US" dirty="0"/>
          </a:p>
          <a:p>
            <a:r>
              <a:rPr lang="en-US" dirty="0"/>
              <a:t>Another problem is that the relationship between probability of outcome and predictor variable is nonlinear rather than linear. </a:t>
            </a:r>
          </a:p>
          <a:p>
            <a:pPr marL="0" indent="0">
              <a:buNone/>
            </a:pPr>
            <a:endParaRPr lang="en-US" dirty="0"/>
          </a:p>
          <a:p>
            <a:r>
              <a:rPr lang="en-US" dirty="0"/>
              <a:t>Probabilities do not have random normal error associated with them, but rather a binomial error of </a:t>
            </a:r>
            <a:r>
              <a:rPr lang="en-US" i="1" dirty="0"/>
              <a:t>p</a:t>
            </a:r>
            <a:r>
              <a:rPr lang="en-US" dirty="0"/>
              <a:t>*(1-</a:t>
            </a:r>
            <a:r>
              <a:rPr lang="en-US" i="1" dirty="0"/>
              <a:t>p</a:t>
            </a:r>
            <a:r>
              <a:rPr lang="en-US" dirty="0"/>
              <a:t>). </a:t>
            </a:r>
          </a:p>
        </p:txBody>
      </p:sp>
      <p:sp>
        <p:nvSpPr>
          <p:cNvPr id="3" name="Rectangle 2"/>
          <p:cNvSpPr/>
          <p:nvPr/>
        </p:nvSpPr>
        <p:spPr>
          <a:xfrm>
            <a:off x="8460231" y="2489663"/>
            <a:ext cx="184730" cy="923330"/>
          </a:xfrm>
          <a:prstGeom prst="rect">
            <a:avLst/>
          </a:prstGeom>
          <a:noFill/>
        </p:spPr>
        <p:txBody>
          <a:bodyPr wrap="none" lIns="91440" tIns="45720" rIns="91440" bIns="45720">
            <a:spAutoFit/>
          </a:bodyPr>
          <a:lstStyle/>
          <a:p>
            <a:pPr algn="ctr"/>
            <a:endParaRPr lang="en-US" sz="5400" b="0" cap="none" spc="0" dirty="0">
              <a:ln w="0"/>
              <a:solidFill>
                <a:schemeClr val="tx1"/>
              </a:solidFill>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396086234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solidFill>
                  <a:srgbClr val="FF0000"/>
                </a:solidFill>
              </a:rPr>
              <a:t>Logistic Regression</a:t>
            </a:r>
          </a:p>
        </p:txBody>
      </p:sp>
      <p:sp>
        <p:nvSpPr>
          <p:cNvPr id="2" name="Content Placeholder 1"/>
          <p:cNvSpPr>
            <a:spLocks noGrp="1"/>
          </p:cNvSpPr>
          <p:nvPr>
            <p:ph idx="1"/>
          </p:nvPr>
        </p:nvSpPr>
        <p:spPr/>
        <p:txBody>
          <a:bodyPr/>
          <a:lstStyle/>
          <a:p>
            <a:r>
              <a:rPr lang="en-US" dirty="0"/>
              <a:t>Finally, there is no such thing as an “observed probability” and therefore least methods cannot be used. </a:t>
            </a:r>
          </a:p>
          <a:p>
            <a:endParaRPr lang="en-US" dirty="0"/>
          </a:p>
          <a:p>
            <a:r>
              <a:rPr lang="en-US" dirty="0"/>
              <a:t>The response variable is always either 0 or 1 and therefore the probability of event is either 0% or 100%. </a:t>
            </a:r>
          </a:p>
          <a:p>
            <a:endParaRPr lang="en-US" dirty="0"/>
          </a:p>
          <a:p>
            <a:r>
              <a:rPr lang="en-US" dirty="0"/>
              <a:t>Because of above reason, why it is untenable to assume a </a:t>
            </a:r>
            <a:r>
              <a:rPr lang="en-US" b="1" i="1" dirty="0">
                <a:solidFill>
                  <a:srgbClr val="FFC000"/>
                </a:solidFill>
              </a:rPr>
              <a:t>normal distribution of error</a:t>
            </a:r>
            <a:r>
              <a:rPr lang="en-US" dirty="0"/>
              <a:t>.  </a:t>
            </a:r>
          </a:p>
        </p:txBody>
      </p:sp>
      <p:sp>
        <p:nvSpPr>
          <p:cNvPr id="3" name="Rectangle 2"/>
          <p:cNvSpPr/>
          <p:nvPr/>
        </p:nvSpPr>
        <p:spPr>
          <a:xfrm>
            <a:off x="8460231" y="2489663"/>
            <a:ext cx="184730" cy="923330"/>
          </a:xfrm>
          <a:prstGeom prst="rect">
            <a:avLst/>
          </a:prstGeom>
          <a:noFill/>
        </p:spPr>
        <p:txBody>
          <a:bodyPr wrap="none" lIns="91440" tIns="45720" rIns="91440" bIns="45720">
            <a:spAutoFit/>
          </a:bodyPr>
          <a:lstStyle/>
          <a:p>
            <a:pPr algn="ctr"/>
            <a:endParaRPr lang="en-US" sz="5400" b="0" cap="none" spc="0" dirty="0">
              <a:ln w="0"/>
              <a:solidFill>
                <a:schemeClr val="tx1"/>
              </a:solidFill>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3926645383"/>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solidFill>
                  <a:srgbClr val="FF0000"/>
                </a:solidFill>
              </a:rPr>
              <a:t>Logistic Regression</a:t>
            </a:r>
          </a:p>
        </p:txBody>
      </p:sp>
      <p:sp>
        <p:nvSpPr>
          <p:cNvPr id="3" name="Rectangle 2"/>
          <p:cNvSpPr/>
          <p:nvPr/>
        </p:nvSpPr>
        <p:spPr>
          <a:xfrm>
            <a:off x="8460231" y="2489663"/>
            <a:ext cx="184730" cy="923330"/>
          </a:xfrm>
          <a:prstGeom prst="rect">
            <a:avLst/>
          </a:prstGeom>
          <a:noFill/>
        </p:spPr>
        <p:txBody>
          <a:bodyPr wrap="none" lIns="91440" tIns="45720" rIns="91440" bIns="45720">
            <a:spAutoFit/>
          </a:bodyPr>
          <a:lstStyle/>
          <a:p>
            <a:pPr algn="ctr"/>
            <a:endParaRPr lang="en-US" sz="5400" b="0" cap="none" spc="0" dirty="0">
              <a:ln w="0"/>
              <a:solidFill>
                <a:schemeClr val="tx1"/>
              </a:solidFill>
              <a:effectLst>
                <a:outerShdw blurRad="38100" dist="19050" dir="2700000" algn="tl" rotWithShape="0">
                  <a:schemeClr val="dk1">
                    <a:alpha val="40000"/>
                  </a:schemeClr>
                </a:outerShdw>
              </a:effectLst>
            </a:endParaRPr>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9968" y="1653174"/>
            <a:ext cx="10601472" cy="48320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70797294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solidFill>
                  <a:srgbClr val="FF0000"/>
                </a:solidFill>
              </a:rPr>
              <a:t>Logistic Regression</a:t>
            </a:r>
          </a:p>
        </p:txBody>
      </p:sp>
      <p:sp>
        <p:nvSpPr>
          <p:cNvPr id="3" name="Rectangle 2"/>
          <p:cNvSpPr/>
          <p:nvPr/>
        </p:nvSpPr>
        <p:spPr>
          <a:xfrm>
            <a:off x="8460231" y="2489663"/>
            <a:ext cx="184730" cy="923330"/>
          </a:xfrm>
          <a:prstGeom prst="rect">
            <a:avLst/>
          </a:prstGeom>
          <a:noFill/>
        </p:spPr>
        <p:txBody>
          <a:bodyPr wrap="none" lIns="91440" tIns="45720" rIns="91440" bIns="45720">
            <a:spAutoFit/>
          </a:bodyPr>
          <a:lstStyle/>
          <a:p>
            <a:pPr algn="ctr"/>
            <a:endParaRPr lang="en-US" sz="5400" b="0" cap="none" spc="0" dirty="0">
              <a:ln w="0"/>
              <a:solidFill>
                <a:schemeClr val="tx1"/>
              </a:solidFill>
              <a:effectLst>
                <a:outerShdw blurRad="38100" dist="19050" dir="2700000" algn="tl" rotWithShape="0">
                  <a:schemeClr val="dk1">
                    <a:alpha val="40000"/>
                  </a:schemeClr>
                </a:outerShdw>
              </a:effectLst>
            </a:endParaRPr>
          </a:p>
        </p:txBody>
      </p:sp>
      <p:pic>
        <p:nvPicPr>
          <p:cNvPr id="2" name="Picture 1"/>
          <p:cNvPicPr>
            <a:picLocks noChangeAspect="1"/>
          </p:cNvPicPr>
          <p:nvPr/>
        </p:nvPicPr>
        <p:blipFill>
          <a:blip r:embed="rId2"/>
          <a:stretch>
            <a:fillRect/>
          </a:stretch>
        </p:blipFill>
        <p:spPr>
          <a:xfrm>
            <a:off x="838201" y="1690688"/>
            <a:ext cx="4416188" cy="3167915"/>
          </a:xfrm>
          <a:prstGeom prst="rect">
            <a:avLst/>
          </a:prstGeom>
        </p:spPr>
      </p:pic>
      <p:sp>
        <p:nvSpPr>
          <p:cNvPr id="5" name="Rectangle 4"/>
          <p:cNvSpPr/>
          <p:nvPr/>
        </p:nvSpPr>
        <p:spPr>
          <a:xfrm>
            <a:off x="5750257" y="2034959"/>
            <a:ext cx="6096000" cy="2269467"/>
          </a:xfrm>
          <a:prstGeom prst="rect">
            <a:avLst/>
          </a:prstGeom>
        </p:spPr>
        <p:txBody>
          <a:bodyPr>
            <a:spAutoFit/>
          </a:bodyPr>
          <a:lstStyle/>
          <a:p>
            <a:pPr>
              <a:lnSpc>
                <a:spcPct val="107000"/>
              </a:lnSpc>
              <a:spcAft>
                <a:spcPts val="800"/>
              </a:spcAft>
            </a:pPr>
            <a:r>
              <a:rPr lang="en-US" dirty="0">
                <a:latin typeface="Calibri" panose="020F0502020204030204" pitchFamily="34" charset="0"/>
                <a:ea typeface="Calibri" panose="020F0502020204030204" pitchFamily="34" charset="0"/>
                <a:cs typeface="Times New Roman" panose="02020603050405020304" pitchFamily="18" charset="0"/>
              </a:rPr>
              <a:t>This plot shows a model of relationship between a continuous predictor and probability of an event or outcome. The linear model clearly does not fit if this is the true relationship between X and probability. </a:t>
            </a:r>
          </a:p>
          <a:p>
            <a:pPr>
              <a:lnSpc>
                <a:spcPct val="107000"/>
              </a:lnSpc>
              <a:spcAft>
                <a:spcPts val="800"/>
              </a:spcAft>
            </a:pPr>
            <a:r>
              <a:rPr lang="en-US" dirty="0">
                <a:latin typeface="Calibri" panose="020F0502020204030204" pitchFamily="34" charset="0"/>
                <a:ea typeface="Calibri" panose="020F0502020204030204" pitchFamily="34" charset="0"/>
                <a:cs typeface="Times New Roman" panose="02020603050405020304" pitchFamily="18" charset="0"/>
              </a:rPr>
              <a:t>In order to model this relationship directly, you must use the nonlinear function. One such function is displayed. The S-shape of the function is known as </a:t>
            </a:r>
            <a:r>
              <a:rPr lang="en-US" b="1" i="1" dirty="0">
                <a:latin typeface="Calibri" panose="020F0502020204030204" pitchFamily="34" charset="0"/>
                <a:ea typeface="Calibri" panose="020F0502020204030204" pitchFamily="34" charset="0"/>
                <a:cs typeface="Times New Roman" panose="02020603050405020304" pitchFamily="18" charset="0"/>
              </a:rPr>
              <a:t>sigmoid</a:t>
            </a:r>
            <a:r>
              <a:rPr lang="en-US" dirty="0">
                <a:latin typeface="Calibri" panose="020F0502020204030204" pitchFamily="34" charset="0"/>
                <a:ea typeface="Calibri" panose="020F0502020204030204" pitchFamily="34" charset="0"/>
                <a:cs typeface="Times New Roman" panose="02020603050405020304" pitchFamily="18" charset="0"/>
              </a:rPr>
              <a:t>. </a:t>
            </a:r>
            <a:endParaRPr lang="en-US"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9" name="Picture 8"/>
          <p:cNvPicPr>
            <a:picLocks noChangeAspect="1"/>
          </p:cNvPicPr>
          <p:nvPr/>
        </p:nvPicPr>
        <p:blipFill>
          <a:blip r:embed="rId3"/>
          <a:stretch>
            <a:fillRect/>
          </a:stretch>
        </p:blipFill>
        <p:spPr>
          <a:xfrm>
            <a:off x="838200" y="4995082"/>
            <a:ext cx="10515600" cy="1692322"/>
          </a:xfrm>
          <a:prstGeom prst="rect">
            <a:avLst/>
          </a:prstGeom>
        </p:spPr>
      </p:pic>
    </p:spTree>
    <p:extLst>
      <p:ext uri="{BB962C8B-B14F-4D97-AF65-F5344CB8AC3E}">
        <p14:creationId xmlns:p14="http://schemas.microsoft.com/office/powerpoint/2010/main" val="655922710"/>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solidFill>
                  <a:srgbClr val="FF0000"/>
                </a:solidFill>
              </a:rPr>
              <a:t>Logistic Regression</a:t>
            </a:r>
          </a:p>
        </p:txBody>
      </p:sp>
      <p:sp>
        <p:nvSpPr>
          <p:cNvPr id="3" name="Rectangle 2"/>
          <p:cNvSpPr/>
          <p:nvPr/>
        </p:nvSpPr>
        <p:spPr>
          <a:xfrm>
            <a:off x="8460231" y="2489663"/>
            <a:ext cx="184730" cy="923330"/>
          </a:xfrm>
          <a:prstGeom prst="rect">
            <a:avLst/>
          </a:prstGeom>
          <a:noFill/>
        </p:spPr>
        <p:txBody>
          <a:bodyPr wrap="none" lIns="91440" tIns="45720" rIns="91440" bIns="45720">
            <a:spAutoFit/>
          </a:bodyPr>
          <a:lstStyle/>
          <a:p>
            <a:pPr algn="ctr"/>
            <a:endParaRPr lang="en-US" sz="5400" b="0" cap="none" spc="0" dirty="0">
              <a:ln w="0"/>
              <a:solidFill>
                <a:schemeClr val="tx1"/>
              </a:solidFill>
              <a:effectLst>
                <a:outerShdw blurRad="38100" dist="19050" dir="2700000" algn="tl" rotWithShape="0">
                  <a:schemeClr val="dk1">
                    <a:alpha val="40000"/>
                  </a:schemeClr>
                </a:outerShdw>
              </a:effectLst>
            </a:endParaRPr>
          </a:p>
        </p:txBody>
      </p:sp>
      <p:pic>
        <p:nvPicPr>
          <p:cNvPr id="6" name="Picture 5"/>
          <p:cNvPicPr>
            <a:picLocks noChangeAspect="1"/>
          </p:cNvPicPr>
          <p:nvPr/>
        </p:nvPicPr>
        <p:blipFill>
          <a:blip r:embed="rId2"/>
          <a:stretch>
            <a:fillRect/>
          </a:stretch>
        </p:blipFill>
        <p:spPr>
          <a:xfrm>
            <a:off x="838200" y="1690688"/>
            <a:ext cx="8797119" cy="4983067"/>
          </a:xfrm>
          <a:prstGeom prst="rect">
            <a:avLst/>
          </a:prstGeom>
        </p:spPr>
      </p:pic>
    </p:spTree>
    <p:extLst>
      <p:ext uri="{BB962C8B-B14F-4D97-AF65-F5344CB8AC3E}">
        <p14:creationId xmlns:p14="http://schemas.microsoft.com/office/powerpoint/2010/main" val="3659105616"/>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solidFill>
                  <a:srgbClr val="FF0000"/>
                </a:solidFill>
              </a:rPr>
              <a:t>Logistic Regression</a:t>
            </a:r>
          </a:p>
        </p:txBody>
      </p:sp>
      <p:sp>
        <p:nvSpPr>
          <p:cNvPr id="3" name="Rectangle 2"/>
          <p:cNvSpPr/>
          <p:nvPr/>
        </p:nvSpPr>
        <p:spPr>
          <a:xfrm>
            <a:off x="8460231" y="2489663"/>
            <a:ext cx="184730" cy="923330"/>
          </a:xfrm>
          <a:prstGeom prst="rect">
            <a:avLst/>
          </a:prstGeom>
          <a:noFill/>
        </p:spPr>
        <p:txBody>
          <a:bodyPr wrap="none" lIns="91440" tIns="45720" rIns="91440" bIns="45720">
            <a:spAutoFit/>
          </a:bodyPr>
          <a:lstStyle/>
          <a:p>
            <a:pPr algn="ctr"/>
            <a:endParaRPr lang="en-US" sz="5400" b="0" cap="none" spc="0" dirty="0">
              <a:ln w="0"/>
              <a:solidFill>
                <a:schemeClr val="tx1"/>
              </a:solidFill>
              <a:effectLst>
                <a:outerShdw blurRad="38100" dist="19050" dir="2700000" algn="tl" rotWithShape="0">
                  <a:schemeClr val="dk1">
                    <a:alpha val="40000"/>
                  </a:schemeClr>
                </a:outerShdw>
              </a:effectLst>
            </a:endParaRPr>
          </a:p>
        </p:txBody>
      </p:sp>
      <p:sp>
        <p:nvSpPr>
          <p:cNvPr id="2" name="Rectangle 1"/>
          <p:cNvSpPr/>
          <p:nvPr/>
        </p:nvSpPr>
        <p:spPr>
          <a:xfrm>
            <a:off x="838200" y="1690688"/>
            <a:ext cx="10515600" cy="4454553"/>
          </a:xfrm>
          <a:prstGeom prst="rect">
            <a:avLst/>
          </a:prstGeom>
        </p:spPr>
        <p:txBody>
          <a:bodyPr wrap="square">
            <a:spAutoFit/>
          </a:bodyPr>
          <a:lstStyle/>
          <a:p>
            <a:pPr marL="342900" indent="-342900">
              <a:lnSpc>
                <a:spcPct val="107000"/>
              </a:lnSpc>
              <a:spcAft>
                <a:spcPts val="800"/>
              </a:spcAft>
              <a:buFont typeface="Wingdings" panose="05000000000000000000" pitchFamily="2" charset="2"/>
              <a:buChar char="Ø"/>
            </a:pPr>
            <a:r>
              <a:rPr lang="en-US" sz="2000" dirty="0">
                <a:latin typeface="Calibri" panose="020F0502020204030204" pitchFamily="34" charset="0"/>
                <a:ea typeface="Calibri" panose="020F0502020204030204" pitchFamily="34" charset="0"/>
                <a:cs typeface="Times New Roman" panose="02020603050405020304" pitchFamily="18" charset="0"/>
              </a:rPr>
              <a:t>A logistic regression model applies a logit transformation to the probabilities. Two of the problems that we saw with modeling the probability directly were that probabilities were bounded between 0 and 1, and that there was not likely a straight line relationship between predictors and probabilities. </a:t>
            </a:r>
          </a:p>
          <a:p>
            <a:pPr>
              <a:lnSpc>
                <a:spcPct val="107000"/>
              </a:lnSpc>
              <a:spcAft>
                <a:spcPts val="800"/>
              </a:spcAft>
            </a:pPr>
            <a:endParaRPr lang="en-US" sz="2000" dirty="0">
              <a:latin typeface="Calibri" panose="020F0502020204030204" pitchFamily="34" charset="0"/>
              <a:ea typeface="Calibri" panose="020F0502020204030204" pitchFamily="34" charset="0"/>
              <a:cs typeface="Times New Roman" panose="02020603050405020304" pitchFamily="18" charset="0"/>
            </a:endParaRPr>
          </a:p>
          <a:p>
            <a:pPr marL="342900" indent="-342900">
              <a:lnSpc>
                <a:spcPct val="107000"/>
              </a:lnSpc>
              <a:spcAft>
                <a:spcPts val="800"/>
              </a:spcAft>
              <a:buFont typeface="Wingdings" panose="05000000000000000000" pitchFamily="2" charset="2"/>
              <a:buChar char="Ø"/>
            </a:pPr>
            <a:r>
              <a:rPr lang="en-US" sz="2000" dirty="0">
                <a:latin typeface="Calibri" panose="020F0502020204030204" pitchFamily="34" charset="0"/>
                <a:ea typeface="Calibri" panose="020F0502020204030204" pitchFamily="34" charset="0"/>
                <a:cs typeface="Times New Roman" panose="02020603050405020304" pitchFamily="18" charset="0"/>
              </a:rPr>
              <a:t>First deal with the restricted range of probability. What about a range of a logit? As </a:t>
            </a:r>
            <a:r>
              <a:rPr lang="en-US" sz="2000" i="1" dirty="0">
                <a:latin typeface="Calibri" panose="020F0502020204030204" pitchFamily="34" charset="0"/>
                <a:ea typeface="Calibri" panose="020F0502020204030204" pitchFamily="34" charset="0"/>
                <a:cs typeface="Times New Roman" panose="02020603050405020304" pitchFamily="18" charset="0"/>
              </a:rPr>
              <a:t>p</a:t>
            </a:r>
            <a:r>
              <a:rPr lang="en-US" sz="2000" dirty="0">
                <a:latin typeface="Calibri" panose="020F0502020204030204" pitchFamily="34" charset="0"/>
                <a:ea typeface="Calibri" panose="020F0502020204030204" pitchFamily="34" charset="0"/>
                <a:cs typeface="Times New Roman" panose="02020603050405020304" pitchFamily="18" charset="0"/>
              </a:rPr>
              <a:t> approaches its minimum value of 0, </a:t>
            </a:r>
            <a:r>
              <a:rPr lang="en-US" sz="2000" i="1" dirty="0">
                <a:latin typeface="Calibri" panose="020F0502020204030204" pitchFamily="34" charset="0"/>
                <a:ea typeface="Calibri" panose="020F0502020204030204" pitchFamily="34" charset="0"/>
                <a:cs typeface="Times New Roman" panose="02020603050405020304" pitchFamily="18" charset="0"/>
              </a:rPr>
              <a:t>p / (1-p) </a:t>
            </a:r>
            <a:r>
              <a:rPr lang="en-US" sz="2000" dirty="0">
                <a:latin typeface="Calibri" panose="020F0502020204030204" pitchFamily="34" charset="0"/>
                <a:ea typeface="Calibri" panose="020F0502020204030204" pitchFamily="34" charset="0"/>
                <a:cs typeface="Times New Roman" panose="02020603050405020304" pitchFamily="18" charset="0"/>
              </a:rPr>
              <a:t>approaches 0. The natural log of something approaching 0 is something that goes to negative infinity. So, the logit has no upper or lower bounds. </a:t>
            </a:r>
          </a:p>
          <a:p>
            <a:pPr>
              <a:lnSpc>
                <a:spcPct val="107000"/>
              </a:lnSpc>
              <a:spcAft>
                <a:spcPts val="800"/>
              </a:spcAft>
            </a:pPr>
            <a:endParaRPr lang="en-US" sz="2000" dirty="0">
              <a:latin typeface="Calibri" panose="020F0502020204030204" pitchFamily="34" charset="0"/>
              <a:ea typeface="Calibri" panose="020F0502020204030204" pitchFamily="34" charset="0"/>
              <a:cs typeface="Times New Roman" panose="02020603050405020304" pitchFamily="18" charset="0"/>
            </a:endParaRPr>
          </a:p>
          <a:p>
            <a:pPr marL="342900" indent="-342900">
              <a:lnSpc>
                <a:spcPct val="107000"/>
              </a:lnSpc>
              <a:spcAft>
                <a:spcPts val="800"/>
              </a:spcAft>
              <a:buFont typeface="Wingdings" panose="05000000000000000000" pitchFamily="2" charset="2"/>
              <a:buChar char="Ø"/>
            </a:pPr>
            <a:r>
              <a:rPr lang="en-US" sz="2000" dirty="0">
                <a:latin typeface="Calibri" panose="020F0502020204030204" pitchFamily="34" charset="0"/>
                <a:ea typeface="Calibri" panose="020F0502020204030204" pitchFamily="34" charset="0"/>
                <a:cs typeface="Times New Roman" panose="02020603050405020304" pitchFamily="18" charset="0"/>
              </a:rPr>
              <a:t>If you can model the logit, then simple algebra enables you to model the odds or probability. The logit transformation ensures that the model generates the estimated probabilities between 0 and 1.  </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4044374499"/>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solidFill>
                  <a:srgbClr val="FF0000"/>
                </a:solidFill>
              </a:rPr>
              <a:t>Logistic Regression</a:t>
            </a:r>
          </a:p>
        </p:txBody>
      </p:sp>
      <p:sp>
        <p:nvSpPr>
          <p:cNvPr id="3" name="Rectangle 2"/>
          <p:cNvSpPr/>
          <p:nvPr/>
        </p:nvSpPr>
        <p:spPr>
          <a:xfrm>
            <a:off x="8460231" y="2489663"/>
            <a:ext cx="184730" cy="923330"/>
          </a:xfrm>
          <a:prstGeom prst="rect">
            <a:avLst/>
          </a:prstGeom>
          <a:noFill/>
        </p:spPr>
        <p:txBody>
          <a:bodyPr wrap="none" lIns="91440" tIns="45720" rIns="91440" bIns="45720">
            <a:spAutoFit/>
          </a:bodyPr>
          <a:lstStyle/>
          <a:p>
            <a:pPr algn="ctr"/>
            <a:endParaRPr lang="en-US" sz="5400" b="0" cap="none" spc="0" dirty="0">
              <a:ln w="0"/>
              <a:solidFill>
                <a:schemeClr val="tx1"/>
              </a:solidFill>
              <a:effectLst>
                <a:outerShdw blurRad="38100" dist="19050" dir="2700000" algn="tl" rotWithShape="0">
                  <a:schemeClr val="dk1">
                    <a:alpha val="40000"/>
                  </a:schemeClr>
                </a:outerShdw>
              </a:effectLst>
            </a:endParaRPr>
          </a:p>
        </p:txBody>
      </p:sp>
      <p:pic>
        <p:nvPicPr>
          <p:cNvPr id="5" name="Picture 4"/>
          <p:cNvPicPr>
            <a:picLocks noChangeAspect="1"/>
          </p:cNvPicPr>
          <p:nvPr/>
        </p:nvPicPr>
        <p:blipFill>
          <a:blip r:embed="rId2"/>
          <a:stretch>
            <a:fillRect/>
          </a:stretch>
        </p:blipFill>
        <p:spPr>
          <a:xfrm>
            <a:off x="838200" y="2395181"/>
            <a:ext cx="4948451" cy="2964786"/>
          </a:xfrm>
          <a:prstGeom prst="rect">
            <a:avLst/>
          </a:prstGeom>
        </p:spPr>
      </p:pic>
      <p:sp>
        <p:nvSpPr>
          <p:cNvPr id="6" name="Rectangle 5"/>
          <p:cNvSpPr/>
          <p:nvPr/>
        </p:nvSpPr>
        <p:spPr>
          <a:xfrm>
            <a:off x="6096000" y="2395181"/>
            <a:ext cx="6096000" cy="2964786"/>
          </a:xfrm>
          <a:prstGeom prst="rect">
            <a:avLst/>
          </a:prstGeom>
        </p:spPr>
        <p:txBody>
          <a:bodyPr>
            <a:spAutoFit/>
          </a:bodyPr>
          <a:lstStyle/>
          <a:p>
            <a:pPr>
              <a:lnSpc>
                <a:spcPct val="107000"/>
              </a:lnSpc>
              <a:spcAft>
                <a:spcPts val="800"/>
              </a:spcAft>
            </a:pPr>
            <a:r>
              <a:rPr lang="en-US" dirty="0">
                <a:latin typeface="Calibri" panose="020F0502020204030204" pitchFamily="34" charset="0"/>
                <a:ea typeface="Calibri" panose="020F0502020204030204" pitchFamily="34" charset="0"/>
                <a:cs typeface="Times New Roman" panose="02020603050405020304" pitchFamily="18" charset="0"/>
              </a:rPr>
              <a:t>Assumption in logistic regression: The logit has a linear relationship with the predictor variables. </a:t>
            </a:r>
          </a:p>
          <a:p>
            <a:pPr>
              <a:lnSpc>
                <a:spcPct val="107000"/>
              </a:lnSpc>
              <a:spcAft>
                <a:spcPts val="800"/>
              </a:spcAft>
            </a:pPr>
            <a:r>
              <a:rPr lang="en-US" dirty="0">
                <a:latin typeface="Calibri" panose="020F0502020204030204" pitchFamily="34" charset="0"/>
                <a:ea typeface="Calibri" panose="020F0502020204030204" pitchFamily="34" charset="0"/>
                <a:cs typeface="Times New Roman" panose="02020603050405020304" pitchFamily="18" charset="0"/>
              </a:rPr>
              <a:t>If the hypothesized nature of direct relationship between X and </a:t>
            </a:r>
            <a:r>
              <a:rPr lang="en-US" i="1" dirty="0">
                <a:latin typeface="Calibri" panose="020F0502020204030204" pitchFamily="34" charset="0"/>
                <a:ea typeface="Calibri" panose="020F0502020204030204" pitchFamily="34" charset="0"/>
                <a:cs typeface="Times New Roman" panose="02020603050405020304" pitchFamily="18" charset="0"/>
              </a:rPr>
              <a:t>p</a:t>
            </a:r>
            <a:r>
              <a:rPr lang="en-US" dirty="0">
                <a:latin typeface="Calibri" panose="020F0502020204030204" pitchFamily="34" charset="0"/>
                <a:ea typeface="Calibri" panose="020F0502020204030204" pitchFamily="34" charset="0"/>
                <a:cs typeface="Times New Roman" panose="02020603050405020304" pitchFamily="18" charset="0"/>
              </a:rPr>
              <a:t> are correct, then the logit has a linear relationship with X through the parameters. In other words, a linear function of X, additive in relation to the parameters, can be used to model the logit. In that way, you can indirectly model the probability. </a:t>
            </a:r>
          </a:p>
          <a:p>
            <a:pPr>
              <a:lnSpc>
                <a:spcPct val="107000"/>
              </a:lnSpc>
              <a:spcAft>
                <a:spcPts val="800"/>
              </a:spcAft>
            </a:pPr>
            <a:r>
              <a:rPr lang="en-US" dirty="0">
                <a:latin typeface="Calibri" panose="020F0502020204030204" pitchFamily="34" charset="0"/>
                <a:ea typeface="Calibri" panose="020F0502020204030204" pitchFamily="34" charset="0"/>
                <a:cs typeface="Times New Roman" panose="02020603050405020304" pitchFamily="18" charset="0"/>
              </a:rPr>
              <a:t>To verify this assumption, it would be useful to plot the logits by the predictor variable. </a:t>
            </a:r>
            <a:endParaRPr lang="en-US"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824002516"/>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solidFill>
                  <a:srgbClr val="FF0000"/>
                </a:solidFill>
              </a:rPr>
              <a:t>Logistic Regression</a:t>
            </a:r>
          </a:p>
        </p:txBody>
      </p:sp>
      <p:sp>
        <p:nvSpPr>
          <p:cNvPr id="3" name="Rectangle 2"/>
          <p:cNvSpPr/>
          <p:nvPr/>
        </p:nvSpPr>
        <p:spPr>
          <a:xfrm>
            <a:off x="8460231" y="2489663"/>
            <a:ext cx="184730" cy="923330"/>
          </a:xfrm>
          <a:prstGeom prst="rect">
            <a:avLst/>
          </a:prstGeom>
          <a:noFill/>
        </p:spPr>
        <p:txBody>
          <a:bodyPr wrap="none" lIns="91440" tIns="45720" rIns="91440" bIns="45720">
            <a:spAutoFit/>
          </a:bodyPr>
          <a:lstStyle/>
          <a:p>
            <a:pPr algn="ctr"/>
            <a:endParaRPr lang="en-US" sz="5400" b="0" cap="none" spc="0" dirty="0">
              <a:ln w="0"/>
              <a:solidFill>
                <a:schemeClr val="tx1"/>
              </a:solidFill>
              <a:effectLst>
                <a:outerShdw blurRad="38100" dist="19050" dir="2700000" algn="tl" rotWithShape="0">
                  <a:schemeClr val="dk1">
                    <a:alpha val="40000"/>
                  </a:schemeClr>
                </a:outerShdw>
              </a:effectLst>
            </a:endParaRPr>
          </a:p>
        </p:txBody>
      </p:sp>
      <p:pic>
        <p:nvPicPr>
          <p:cNvPr id="2" name="Picture 1"/>
          <p:cNvPicPr>
            <a:picLocks noChangeAspect="1"/>
          </p:cNvPicPr>
          <p:nvPr/>
        </p:nvPicPr>
        <p:blipFill>
          <a:blip r:embed="rId2"/>
          <a:stretch>
            <a:fillRect/>
          </a:stretch>
        </p:blipFill>
        <p:spPr>
          <a:xfrm>
            <a:off x="838201" y="1690688"/>
            <a:ext cx="7486934" cy="2922255"/>
          </a:xfrm>
          <a:prstGeom prst="rect">
            <a:avLst/>
          </a:prstGeom>
        </p:spPr>
      </p:pic>
      <p:sp>
        <p:nvSpPr>
          <p:cNvPr id="7" name="Rectangle 6"/>
          <p:cNvSpPr/>
          <p:nvPr/>
        </p:nvSpPr>
        <p:spPr>
          <a:xfrm>
            <a:off x="838200" y="4712125"/>
            <a:ext cx="9772365" cy="1973104"/>
          </a:xfrm>
          <a:prstGeom prst="rect">
            <a:avLst/>
          </a:prstGeom>
        </p:spPr>
        <p:txBody>
          <a:bodyPr wrap="square">
            <a:spAutoFit/>
          </a:bodyPr>
          <a:lstStyle/>
          <a:p>
            <a:pPr>
              <a:lnSpc>
                <a:spcPct val="107000"/>
              </a:lnSpc>
              <a:spcAft>
                <a:spcPts val="800"/>
              </a:spcAft>
            </a:pPr>
            <a:r>
              <a:rPr lang="en-US" dirty="0">
                <a:latin typeface="Calibri" panose="020F0502020204030204" pitchFamily="34" charset="0"/>
                <a:ea typeface="Calibri" panose="020F0502020204030204" pitchFamily="34" charset="0"/>
                <a:cs typeface="Times New Roman" panose="02020603050405020304" pitchFamily="18" charset="0"/>
              </a:rPr>
              <a:t>For a binary response variable, the linear logistic model with one predictor variable has the form above. </a:t>
            </a:r>
          </a:p>
          <a:p>
            <a:pPr>
              <a:lnSpc>
                <a:spcPct val="107000"/>
              </a:lnSpc>
              <a:spcAft>
                <a:spcPts val="800"/>
              </a:spcAft>
            </a:pPr>
            <a:r>
              <a:rPr lang="en-US" dirty="0">
                <a:latin typeface="Calibri" panose="020F0502020204030204" pitchFamily="34" charset="0"/>
                <a:ea typeface="Calibri" panose="020F0502020204030204" pitchFamily="34" charset="0"/>
                <a:cs typeface="Times New Roman" panose="02020603050405020304" pitchFamily="18" charset="0"/>
              </a:rPr>
              <a:t>Unlike linear regression, the logit is not normally distributed and variance is not constant. Therefore, logistic regression requires a more computationally complex estimation method, names the </a:t>
            </a:r>
            <a:r>
              <a:rPr lang="en-US" b="1" i="1" dirty="0">
                <a:latin typeface="Calibri" panose="020F0502020204030204" pitchFamily="34" charset="0"/>
                <a:ea typeface="Calibri" panose="020F0502020204030204" pitchFamily="34" charset="0"/>
                <a:cs typeface="Times New Roman" panose="02020603050405020304" pitchFamily="18" charset="0"/>
              </a:rPr>
              <a:t>Method of Maximum Likelihood</a:t>
            </a:r>
            <a:r>
              <a:rPr lang="en-US" dirty="0">
                <a:latin typeface="Calibri" panose="020F0502020204030204" pitchFamily="34" charset="0"/>
                <a:ea typeface="Calibri" panose="020F0502020204030204" pitchFamily="34" charset="0"/>
                <a:cs typeface="Times New Roman" panose="02020603050405020304" pitchFamily="18" charset="0"/>
              </a:rPr>
              <a:t>, to estimate the parameters. This is accomplished by maximizing the </a:t>
            </a:r>
            <a:r>
              <a:rPr lang="en-US" b="1" i="1" dirty="0">
                <a:latin typeface="Calibri" panose="020F0502020204030204" pitchFamily="34" charset="0"/>
                <a:ea typeface="Calibri" panose="020F0502020204030204" pitchFamily="34" charset="0"/>
                <a:cs typeface="Times New Roman" panose="02020603050405020304" pitchFamily="18" charset="0"/>
              </a:rPr>
              <a:t>likelihood function</a:t>
            </a:r>
            <a:r>
              <a:rPr lang="en-US" dirty="0">
                <a:latin typeface="Calibri" panose="020F0502020204030204" pitchFamily="34" charset="0"/>
                <a:ea typeface="Calibri" panose="020F0502020204030204" pitchFamily="34" charset="0"/>
                <a:cs typeface="Times New Roman" panose="02020603050405020304" pitchFamily="18" charset="0"/>
              </a:rPr>
              <a:t> that expresses the probability of the observed data as a function of unknown parameters.   </a:t>
            </a:r>
            <a:endParaRPr lang="en-US"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474297516"/>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solidFill>
                  <a:srgbClr val="FF0000"/>
                </a:solidFill>
              </a:rPr>
              <a:t>Logistic Regression</a:t>
            </a:r>
          </a:p>
        </p:txBody>
      </p:sp>
      <p:sp>
        <p:nvSpPr>
          <p:cNvPr id="3" name="Rectangle 2"/>
          <p:cNvSpPr/>
          <p:nvPr/>
        </p:nvSpPr>
        <p:spPr>
          <a:xfrm>
            <a:off x="8460231" y="2489663"/>
            <a:ext cx="184730" cy="923330"/>
          </a:xfrm>
          <a:prstGeom prst="rect">
            <a:avLst/>
          </a:prstGeom>
          <a:noFill/>
        </p:spPr>
        <p:txBody>
          <a:bodyPr wrap="none" lIns="91440" tIns="45720" rIns="91440" bIns="45720">
            <a:spAutoFit/>
          </a:bodyPr>
          <a:lstStyle/>
          <a:p>
            <a:pPr algn="ctr"/>
            <a:endParaRPr lang="en-US" sz="5400" b="0" cap="none" spc="0" dirty="0">
              <a:ln w="0"/>
              <a:solidFill>
                <a:schemeClr val="tx1"/>
              </a:solidFill>
              <a:effectLst>
                <a:outerShdw blurRad="38100" dist="19050" dir="2700000" algn="tl" rotWithShape="0">
                  <a:schemeClr val="dk1">
                    <a:alpha val="40000"/>
                  </a:schemeClr>
                </a:outerShdw>
              </a:effectLst>
            </a:endParaRPr>
          </a:p>
        </p:txBody>
      </p:sp>
      <p:pic>
        <p:nvPicPr>
          <p:cNvPr id="5" name="Picture 4"/>
          <p:cNvPicPr>
            <a:picLocks noChangeAspect="1"/>
          </p:cNvPicPr>
          <p:nvPr/>
        </p:nvPicPr>
        <p:blipFill>
          <a:blip r:embed="rId2"/>
          <a:stretch>
            <a:fillRect/>
          </a:stretch>
        </p:blipFill>
        <p:spPr>
          <a:xfrm>
            <a:off x="838200" y="1801505"/>
            <a:ext cx="9444250" cy="4653886"/>
          </a:xfrm>
          <a:prstGeom prst="rect">
            <a:avLst/>
          </a:prstGeom>
        </p:spPr>
      </p:pic>
    </p:spTree>
    <p:extLst>
      <p:ext uri="{BB962C8B-B14F-4D97-AF65-F5344CB8AC3E}">
        <p14:creationId xmlns:p14="http://schemas.microsoft.com/office/powerpoint/2010/main" val="1155332530"/>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solidFill>
                  <a:srgbClr val="FF0000"/>
                </a:solidFill>
              </a:rPr>
              <a:t>Logistic Regression</a:t>
            </a:r>
          </a:p>
        </p:txBody>
      </p:sp>
      <p:sp>
        <p:nvSpPr>
          <p:cNvPr id="3" name="Rectangle 2"/>
          <p:cNvSpPr/>
          <p:nvPr/>
        </p:nvSpPr>
        <p:spPr>
          <a:xfrm>
            <a:off x="8460231" y="2489663"/>
            <a:ext cx="184730" cy="923330"/>
          </a:xfrm>
          <a:prstGeom prst="rect">
            <a:avLst/>
          </a:prstGeom>
          <a:noFill/>
        </p:spPr>
        <p:txBody>
          <a:bodyPr wrap="none" lIns="91440" tIns="45720" rIns="91440" bIns="45720">
            <a:spAutoFit/>
          </a:bodyPr>
          <a:lstStyle/>
          <a:p>
            <a:pPr algn="ctr"/>
            <a:endParaRPr lang="en-US" sz="5400" b="0" cap="none" spc="0" dirty="0">
              <a:ln w="0"/>
              <a:solidFill>
                <a:schemeClr val="tx1"/>
              </a:solidFill>
              <a:effectLst>
                <a:outerShdw blurRad="38100" dist="19050" dir="2700000" algn="tl" rotWithShape="0">
                  <a:schemeClr val="dk1">
                    <a:alpha val="40000"/>
                  </a:schemeClr>
                </a:outerShdw>
              </a:effectLst>
            </a:endParaRPr>
          </a:p>
        </p:txBody>
      </p:sp>
      <p:sp>
        <p:nvSpPr>
          <p:cNvPr id="2" name="Rectangle 1"/>
          <p:cNvSpPr/>
          <p:nvPr/>
        </p:nvSpPr>
        <p:spPr>
          <a:xfrm>
            <a:off x="838200" y="1546625"/>
            <a:ext cx="11021704" cy="4644156"/>
          </a:xfrm>
          <a:prstGeom prst="rect">
            <a:avLst/>
          </a:prstGeom>
        </p:spPr>
        <p:txBody>
          <a:bodyPr wrap="square">
            <a:spAutoFit/>
          </a:bodyPr>
          <a:lstStyle/>
          <a:p>
            <a:pPr>
              <a:lnSpc>
                <a:spcPct val="107000"/>
              </a:lnSpc>
              <a:spcAft>
                <a:spcPts val="800"/>
              </a:spcAft>
            </a:pPr>
            <a:r>
              <a:rPr lang="en-US" sz="1600" dirty="0">
                <a:latin typeface="Calibri" panose="020F0502020204030204" pitchFamily="34" charset="0"/>
                <a:ea typeface="Calibri" panose="020F0502020204030204" pitchFamily="34" charset="0"/>
                <a:cs typeface="Times New Roman" panose="02020603050405020304" pitchFamily="18" charset="0"/>
              </a:rPr>
              <a:t>Selected LOGISTIC procedure statements: </a:t>
            </a:r>
          </a:p>
          <a:p>
            <a:r>
              <a:rPr lang="en-US" sz="1600" dirty="0"/>
              <a:t>CLASS                                      names the classification variables to be used in the analysis. The CLASS   </a:t>
            </a:r>
          </a:p>
          <a:p>
            <a:r>
              <a:rPr lang="en-US" sz="1600" dirty="0"/>
              <a:t>                                                 Statement must precede the MODEL statement. By default, these variables</a:t>
            </a:r>
          </a:p>
          <a:p>
            <a:r>
              <a:rPr lang="en-US" sz="1600" dirty="0"/>
              <a:t>                                                 Will be analyzed using effect coding parameterization. This can be changed </a:t>
            </a:r>
          </a:p>
          <a:p>
            <a:r>
              <a:rPr lang="en-US" sz="1600" dirty="0"/>
              <a:t>                                                 With the PARM= option. </a:t>
            </a:r>
          </a:p>
          <a:p>
            <a:r>
              <a:rPr lang="en-US" sz="1600" dirty="0"/>
              <a:t> </a:t>
            </a:r>
          </a:p>
          <a:p>
            <a:r>
              <a:rPr lang="en-US" sz="1600" dirty="0"/>
              <a:t>MODEL                                   specifies the response variable and predictor variables. </a:t>
            </a:r>
          </a:p>
          <a:p>
            <a:r>
              <a:rPr lang="en-US" sz="1600" dirty="0"/>
              <a:t> </a:t>
            </a:r>
          </a:p>
          <a:p>
            <a:r>
              <a:rPr lang="en-US" sz="1600" dirty="0"/>
              <a:t>OUTPUT                                 creates an output dataset containing all the variables from the input dataset </a:t>
            </a:r>
          </a:p>
          <a:p>
            <a:r>
              <a:rPr lang="en-US" sz="1600" dirty="0"/>
              <a:t>                                                And any requested statistics. </a:t>
            </a:r>
          </a:p>
          <a:p>
            <a:r>
              <a:rPr lang="en-US" sz="1600" dirty="0"/>
              <a:t> </a:t>
            </a:r>
          </a:p>
          <a:p>
            <a:r>
              <a:rPr lang="en-US" sz="1600" dirty="0"/>
              <a:t>UNITS                                     enables you to obtain the odds ratio estimate for a specified change in a </a:t>
            </a:r>
          </a:p>
          <a:p>
            <a:r>
              <a:rPr lang="en-US" sz="1600" dirty="0"/>
              <a:t>                                                Predictor variable. The units of change can be number, standard deviation</a:t>
            </a:r>
          </a:p>
          <a:p>
            <a:r>
              <a:rPr lang="en-US" sz="1600" dirty="0"/>
              <a:t>                                                (SD), or a number times the standard deviation (for example, 2*SD). </a:t>
            </a:r>
          </a:p>
          <a:p>
            <a:r>
              <a:rPr lang="en-US" sz="1600" dirty="0"/>
              <a:t> </a:t>
            </a:r>
          </a:p>
          <a:p>
            <a:r>
              <a:rPr lang="en-US" sz="1600" dirty="0"/>
              <a:t>ODDSRATIO                           produces the odds ratio for variables even when the variables are involved in</a:t>
            </a:r>
          </a:p>
          <a:p>
            <a:r>
              <a:rPr lang="en-US" sz="1600" dirty="0"/>
              <a:t>                                                 Interactions with other covariates, and for classification variables that use</a:t>
            </a:r>
          </a:p>
          <a:p>
            <a:r>
              <a:rPr lang="en-US" sz="1600" dirty="0"/>
              <a:t>                                                 Any parameterization. You can specify several ODDSRATIO statements. </a:t>
            </a:r>
            <a:endParaRPr lang="en-US" sz="1600" dirty="0">
              <a:effectLst/>
            </a:endParaRPr>
          </a:p>
        </p:txBody>
      </p:sp>
    </p:spTree>
    <p:extLst>
      <p:ext uri="{BB962C8B-B14F-4D97-AF65-F5344CB8AC3E}">
        <p14:creationId xmlns:p14="http://schemas.microsoft.com/office/powerpoint/2010/main" val="1677007515"/>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solidFill>
                  <a:srgbClr val="FF0000"/>
                </a:solidFill>
              </a:rPr>
              <a:t>Logistic Regression</a:t>
            </a:r>
            <a:endParaRPr lang="en-US" dirty="0"/>
          </a:p>
        </p:txBody>
      </p:sp>
      <p:sp>
        <p:nvSpPr>
          <p:cNvPr id="3" name="Rectangle 2"/>
          <p:cNvSpPr/>
          <p:nvPr/>
        </p:nvSpPr>
        <p:spPr>
          <a:xfrm>
            <a:off x="8460231" y="2489663"/>
            <a:ext cx="184730" cy="923330"/>
          </a:xfrm>
          <a:prstGeom prst="rect">
            <a:avLst/>
          </a:prstGeom>
          <a:noFill/>
        </p:spPr>
        <p:txBody>
          <a:bodyPr wrap="none" lIns="91440" tIns="45720" rIns="91440" bIns="45720">
            <a:spAutoFit/>
          </a:bodyPr>
          <a:lstStyle/>
          <a:p>
            <a:pPr algn="ctr"/>
            <a:endParaRPr lang="en-US" sz="5400" b="0" cap="none" spc="0" dirty="0">
              <a:ln w="0"/>
              <a:solidFill>
                <a:schemeClr val="tx1"/>
              </a:solidFill>
              <a:effectLst>
                <a:outerShdw blurRad="38100" dist="19050" dir="2700000" algn="tl" rotWithShape="0">
                  <a:schemeClr val="dk1">
                    <a:alpha val="40000"/>
                  </a:schemeClr>
                </a:outerShdw>
              </a:effectLst>
            </a:endParaRPr>
          </a:p>
        </p:txBody>
      </p:sp>
      <p:sp>
        <p:nvSpPr>
          <p:cNvPr id="5" name="Rectangle 4"/>
          <p:cNvSpPr/>
          <p:nvPr/>
        </p:nvSpPr>
        <p:spPr>
          <a:xfrm>
            <a:off x="3951691" y="2689718"/>
            <a:ext cx="3142207" cy="1446550"/>
          </a:xfrm>
          <a:prstGeom prst="rect">
            <a:avLst/>
          </a:prstGeom>
          <a:noFill/>
        </p:spPr>
        <p:txBody>
          <a:bodyPr wrap="none" lIns="91440" tIns="45720" rIns="91440" bIns="45720">
            <a:spAutoFit/>
          </a:bodyPr>
          <a:lstStyle/>
          <a:p>
            <a:pPr algn="ctr"/>
            <a:r>
              <a:rPr lang="en-US" sz="8800" b="0" cap="none" spc="0" dirty="0">
                <a:ln w="0"/>
                <a:solidFill>
                  <a:srgbClr val="FFFF00"/>
                </a:solidFill>
                <a:effectLst>
                  <a:outerShdw blurRad="38100" dist="19050" dir="2700000" algn="tl" rotWithShape="0">
                    <a:schemeClr val="dk1">
                      <a:alpha val="40000"/>
                    </a:schemeClr>
                  </a:outerShdw>
                </a:effectLst>
              </a:rPr>
              <a:t>DEMO</a:t>
            </a:r>
          </a:p>
        </p:txBody>
      </p:sp>
    </p:spTree>
    <p:extLst>
      <p:ext uri="{BB962C8B-B14F-4D97-AF65-F5344CB8AC3E}">
        <p14:creationId xmlns:p14="http://schemas.microsoft.com/office/powerpoint/2010/main" val="1772926743"/>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solidFill>
                  <a:srgbClr val="FF0000"/>
                </a:solidFill>
              </a:rPr>
              <a:t>Logistic Regression</a:t>
            </a:r>
          </a:p>
        </p:txBody>
      </p:sp>
      <p:sp>
        <p:nvSpPr>
          <p:cNvPr id="3" name="Rectangle 2"/>
          <p:cNvSpPr/>
          <p:nvPr/>
        </p:nvSpPr>
        <p:spPr>
          <a:xfrm>
            <a:off x="8460231" y="2489663"/>
            <a:ext cx="184730" cy="923330"/>
          </a:xfrm>
          <a:prstGeom prst="rect">
            <a:avLst/>
          </a:prstGeom>
          <a:noFill/>
        </p:spPr>
        <p:txBody>
          <a:bodyPr wrap="none" lIns="91440" tIns="45720" rIns="91440" bIns="45720">
            <a:spAutoFit/>
          </a:bodyPr>
          <a:lstStyle/>
          <a:p>
            <a:pPr algn="ctr"/>
            <a:endParaRPr lang="en-US" sz="5400" b="0" cap="none" spc="0" dirty="0">
              <a:ln w="0"/>
              <a:solidFill>
                <a:schemeClr val="tx1"/>
              </a:solidFill>
              <a:effectLst>
                <a:outerShdw blurRad="38100" dist="19050" dir="2700000" algn="tl" rotWithShape="0">
                  <a:schemeClr val="dk1">
                    <a:alpha val="40000"/>
                  </a:schemeClr>
                </a:outerShdw>
              </a:effectLst>
            </a:endParaRPr>
          </a:p>
        </p:txBody>
      </p:sp>
      <p:pic>
        <p:nvPicPr>
          <p:cNvPr id="5" name="Picture 4"/>
          <p:cNvPicPr>
            <a:picLocks noChangeAspect="1"/>
          </p:cNvPicPr>
          <p:nvPr/>
        </p:nvPicPr>
        <p:blipFill>
          <a:blip r:embed="rId2"/>
          <a:stretch>
            <a:fillRect/>
          </a:stretch>
        </p:blipFill>
        <p:spPr>
          <a:xfrm>
            <a:off x="838200" y="2700621"/>
            <a:ext cx="10926170" cy="2662949"/>
          </a:xfrm>
          <a:prstGeom prst="rect">
            <a:avLst/>
          </a:prstGeom>
        </p:spPr>
      </p:pic>
    </p:spTree>
    <p:extLst>
      <p:ext uri="{BB962C8B-B14F-4D97-AF65-F5344CB8AC3E}">
        <p14:creationId xmlns:p14="http://schemas.microsoft.com/office/powerpoint/2010/main" val="2985815401"/>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solidFill>
                  <a:srgbClr val="FF0000"/>
                </a:solidFill>
              </a:rPr>
              <a:t>Logistic Regression</a:t>
            </a:r>
          </a:p>
        </p:txBody>
      </p:sp>
      <p:sp>
        <p:nvSpPr>
          <p:cNvPr id="3" name="Rectangle 2"/>
          <p:cNvSpPr/>
          <p:nvPr/>
        </p:nvSpPr>
        <p:spPr>
          <a:xfrm>
            <a:off x="8460231" y="2489663"/>
            <a:ext cx="184730" cy="923330"/>
          </a:xfrm>
          <a:prstGeom prst="rect">
            <a:avLst/>
          </a:prstGeom>
          <a:noFill/>
        </p:spPr>
        <p:txBody>
          <a:bodyPr wrap="none" lIns="91440" tIns="45720" rIns="91440" bIns="45720">
            <a:spAutoFit/>
          </a:bodyPr>
          <a:lstStyle/>
          <a:p>
            <a:pPr algn="ctr"/>
            <a:endParaRPr lang="en-US" sz="5400" b="0" cap="none" spc="0" dirty="0">
              <a:ln w="0"/>
              <a:solidFill>
                <a:schemeClr val="tx1"/>
              </a:solidFill>
              <a:effectLst>
                <a:outerShdw blurRad="38100" dist="19050" dir="2700000" algn="tl" rotWithShape="0">
                  <a:schemeClr val="dk1">
                    <a:alpha val="40000"/>
                  </a:schemeClr>
                </a:outerShdw>
              </a:effectLst>
            </a:endParaRPr>
          </a:p>
        </p:txBody>
      </p:sp>
      <p:pic>
        <p:nvPicPr>
          <p:cNvPr id="2" name="Picture 1"/>
          <p:cNvPicPr>
            <a:picLocks noChangeAspect="1"/>
          </p:cNvPicPr>
          <p:nvPr/>
        </p:nvPicPr>
        <p:blipFill>
          <a:blip r:embed="rId2"/>
          <a:stretch>
            <a:fillRect/>
          </a:stretch>
        </p:blipFill>
        <p:spPr>
          <a:xfrm>
            <a:off x="838200" y="1690687"/>
            <a:ext cx="10515600" cy="4628225"/>
          </a:xfrm>
          <a:prstGeom prst="rect">
            <a:avLst/>
          </a:prstGeom>
        </p:spPr>
      </p:pic>
    </p:spTree>
    <p:extLst>
      <p:ext uri="{BB962C8B-B14F-4D97-AF65-F5344CB8AC3E}">
        <p14:creationId xmlns:p14="http://schemas.microsoft.com/office/powerpoint/2010/main" val="2257377431"/>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solidFill>
                  <a:srgbClr val="FF0000"/>
                </a:solidFill>
              </a:rPr>
              <a:t>Logistic Regression</a:t>
            </a:r>
          </a:p>
        </p:txBody>
      </p:sp>
      <p:sp>
        <p:nvSpPr>
          <p:cNvPr id="3" name="Rectangle 2"/>
          <p:cNvSpPr/>
          <p:nvPr/>
        </p:nvSpPr>
        <p:spPr>
          <a:xfrm>
            <a:off x="8460231" y="2489663"/>
            <a:ext cx="184730" cy="923330"/>
          </a:xfrm>
          <a:prstGeom prst="rect">
            <a:avLst/>
          </a:prstGeom>
          <a:noFill/>
        </p:spPr>
        <p:txBody>
          <a:bodyPr wrap="none" lIns="91440" tIns="45720" rIns="91440" bIns="45720">
            <a:spAutoFit/>
          </a:bodyPr>
          <a:lstStyle/>
          <a:p>
            <a:pPr algn="ctr"/>
            <a:endParaRPr lang="en-US" sz="5400" b="0" cap="none" spc="0" dirty="0">
              <a:ln w="0"/>
              <a:solidFill>
                <a:schemeClr val="tx1"/>
              </a:solidFill>
              <a:effectLst>
                <a:outerShdw blurRad="38100" dist="19050" dir="2700000" algn="tl" rotWithShape="0">
                  <a:schemeClr val="dk1">
                    <a:alpha val="40000"/>
                  </a:schemeClr>
                </a:outerShdw>
              </a:effectLst>
            </a:endParaRPr>
          </a:p>
        </p:txBody>
      </p:sp>
      <p:pic>
        <p:nvPicPr>
          <p:cNvPr id="5" name="Picture 4"/>
          <p:cNvPicPr>
            <a:picLocks noChangeAspect="1"/>
          </p:cNvPicPr>
          <p:nvPr/>
        </p:nvPicPr>
        <p:blipFill>
          <a:blip r:embed="rId2"/>
          <a:stretch>
            <a:fillRect/>
          </a:stretch>
        </p:blipFill>
        <p:spPr>
          <a:xfrm>
            <a:off x="2290791" y="1690688"/>
            <a:ext cx="6354170" cy="3358984"/>
          </a:xfrm>
          <a:prstGeom prst="rect">
            <a:avLst/>
          </a:prstGeom>
        </p:spPr>
      </p:pic>
      <p:sp>
        <p:nvSpPr>
          <p:cNvPr id="6" name="Rectangle 5"/>
          <p:cNvSpPr/>
          <p:nvPr/>
        </p:nvSpPr>
        <p:spPr>
          <a:xfrm>
            <a:off x="2192619" y="5324354"/>
            <a:ext cx="7806761" cy="1323439"/>
          </a:xfrm>
          <a:prstGeom prst="rect">
            <a:avLst/>
          </a:prstGeom>
        </p:spPr>
        <p:txBody>
          <a:bodyPr wrap="square">
            <a:spAutoFit/>
          </a:bodyPr>
          <a:lstStyle/>
          <a:p>
            <a:r>
              <a:rPr lang="en-US" sz="2000" dirty="0"/>
              <a:t>For all pairs of observations with different values of the response variable, a pair is </a:t>
            </a:r>
            <a:r>
              <a:rPr lang="en-US" sz="2000" b="1" i="1" dirty="0"/>
              <a:t>concordant</a:t>
            </a:r>
            <a:r>
              <a:rPr lang="en-US" sz="2000" dirty="0"/>
              <a:t> if the observation with the outcome has a </a:t>
            </a:r>
            <a:r>
              <a:rPr lang="en-US" sz="2000" b="1" i="1" dirty="0"/>
              <a:t>higher</a:t>
            </a:r>
            <a:r>
              <a:rPr lang="en-US" sz="2000" dirty="0"/>
              <a:t> predicted outcome probability (based on the model) than the observation without the outcome. </a:t>
            </a:r>
            <a:endParaRPr lang="en-US" sz="2000" dirty="0">
              <a:effectLst/>
            </a:endParaRPr>
          </a:p>
        </p:txBody>
      </p:sp>
    </p:spTree>
    <p:extLst>
      <p:ext uri="{BB962C8B-B14F-4D97-AF65-F5344CB8AC3E}">
        <p14:creationId xmlns:p14="http://schemas.microsoft.com/office/powerpoint/2010/main" val="256577355"/>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solidFill>
                  <a:srgbClr val="FF0000"/>
                </a:solidFill>
              </a:rPr>
              <a:t>Logistic Regression</a:t>
            </a:r>
          </a:p>
        </p:txBody>
      </p:sp>
      <p:sp>
        <p:nvSpPr>
          <p:cNvPr id="3" name="Rectangle 2"/>
          <p:cNvSpPr/>
          <p:nvPr/>
        </p:nvSpPr>
        <p:spPr>
          <a:xfrm>
            <a:off x="8460231" y="2489663"/>
            <a:ext cx="184730" cy="923330"/>
          </a:xfrm>
          <a:prstGeom prst="rect">
            <a:avLst/>
          </a:prstGeom>
          <a:noFill/>
        </p:spPr>
        <p:txBody>
          <a:bodyPr wrap="none" lIns="91440" tIns="45720" rIns="91440" bIns="45720">
            <a:spAutoFit/>
          </a:bodyPr>
          <a:lstStyle/>
          <a:p>
            <a:pPr algn="ctr"/>
            <a:endParaRPr lang="en-US" sz="5400" b="0" cap="none" spc="0" dirty="0">
              <a:ln w="0"/>
              <a:solidFill>
                <a:schemeClr val="tx1"/>
              </a:solidFill>
              <a:effectLst>
                <a:outerShdw blurRad="38100" dist="19050" dir="2700000" algn="tl" rotWithShape="0">
                  <a:schemeClr val="dk1">
                    <a:alpha val="40000"/>
                  </a:schemeClr>
                </a:outerShdw>
              </a:effectLst>
            </a:endParaRPr>
          </a:p>
        </p:txBody>
      </p:sp>
      <p:pic>
        <p:nvPicPr>
          <p:cNvPr id="2" name="Picture 1"/>
          <p:cNvPicPr>
            <a:picLocks noChangeAspect="1"/>
          </p:cNvPicPr>
          <p:nvPr/>
        </p:nvPicPr>
        <p:blipFill>
          <a:blip r:embed="rId2"/>
          <a:stretch>
            <a:fillRect/>
          </a:stretch>
        </p:blipFill>
        <p:spPr>
          <a:xfrm>
            <a:off x="838200" y="1623502"/>
            <a:ext cx="8196618" cy="3699125"/>
          </a:xfrm>
          <a:prstGeom prst="rect">
            <a:avLst/>
          </a:prstGeom>
        </p:spPr>
      </p:pic>
      <p:pic>
        <p:nvPicPr>
          <p:cNvPr id="6" name="Picture 5"/>
          <p:cNvPicPr>
            <a:picLocks noChangeAspect="1"/>
          </p:cNvPicPr>
          <p:nvPr/>
        </p:nvPicPr>
        <p:blipFill>
          <a:blip r:embed="rId3"/>
          <a:stretch>
            <a:fillRect/>
          </a:stretch>
        </p:blipFill>
        <p:spPr>
          <a:xfrm>
            <a:off x="838200" y="5633824"/>
            <a:ext cx="8196618" cy="603204"/>
          </a:xfrm>
          <a:prstGeom prst="rect">
            <a:avLst/>
          </a:prstGeom>
        </p:spPr>
      </p:pic>
    </p:spTree>
    <p:extLst>
      <p:ext uri="{BB962C8B-B14F-4D97-AF65-F5344CB8AC3E}">
        <p14:creationId xmlns:p14="http://schemas.microsoft.com/office/powerpoint/2010/main" val="1566124656"/>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solidFill>
                  <a:srgbClr val="FF0000"/>
                </a:solidFill>
              </a:rPr>
              <a:t>Logistic Regression</a:t>
            </a:r>
          </a:p>
        </p:txBody>
      </p:sp>
      <p:sp>
        <p:nvSpPr>
          <p:cNvPr id="3" name="Rectangle 2"/>
          <p:cNvSpPr/>
          <p:nvPr/>
        </p:nvSpPr>
        <p:spPr>
          <a:xfrm>
            <a:off x="8460231" y="2489663"/>
            <a:ext cx="184730" cy="923330"/>
          </a:xfrm>
          <a:prstGeom prst="rect">
            <a:avLst/>
          </a:prstGeom>
          <a:noFill/>
        </p:spPr>
        <p:txBody>
          <a:bodyPr wrap="none" lIns="91440" tIns="45720" rIns="91440" bIns="45720">
            <a:spAutoFit/>
          </a:bodyPr>
          <a:lstStyle/>
          <a:p>
            <a:pPr algn="ctr"/>
            <a:endParaRPr lang="en-US" sz="5400" b="0" cap="none" spc="0" dirty="0">
              <a:ln w="0"/>
              <a:solidFill>
                <a:schemeClr val="tx1"/>
              </a:solidFill>
              <a:effectLst>
                <a:outerShdw blurRad="38100" dist="19050" dir="2700000" algn="tl" rotWithShape="0">
                  <a:schemeClr val="dk1">
                    <a:alpha val="40000"/>
                  </a:schemeClr>
                </a:outerShdw>
              </a:effectLst>
            </a:endParaRPr>
          </a:p>
        </p:txBody>
      </p:sp>
      <p:pic>
        <p:nvPicPr>
          <p:cNvPr id="5" name="Picture 4"/>
          <p:cNvPicPr>
            <a:picLocks noChangeAspect="1"/>
          </p:cNvPicPr>
          <p:nvPr/>
        </p:nvPicPr>
        <p:blipFill>
          <a:blip r:embed="rId2"/>
          <a:stretch>
            <a:fillRect/>
          </a:stretch>
        </p:blipFill>
        <p:spPr>
          <a:xfrm>
            <a:off x="2152649" y="1690688"/>
            <a:ext cx="7127827" cy="3619300"/>
          </a:xfrm>
          <a:prstGeom prst="rect">
            <a:avLst/>
          </a:prstGeom>
        </p:spPr>
      </p:pic>
      <p:sp>
        <p:nvSpPr>
          <p:cNvPr id="7" name="Rectangle 6"/>
          <p:cNvSpPr/>
          <p:nvPr/>
        </p:nvSpPr>
        <p:spPr>
          <a:xfrm>
            <a:off x="2152649" y="5612154"/>
            <a:ext cx="7127827" cy="646331"/>
          </a:xfrm>
          <a:prstGeom prst="rect">
            <a:avLst/>
          </a:prstGeom>
        </p:spPr>
        <p:txBody>
          <a:bodyPr wrap="square">
            <a:spAutoFit/>
          </a:bodyPr>
          <a:lstStyle/>
          <a:p>
            <a:r>
              <a:rPr lang="en-US" dirty="0"/>
              <a:t>A pair is </a:t>
            </a:r>
            <a:r>
              <a:rPr lang="en-US" b="1" i="1" dirty="0"/>
              <a:t>tied </a:t>
            </a:r>
            <a:r>
              <a:rPr lang="en-US" dirty="0"/>
              <a:t>if it is neither concordant nor discordant. (The probabilities are the same.)</a:t>
            </a:r>
            <a:endParaRPr lang="en-US" dirty="0">
              <a:effectLst/>
            </a:endParaRPr>
          </a:p>
        </p:txBody>
      </p:sp>
    </p:spTree>
    <p:extLst>
      <p:ext uri="{BB962C8B-B14F-4D97-AF65-F5344CB8AC3E}">
        <p14:creationId xmlns:p14="http://schemas.microsoft.com/office/powerpoint/2010/main" val="3914720406"/>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solidFill>
                  <a:srgbClr val="FF0000"/>
                </a:solidFill>
              </a:rPr>
              <a:t>Logistic Regression</a:t>
            </a:r>
          </a:p>
        </p:txBody>
      </p:sp>
      <p:sp>
        <p:nvSpPr>
          <p:cNvPr id="3" name="Rectangle 2"/>
          <p:cNvSpPr/>
          <p:nvPr/>
        </p:nvSpPr>
        <p:spPr>
          <a:xfrm>
            <a:off x="8460231" y="2489663"/>
            <a:ext cx="184730" cy="923330"/>
          </a:xfrm>
          <a:prstGeom prst="rect">
            <a:avLst/>
          </a:prstGeom>
          <a:noFill/>
        </p:spPr>
        <p:txBody>
          <a:bodyPr wrap="none" lIns="91440" tIns="45720" rIns="91440" bIns="45720">
            <a:spAutoFit/>
          </a:bodyPr>
          <a:lstStyle/>
          <a:p>
            <a:pPr algn="ctr"/>
            <a:endParaRPr lang="en-US" sz="5400" b="0" cap="none" spc="0" dirty="0">
              <a:ln w="0"/>
              <a:solidFill>
                <a:schemeClr val="tx1"/>
              </a:solidFill>
              <a:effectLst>
                <a:outerShdw blurRad="38100" dist="19050" dir="2700000" algn="tl" rotWithShape="0">
                  <a:schemeClr val="dk1">
                    <a:alpha val="40000"/>
                  </a:schemeClr>
                </a:outerShdw>
              </a:effectLst>
            </a:endParaRPr>
          </a:p>
        </p:txBody>
      </p:sp>
      <p:pic>
        <p:nvPicPr>
          <p:cNvPr id="2" name="Picture 1"/>
          <p:cNvPicPr>
            <a:picLocks noChangeAspect="1"/>
          </p:cNvPicPr>
          <p:nvPr/>
        </p:nvPicPr>
        <p:blipFill>
          <a:blip r:embed="rId2"/>
          <a:stretch>
            <a:fillRect/>
          </a:stretch>
        </p:blipFill>
        <p:spPr>
          <a:xfrm>
            <a:off x="1790486" y="2182008"/>
            <a:ext cx="8213322" cy="3440870"/>
          </a:xfrm>
          <a:prstGeom prst="rect">
            <a:avLst/>
          </a:prstGeom>
        </p:spPr>
      </p:pic>
    </p:spTree>
    <p:extLst>
      <p:ext uri="{BB962C8B-B14F-4D97-AF65-F5344CB8AC3E}">
        <p14:creationId xmlns:p14="http://schemas.microsoft.com/office/powerpoint/2010/main" val="3890912284"/>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solidFill>
                  <a:srgbClr val="FF0000"/>
                </a:solidFill>
              </a:rPr>
              <a:t>Logistic Regression</a:t>
            </a:r>
          </a:p>
        </p:txBody>
      </p:sp>
      <p:sp>
        <p:nvSpPr>
          <p:cNvPr id="3" name="Rectangle 2"/>
          <p:cNvSpPr/>
          <p:nvPr/>
        </p:nvSpPr>
        <p:spPr>
          <a:xfrm>
            <a:off x="8460231" y="2489663"/>
            <a:ext cx="184730" cy="923330"/>
          </a:xfrm>
          <a:prstGeom prst="rect">
            <a:avLst/>
          </a:prstGeom>
          <a:noFill/>
        </p:spPr>
        <p:txBody>
          <a:bodyPr wrap="none" lIns="91440" tIns="45720" rIns="91440" bIns="45720">
            <a:spAutoFit/>
          </a:bodyPr>
          <a:lstStyle/>
          <a:p>
            <a:pPr algn="ctr"/>
            <a:endParaRPr lang="en-US" sz="5400" b="0" cap="none" spc="0" dirty="0">
              <a:ln w="0"/>
              <a:solidFill>
                <a:schemeClr val="tx1"/>
              </a:solidFill>
              <a:effectLst>
                <a:outerShdw blurRad="38100" dist="19050" dir="2700000" algn="tl" rotWithShape="0">
                  <a:schemeClr val="dk1">
                    <a:alpha val="40000"/>
                  </a:schemeClr>
                </a:outerShdw>
              </a:effectLst>
            </a:endParaRPr>
          </a:p>
        </p:txBody>
      </p:sp>
      <p:sp>
        <p:nvSpPr>
          <p:cNvPr id="5" name="Rectangle 4"/>
          <p:cNvSpPr/>
          <p:nvPr/>
        </p:nvSpPr>
        <p:spPr>
          <a:xfrm>
            <a:off x="838200" y="1690688"/>
            <a:ext cx="10380260" cy="4154984"/>
          </a:xfrm>
          <a:prstGeom prst="rect">
            <a:avLst/>
          </a:prstGeom>
        </p:spPr>
        <p:txBody>
          <a:bodyPr wrap="square">
            <a:spAutoFit/>
          </a:bodyPr>
          <a:lstStyle/>
          <a:p>
            <a:pPr marL="285750" indent="-285750">
              <a:buFont typeface="Wingdings" panose="05000000000000000000" pitchFamily="2" charset="2"/>
              <a:buChar char="Ø"/>
            </a:pPr>
            <a:r>
              <a:rPr lang="en-US" sz="2400" dirty="0"/>
              <a:t>The Association of Predicted Probabilities and Observed Responses table lists several measures of association to help you assess the predictive ability of the logistic model. </a:t>
            </a:r>
          </a:p>
          <a:p>
            <a:endParaRPr lang="en-US" sz="2400" dirty="0"/>
          </a:p>
          <a:p>
            <a:pPr marL="285750" indent="-285750">
              <a:buFont typeface="Wingdings" panose="05000000000000000000" pitchFamily="2" charset="2"/>
              <a:buChar char="Ø"/>
            </a:pPr>
            <a:r>
              <a:rPr lang="en-US" sz="2400" dirty="0"/>
              <a:t>The number of pairs used to calculate the values of this table is equal to the product of the counts of observations with positive responses and negative responses. In this example, that value is 427*619 = 264,313. </a:t>
            </a:r>
          </a:p>
          <a:p>
            <a:r>
              <a:rPr lang="en-US" sz="2400" dirty="0"/>
              <a:t> </a:t>
            </a:r>
          </a:p>
          <a:p>
            <a:pPr marL="285750" indent="-285750">
              <a:buFont typeface="Wingdings" panose="05000000000000000000" pitchFamily="2" charset="2"/>
              <a:buChar char="Ø"/>
            </a:pPr>
            <a:r>
              <a:rPr lang="en-US" sz="2400" dirty="0"/>
              <a:t>You can use these percentages as goodness-of-fit measures to compare one model to another. In general, higher percentages of concordant pairs and lower percentages of discordant pairs indicate a more desirable model. </a:t>
            </a:r>
            <a:endParaRPr lang="en-US" sz="2400" dirty="0">
              <a:effectLst/>
            </a:endParaRPr>
          </a:p>
        </p:txBody>
      </p:sp>
    </p:spTree>
    <p:extLst>
      <p:ext uri="{BB962C8B-B14F-4D97-AF65-F5344CB8AC3E}">
        <p14:creationId xmlns:p14="http://schemas.microsoft.com/office/powerpoint/2010/main" val="2857624860"/>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solidFill>
                  <a:srgbClr val="FF0000"/>
                </a:solidFill>
              </a:rPr>
              <a:t>Logistic Regression</a:t>
            </a:r>
          </a:p>
        </p:txBody>
      </p:sp>
      <p:sp>
        <p:nvSpPr>
          <p:cNvPr id="3" name="Rectangle 2"/>
          <p:cNvSpPr/>
          <p:nvPr/>
        </p:nvSpPr>
        <p:spPr>
          <a:xfrm>
            <a:off x="8460231" y="2489663"/>
            <a:ext cx="184730" cy="923330"/>
          </a:xfrm>
          <a:prstGeom prst="rect">
            <a:avLst/>
          </a:prstGeom>
          <a:noFill/>
        </p:spPr>
        <p:txBody>
          <a:bodyPr wrap="none" lIns="91440" tIns="45720" rIns="91440" bIns="45720">
            <a:spAutoFit/>
          </a:bodyPr>
          <a:lstStyle/>
          <a:p>
            <a:pPr algn="ctr"/>
            <a:endParaRPr lang="en-US" sz="5400" b="0" cap="none" spc="0" dirty="0">
              <a:ln w="0"/>
              <a:solidFill>
                <a:schemeClr val="tx1"/>
              </a:solidFill>
              <a:effectLst>
                <a:outerShdw blurRad="38100" dist="19050" dir="2700000" algn="tl" rotWithShape="0">
                  <a:schemeClr val="dk1">
                    <a:alpha val="40000"/>
                  </a:schemeClr>
                </a:outerShdw>
              </a:effectLst>
            </a:endParaRPr>
          </a:p>
        </p:txBody>
      </p:sp>
      <p:sp>
        <p:nvSpPr>
          <p:cNvPr id="6" name="Rectangle 5"/>
          <p:cNvSpPr/>
          <p:nvPr/>
        </p:nvSpPr>
        <p:spPr>
          <a:xfrm>
            <a:off x="727880" y="1690688"/>
            <a:ext cx="10625919" cy="4893647"/>
          </a:xfrm>
          <a:prstGeom prst="rect">
            <a:avLst/>
          </a:prstGeom>
        </p:spPr>
        <p:txBody>
          <a:bodyPr wrap="square">
            <a:spAutoFit/>
          </a:bodyPr>
          <a:lstStyle/>
          <a:p>
            <a:pPr marL="342900" indent="-342900">
              <a:buFont typeface="Wingdings" panose="05000000000000000000" pitchFamily="2" charset="2"/>
              <a:buChar char="Ø"/>
            </a:pPr>
            <a:r>
              <a:rPr lang="en-US" sz="2400" dirty="0"/>
              <a:t>The four rank correlation indices (</a:t>
            </a:r>
            <a:r>
              <a:rPr lang="en-US" sz="2400" dirty="0" err="1"/>
              <a:t>Somer’s</a:t>
            </a:r>
            <a:r>
              <a:rPr lang="en-US" sz="2400" dirty="0"/>
              <a:t> D, Gamma, Tau-a, and </a:t>
            </a:r>
            <a:r>
              <a:rPr lang="en-US" sz="2400" i="1" dirty="0"/>
              <a:t>c</a:t>
            </a:r>
            <a:r>
              <a:rPr lang="en-US" sz="2400" dirty="0"/>
              <a:t>) are computed from the numbers of concordant, discordant and tied of pairs of observations. In general, a model with higher values of these indices has a better predictive ability than a model with lower values for these indices.  </a:t>
            </a:r>
          </a:p>
          <a:p>
            <a:endParaRPr lang="en-US" sz="2400" dirty="0"/>
          </a:p>
          <a:p>
            <a:pPr marL="342900" indent="-342900">
              <a:buFont typeface="Wingdings" panose="05000000000000000000" pitchFamily="2" charset="2"/>
              <a:buChar char="Ø"/>
            </a:pPr>
            <a:r>
              <a:rPr lang="en-US" sz="2400" dirty="0"/>
              <a:t>The </a:t>
            </a:r>
            <a:r>
              <a:rPr lang="en-US" sz="2400" i="1" dirty="0"/>
              <a:t>c </a:t>
            </a:r>
            <a:r>
              <a:rPr lang="en-US" sz="2400" dirty="0"/>
              <a:t>(concordance) statistic estimates the probability of an observation with the outcome having higher predicted probability than an observation without the outcome. It is calculated as the percent concordant plus one half the percent tied. The range of possible value is 0.500 (no better predictive power than flipping a fair coin) to 1.00 (perfect prediction).</a:t>
            </a:r>
          </a:p>
          <a:p>
            <a:r>
              <a:rPr lang="en-US" sz="2400" dirty="0"/>
              <a:t> </a:t>
            </a:r>
          </a:p>
          <a:p>
            <a:pPr marL="342900" indent="-342900">
              <a:buFont typeface="Wingdings" panose="05000000000000000000" pitchFamily="2" charset="2"/>
              <a:buChar char="Ø"/>
            </a:pPr>
            <a:r>
              <a:rPr lang="en-US" sz="2400" dirty="0"/>
              <a:t>Here, the value of 0.525 shows a very weak ability of </a:t>
            </a:r>
            <a:r>
              <a:rPr lang="en-US" sz="2400" b="1" dirty="0"/>
              <a:t>age </a:t>
            </a:r>
            <a:r>
              <a:rPr lang="en-US" sz="2400" dirty="0"/>
              <a:t>to discriminate between those who survived and those who did not. </a:t>
            </a:r>
            <a:endParaRPr lang="en-US" sz="2400" dirty="0">
              <a:effectLst/>
            </a:endParaRPr>
          </a:p>
        </p:txBody>
      </p:sp>
    </p:spTree>
    <p:extLst>
      <p:ext uri="{BB962C8B-B14F-4D97-AF65-F5344CB8AC3E}">
        <p14:creationId xmlns:p14="http://schemas.microsoft.com/office/powerpoint/2010/main" val="1582700967"/>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solidFill>
                  <a:srgbClr val="FF0000"/>
                </a:solidFill>
              </a:rPr>
              <a:t>Logistic Regression</a:t>
            </a:r>
          </a:p>
        </p:txBody>
      </p:sp>
      <p:sp>
        <p:nvSpPr>
          <p:cNvPr id="3" name="Rectangle 2"/>
          <p:cNvSpPr/>
          <p:nvPr/>
        </p:nvSpPr>
        <p:spPr>
          <a:xfrm>
            <a:off x="8460231" y="2489663"/>
            <a:ext cx="184730" cy="923330"/>
          </a:xfrm>
          <a:prstGeom prst="rect">
            <a:avLst/>
          </a:prstGeom>
          <a:noFill/>
        </p:spPr>
        <p:txBody>
          <a:bodyPr wrap="none" lIns="91440" tIns="45720" rIns="91440" bIns="45720">
            <a:spAutoFit/>
          </a:bodyPr>
          <a:lstStyle/>
          <a:p>
            <a:pPr algn="ctr"/>
            <a:endParaRPr lang="en-US" sz="5400" b="0" cap="none" spc="0" dirty="0">
              <a:ln w="0"/>
              <a:solidFill>
                <a:schemeClr val="tx1"/>
              </a:solidFill>
              <a:effectLst>
                <a:outerShdw blurRad="38100" dist="19050" dir="2700000" algn="tl" rotWithShape="0">
                  <a:schemeClr val="dk1">
                    <a:alpha val="40000"/>
                  </a:schemeClr>
                </a:outerShdw>
              </a:effectLst>
            </a:endParaRPr>
          </a:p>
        </p:txBody>
      </p:sp>
      <p:sp>
        <p:nvSpPr>
          <p:cNvPr id="2" name="Rectangle 1"/>
          <p:cNvSpPr/>
          <p:nvPr/>
        </p:nvSpPr>
        <p:spPr>
          <a:xfrm>
            <a:off x="1037230" y="2134822"/>
            <a:ext cx="10413241" cy="3539430"/>
          </a:xfrm>
          <a:prstGeom prst="rect">
            <a:avLst/>
          </a:prstGeom>
        </p:spPr>
        <p:txBody>
          <a:bodyPr wrap="square">
            <a:spAutoFit/>
          </a:bodyPr>
          <a:lstStyle/>
          <a:p>
            <a:pPr marL="457200" indent="-457200">
              <a:buFont typeface="Wingdings" panose="05000000000000000000" pitchFamily="2" charset="2"/>
              <a:buChar char="Ø"/>
            </a:pPr>
            <a:r>
              <a:rPr lang="en-US" sz="2800" dirty="0"/>
              <a:t>State how a logistic model with </a:t>
            </a:r>
            <a:r>
              <a:rPr lang="en-US" sz="2800" b="1" i="1" dirty="0">
                <a:solidFill>
                  <a:srgbClr val="FFC000"/>
                </a:solidFill>
              </a:rPr>
              <a:t>categorical predictors</a:t>
            </a:r>
            <a:r>
              <a:rPr lang="en-US" sz="2800" dirty="0">
                <a:solidFill>
                  <a:srgbClr val="FFC000"/>
                </a:solidFill>
              </a:rPr>
              <a:t> </a:t>
            </a:r>
            <a:r>
              <a:rPr lang="en-US" sz="2800" dirty="0"/>
              <a:t>does and does not from the one </a:t>
            </a:r>
            <a:r>
              <a:rPr lang="en-US" sz="2800" b="1" i="1" dirty="0">
                <a:solidFill>
                  <a:srgbClr val="FFC000"/>
                </a:solidFill>
              </a:rPr>
              <a:t>continuous predictors.</a:t>
            </a:r>
            <a:endParaRPr lang="en-US" sz="2800" dirty="0">
              <a:solidFill>
                <a:srgbClr val="FFC000"/>
              </a:solidFill>
            </a:endParaRPr>
          </a:p>
          <a:p>
            <a:endParaRPr lang="en-US" sz="2800" dirty="0"/>
          </a:p>
          <a:p>
            <a:pPr marL="457200" indent="-457200">
              <a:buFont typeface="Wingdings" panose="05000000000000000000" pitchFamily="2" charset="2"/>
              <a:buChar char="Ø"/>
            </a:pPr>
            <a:r>
              <a:rPr lang="en-US" sz="2800" dirty="0"/>
              <a:t>Describe the functionality of </a:t>
            </a:r>
            <a:r>
              <a:rPr lang="en-US" sz="2800" b="1" i="1" dirty="0">
                <a:solidFill>
                  <a:srgbClr val="C00000"/>
                </a:solidFill>
              </a:rPr>
              <a:t>CLASS</a:t>
            </a:r>
            <a:r>
              <a:rPr lang="en-US" sz="2800" dirty="0">
                <a:solidFill>
                  <a:srgbClr val="C00000"/>
                </a:solidFill>
              </a:rPr>
              <a:t> </a:t>
            </a:r>
            <a:r>
              <a:rPr lang="en-US" sz="2800" dirty="0"/>
              <a:t>statement. </a:t>
            </a:r>
          </a:p>
          <a:p>
            <a:endParaRPr lang="en-US" sz="2800" dirty="0"/>
          </a:p>
          <a:p>
            <a:pPr marL="457200" indent="-457200">
              <a:buFont typeface="Wingdings" panose="05000000000000000000" pitchFamily="2" charset="2"/>
              <a:buChar char="Ø"/>
            </a:pPr>
            <a:r>
              <a:rPr lang="en-US" sz="2800" dirty="0"/>
              <a:t>Define the standard output from LOGISTIC procedure with categorical predictor variables.</a:t>
            </a:r>
          </a:p>
          <a:p>
            <a:endParaRPr lang="en-US" sz="2800" dirty="0">
              <a:effectLst/>
            </a:endParaRPr>
          </a:p>
        </p:txBody>
      </p:sp>
    </p:spTree>
    <p:extLst>
      <p:ext uri="{BB962C8B-B14F-4D97-AF65-F5344CB8AC3E}">
        <p14:creationId xmlns:p14="http://schemas.microsoft.com/office/powerpoint/2010/main" val="4146066761"/>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solidFill>
                  <a:srgbClr val="FF0000"/>
                </a:solidFill>
              </a:rPr>
              <a:t>Logistic Regression</a:t>
            </a:r>
          </a:p>
        </p:txBody>
      </p:sp>
      <p:sp>
        <p:nvSpPr>
          <p:cNvPr id="3" name="Rectangle 2"/>
          <p:cNvSpPr/>
          <p:nvPr/>
        </p:nvSpPr>
        <p:spPr>
          <a:xfrm>
            <a:off x="8460231" y="2489663"/>
            <a:ext cx="184730" cy="923330"/>
          </a:xfrm>
          <a:prstGeom prst="rect">
            <a:avLst/>
          </a:prstGeom>
          <a:noFill/>
        </p:spPr>
        <p:txBody>
          <a:bodyPr wrap="none" lIns="91440" tIns="45720" rIns="91440" bIns="45720">
            <a:spAutoFit/>
          </a:bodyPr>
          <a:lstStyle/>
          <a:p>
            <a:pPr algn="ctr"/>
            <a:endParaRPr lang="en-US" sz="5400" b="0" cap="none" spc="0" dirty="0">
              <a:ln w="0"/>
              <a:solidFill>
                <a:schemeClr val="tx1"/>
              </a:solidFill>
              <a:effectLst>
                <a:outerShdw blurRad="38100" dist="19050" dir="2700000" algn="tl" rotWithShape="0">
                  <a:schemeClr val="dk1">
                    <a:alpha val="40000"/>
                  </a:schemeClr>
                </a:outerShdw>
              </a:effectLst>
            </a:endParaRPr>
          </a:p>
        </p:txBody>
      </p:sp>
      <p:pic>
        <p:nvPicPr>
          <p:cNvPr id="5" name="Picture 4"/>
          <p:cNvPicPr>
            <a:picLocks noChangeAspect="1"/>
          </p:cNvPicPr>
          <p:nvPr/>
        </p:nvPicPr>
        <p:blipFill>
          <a:blip r:embed="rId2"/>
          <a:stretch>
            <a:fillRect/>
          </a:stretch>
        </p:blipFill>
        <p:spPr>
          <a:xfrm>
            <a:off x="838200" y="1690687"/>
            <a:ext cx="10515600" cy="4969419"/>
          </a:xfrm>
          <a:prstGeom prst="rect">
            <a:avLst/>
          </a:prstGeom>
        </p:spPr>
      </p:pic>
    </p:spTree>
    <p:extLst>
      <p:ext uri="{BB962C8B-B14F-4D97-AF65-F5344CB8AC3E}">
        <p14:creationId xmlns:p14="http://schemas.microsoft.com/office/powerpoint/2010/main" val="3349970783"/>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solidFill>
                  <a:srgbClr val="FF0000"/>
                </a:solidFill>
              </a:rPr>
              <a:t>Logistic Regression</a:t>
            </a:r>
          </a:p>
        </p:txBody>
      </p:sp>
      <p:sp>
        <p:nvSpPr>
          <p:cNvPr id="3" name="Rectangle 2"/>
          <p:cNvSpPr/>
          <p:nvPr/>
        </p:nvSpPr>
        <p:spPr>
          <a:xfrm>
            <a:off x="8460231" y="2489663"/>
            <a:ext cx="184730" cy="923330"/>
          </a:xfrm>
          <a:prstGeom prst="rect">
            <a:avLst/>
          </a:prstGeom>
          <a:noFill/>
        </p:spPr>
        <p:txBody>
          <a:bodyPr wrap="none" lIns="91440" tIns="45720" rIns="91440" bIns="45720">
            <a:spAutoFit/>
          </a:bodyPr>
          <a:lstStyle/>
          <a:p>
            <a:pPr algn="ctr"/>
            <a:endParaRPr lang="en-US" sz="5400" b="0" cap="none" spc="0" dirty="0">
              <a:ln w="0"/>
              <a:solidFill>
                <a:schemeClr val="tx1"/>
              </a:solidFill>
              <a:effectLst>
                <a:outerShdw blurRad="38100" dist="19050" dir="2700000" algn="tl" rotWithShape="0">
                  <a:schemeClr val="dk1">
                    <a:alpha val="40000"/>
                  </a:schemeClr>
                </a:outerShdw>
              </a:effectLst>
            </a:endParaRPr>
          </a:p>
        </p:txBody>
      </p:sp>
      <p:sp>
        <p:nvSpPr>
          <p:cNvPr id="2" name="Rectangle 1"/>
          <p:cNvSpPr/>
          <p:nvPr/>
        </p:nvSpPr>
        <p:spPr>
          <a:xfrm>
            <a:off x="838200" y="1690688"/>
            <a:ext cx="10515600" cy="4154984"/>
          </a:xfrm>
          <a:prstGeom prst="rect">
            <a:avLst/>
          </a:prstGeom>
        </p:spPr>
        <p:txBody>
          <a:bodyPr wrap="square">
            <a:spAutoFit/>
          </a:bodyPr>
          <a:lstStyle/>
          <a:p>
            <a:pPr marL="342900" indent="-342900">
              <a:buFont typeface="Wingdings" panose="05000000000000000000" pitchFamily="2" charset="2"/>
              <a:buChar char="Ø"/>
            </a:pPr>
            <a:r>
              <a:rPr lang="en-US" sz="2400" dirty="0"/>
              <a:t>The CLASS statement creates a set of “design (dummy) variables” representing the information contained in any categorical variables. These design variables are incorporated into the MODEL calculations rather than the original categorical variables. Character variables cannot use a variable with values like “yes” or “no” adequately in the determination of the model.</a:t>
            </a:r>
          </a:p>
          <a:p>
            <a:endParaRPr lang="en-US" sz="2400" dirty="0"/>
          </a:p>
          <a:p>
            <a:pPr marL="342900" indent="-342900">
              <a:buFont typeface="Wingdings" panose="05000000000000000000" pitchFamily="2" charset="2"/>
              <a:buChar char="Ø"/>
            </a:pPr>
            <a:r>
              <a:rPr lang="en-US" sz="2400" dirty="0"/>
              <a:t>Even if categorical variables are represented by numbers like 1, 2, 3, the CLASS statement tells SAS to set up design variables to represent the categories. This is necessary because the numeric values that are assigned to the levels of the categorical variables are generally arbitrary and might not truly reflect distances between levels.</a:t>
            </a:r>
            <a:endParaRPr lang="en-US" sz="2400" dirty="0">
              <a:effectLst/>
            </a:endParaRPr>
          </a:p>
        </p:txBody>
      </p:sp>
    </p:spTree>
    <p:extLst>
      <p:ext uri="{BB962C8B-B14F-4D97-AF65-F5344CB8AC3E}">
        <p14:creationId xmlns:p14="http://schemas.microsoft.com/office/powerpoint/2010/main" val="3569869576"/>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solidFill>
                  <a:srgbClr val="FF0000"/>
                </a:solidFill>
              </a:rPr>
              <a:t>Logistic Regression</a:t>
            </a:r>
          </a:p>
        </p:txBody>
      </p:sp>
      <p:sp>
        <p:nvSpPr>
          <p:cNvPr id="3" name="Rectangle 2"/>
          <p:cNvSpPr/>
          <p:nvPr/>
        </p:nvSpPr>
        <p:spPr>
          <a:xfrm>
            <a:off x="8460231" y="2489663"/>
            <a:ext cx="184730" cy="923330"/>
          </a:xfrm>
          <a:prstGeom prst="rect">
            <a:avLst/>
          </a:prstGeom>
          <a:noFill/>
        </p:spPr>
        <p:txBody>
          <a:bodyPr wrap="none" lIns="91440" tIns="45720" rIns="91440" bIns="45720">
            <a:spAutoFit/>
          </a:bodyPr>
          <a:lstStyle/>
          <a:p>
            <a:pPr algn="ctr"/>
            <a:endParaRPr lang="en-US" sz="5400" b="0" cap="none" spc="0" dirty="0">
              <a:ln w="0"/>
              <a:solidFill>
                <a:schemeClr val="tx1"/>
              </a:solidFill>
              <a:effectLst>
                <a:outerShdw blurRad="38100" dist="19050" dir="2700000" algn="tl" rotWithShape="0">
                  <a:schemeClr val="dk1">
                    <a:alpha val="40000"/>
                  </a:schemeClr>
                </a:outerShdw>
              </a:effectLst>
            </a:endParaRPr>
          </a:p>
        </p:txBody>
      </p:sp>
      <p:pic>
        <p:nvPicPr>
          <p:cNvPr id="5" name="Picture 4"/>
          <p:cNvPicPr>
            <a:picLocks noChangeAspect="1"/>
          </p:cNvPicPr>
          <p:nvPr/>
        </p:nvPicPr>
        <p:blipFill>
          <a:blip r:embed="rId2"/>
          <a:stretch>
            <a:fillRect/>
          </a:stretch>
        </p:blipFill>
        <p:spPr>
          <a:xfrm>
            <a:off x="838200" y="2605088"/>
            <a:ext cx="5180463" cy="2744834"/>
          </a:xfrm>
          <a:prstGeom prst="rect">
            <a:avLst/>
          </a:prstGeom>
        </p:spPr>
      </p:pic>
      <p:sp>
        <p:nvSpPr>
          <p:cNvPr id="6" name="Rectangle 5"/>
          <p:cNvSpPr/>
          <p:nvPr/>
        </p:nvSpPr>
        <p:spPr>
          <a:xfrm>
            <a:off x="6073701" y="2487600"/>
            <a:ext cx="6096000" cy="2862322"/>
          </a:xfrm>
          <a:prstGeom prst="rect">
            <a:avLst/>
          </a:prstGeom>
        </p:spPr>
        <p:txBody>
          <a:bodyPr>
            <a:spAutoFit/>
          </a:bodyPr>
          <a:lstStyle/>
          <a:p>
            <a:pPr marL="285750" indent="-285750">
              <a:buFont typeface="Wingdings" panose="05000000000000000000" pitchFamily="2" charset="2"/>
              <a:buChar char="Ø"/>
            </a:pPr>
            <a:r>
              <a:rPr lang="en-US" dirty="0"/>
              <a:t>For </a:t>
            </a:r>
            <a:r>
              <a:rPr lang="en-US" i="1" dirty="0"/>
              <a:t>effect coding</a:t>
            </a:r>
            <a:r>
              <a:rPr lang="en-US" dirty="0"/>
              <a:t> (also called </a:t>
            </a:r>
            <a:r>
              <a:rPr lang="en-US" i="1" dirty="0"/>
              <a:t>deviation from the mean coding</a:t>
            </a:r>
            <a:r>
              <a:rPr lang="en-US" dirty="0"/>
              <a:t>), the number of design variables created is the number of levels of CLASS variable minus 1. For example, </a:t>
            </a:r>
            <a:r>
              <a:rPr lang="en-US" b="1" dirty="0" err="1"/>
              <a:t>IncLevel</a:t>
            </a:r>
            <a:r>
              <a:rPr lang="en-US" b="1" dirty="0"/>
              <a:t> </a:t>
            </a:r>
            <a:r>
              <a:rPr lang="en-US" dirty="0"/>
              <a:t>has three levels, two design variables were created. For the last level of CLASS variable (</a:t>
            </a:r>
            <a:r>
              <a:rPr lang="en-US" b="1" dirty="0"/>
              <a:t>High Income</a:t>
            </a:r>
            <a:r>
              <a:rPr lang="en-US" dirty="0"/>
              <a:t>), all the design variables have a value of -1. </a:t>
            </a:r>
          </a:p>
          <a:p>
            <a:endParaRPr lang="en-US" dirty="0"/>
          </a:p>
          <a:p>
            <a:pPr marL="285750" indent="-285750">
              <a:buFont typeface="Wingdings" panose="05000000000000000000" pitchFamily="2" charset="2"/>
              <a:buChar char="Ø"/>
            </a:pPr>
            <a:r>
              <a:rPr lang="en-US" dirty="0"/>
              <a:t>Parameter estimates of the CLASS main effects using this coding scheme estimate the difference between the effect of each level and the average effect over all levels. </a:t>
            </a:r>
            <a:endParaRPr lang="en-US" dirty="0">
              <a:effectLst/>
            </a:endParaRPr>
          </a:p>
        </p:txBody>
      </p:sp>
    </p:spTree>
    <p:extLst>
      <p:ext uri="{BB962C8B-B14F-4D97-AF65-F5344CB8AC3E}">
        <p14:creationId xmlns:p14="http://schemas.microsoft.com/office/powerpoint/2010/main" val="2035815742"/>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solidFill>
                  <a:srgbClr val="FF0000"/>
                </a:solidFill>
              </a:rPr>
              <a:t>Logistic Regression</a:t>
            </a:r>
          </a:p>
        </p:txBody>
      </p:sp>
      <p:sp>
        <p:nvSpPr>
          <p:cNvPr id="3" name="Rectangle 2"/>
          <p:cNvSpPr/>
          <p:nvPr/>
        </p:nvSpPr>
        <p:spPr>
          <a:xfrm>
            <a:off x="8460231" y="2489663"/>
            <a:ext cx="184730" cy="923330"/>
          </a:xfrm>
          <a:prstGeom prst="rect">
            <a:avLst/>
          </a:prstGeom>
          <a:noFill/>
        </p:spPr>
        <p:txBody>
          <a:bodyPr wrap="none" lIns="91440" tIns="45720" rIns="91440" bIns="45720">
            <a:spAutoFit/>
          </a:bodyPr>
          <a:lstStyle/>
          <a:p>
            <a:pPr algn="ctr"/>
            <a:endParaRPr lang="en-US" sz="5400" b="0" cap="none" spc="0" dirty="0">
              <a:ln w="0"/>
              <a:solidFill>
                <a:schemeClr val="tx1"/>
              </a:solidFill>
              <a:effectLst>
                <a:outerShdw blurRad="38100" dist="19050" dir="2700000" algn="tl" rotWithShape="0">
                  <a:schemeClr val="dk1">
                    <a:alpha val="40000"/>
                  </a:schemeClr>
                </a:outerShdw>
              </a:effectLst>
            </a:endParaRPr>
          </a:p>
        </p:txBody>
      </p:sp>
      <p:pic>
        <p:nvPicPr>
          <p:cNvPr id="2" name="Picture 1"/>
          <p:cNvPicPr>
            <a:picLocks noChangeAspect="1"/>
          </p:cNvPicPr>
          <p:nvPr/>
        </p:nvPicPr>
        <p:blipFill>
          <a:blip r:embed="rId2"/>
          <a:stretch>
            <a:fillRect/>
          </a:stretch>
        </p:blipFill>
        <p:spPr>
          <a:xfrm>
            <a:off x="838199" y="1569493"/>
            <a:ext cx="10494297" cy="5076967"/>
          </a:xfrm>
          <a:prstGeom prst="rect">
            <a:avLst/>
          </a:prstGeom>
        </p:spPr>
      </p:pic>
    </p:spTree>
    <p:extLst>
      <p:ext uri="{BB962C8B-B14F-4D97-AF65-F5344CB8AC3E}">
        <p14:creationId xmlns:p14="http://schemas.microsoft.com/office/powerpoint/2010/main" val="306495114"/>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solidFill>
                  <a:srgbClr val="FF0000"/>
                </a:solidFill>
              </a:rPr>
              <a:t>Logistic Regression</a:t>
            </a:r>
          </a:p>
        </p:txBody>
      </p:sp>
      <p:sp>
        <p:nvSpPr>
          <p:cNvPr id="3" name="Rectangle 2"/>
          <p:cNvSpPr/>
          <p:nvPr/>
        </p:nvSpPr>
        <p:spPr>
          <a:xfrm>
            <a:off x="8460231" y="2489663"/>
            <a:ext cx="184730" cy="923330"/>
          </a:xfrm>
          <a:prstGeom prst="rect">
            <a:avLst/>
          </a:prstGeom>
          <a:noFill/>
        </p:spPr>
        <p:txBody>
          <a:bodyPr wrap="none" lIns="91440" tIns="45720" rIns="91440" bIns="45720">
            <a:spAutoFit/>
          </a:bodyPr>
          <a:lstStyle/>
          <a:p>
            <a:pPr algn="ctr"/>
            <a:endParaRPr lang="en-US" sz="5400" b="0" cap="none" spc="0" dirty="0">
              <a:ln w="0"/>
              <a:solidFill>
                <a:schemeClr val="tx1"/>
              </a:solidFill>
              <a:effectLst>
                <a:outerShdw blurRad="38100" dist="19050" dir="2700000" algn="tl" rotWithShape="0">
                  <a:schemeClr val="dk1">
                    <a:alpha val="40000"/>
                  </a:schemeClr>
                </a:outerShdw>
              </a:effectLst>
            </a:endParaRPr>
          </a:p>
        </p:txBody>
      </p:sp>
      <p:pic>
        <p:nvPicPr>
          <p:cNvPr id="5" name="Picture 4"/>
          <p:cNvPicPr>
            <a:picLocks noChangeAspect="1"/>
          </p:cNvPicPr>
          <p:nvPr/>
        </p:nvPicPr>
        <p:blipFill>
          <a:blip r:embed="rId2"/>
          <a:stretch>
            <a:fillRect/>
          </a:stretch>
        </p:blipFill>
        <p:spPr>
          <a:xfrm>
            <a:off x="838199" y="1690688"/>
            <a:ext cx="10298374" cy="3345336"/>
          </a:xfrm>
          <a:prstGeom prst="rect">
            <a:avLst/>
          </a:prstGeom>
        </p:spPr>
      </p:pic>
      <p:pic>
        <p:nvPicPr>
          <p:cNvPr id="6" name="Picture 5"/>
          <p:cNvPicPr>
            <a:picLocks noChangeAspect="1"/>
          </p:cNvPicPr>
          <p:nvPr/>
        </p:nvPicPr>
        <p:blipFill>
          <a:blip r:embed="rId3"/>
          <a:stretch>
            <a:fillRect/>
          </a:stretch>
        </p:blipFill>
        <p:spPr>
          <a:xfrm>
            <a:off x="838199" y="5197404"/>
            <a:ext cx="10298374" cy="1503647"/>
          </a:xfrm>
          <a:prstGeom prst="rect">
            <a:avLst/>
          </a:prstGeom>
        </p:spPr>
      </p:pic>
    </p:spTree>
    <p:extLst>
      <p:ext uri="{BB962C8B-B14F-4D97-AF65-F5344CB8AC3E}">
        <p14:creationId xmlns:p14="http://schemas.microsoft.com/office/powerpoint/2010/main" val="943038280"/>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solidFill>
                  <a:srgbClr val="FF0000"/>
                </a:solidFill>
              </a:rPr>
              <a:t>Logistic Regression</a:t>
            </a:r>
          </a:p>
        </p:txBody>
      </p:sp>
      <p:sp>
        <p:nvSpPr>
          <p:cNvPr id="3" name="Rectangle 2"/>
          <p:cNvSpPr/>
          <p:nvPr/>
        </p:nvSpPr>
        <p:spPr>
          <a:xfrm>
            <a:off x="8460231" y="2489663"/>
            <a:ext cx="184730" cy="923330"/>
          </a:xfrm>
          <a:prstGeom prst="rect">
            <a:avLst/>
          </a:prstGeom>
          <a:noFill/>
        </p:spPr>
        <p:txBody>
          <a:bodyPr wrap="none" lIns="91440" tIns="45720" rIns="91440" bIns="45720">
            <a:spAutoFit/>
          </a:bodyPr>
          <a:lstStyle/>
          <a:p>
            <a:pPr algn="ctr"/>
            <a:endParaRPr lang="en-US" sz="5400" b="0" cap="none" spc="0" dirty="0">
              <a:ln w="0"/>
              <a:solidFill>
                <a:schemeClr val="tx1"/>
              </a:solidFill>
              <a:effectLst>
                <a:outerShdw blurRad="38100" dist="19050" dir="2700000" algn="tl" rotWithShape="0">
                  <a:schemeClr val="dk1">
                    <a:alpha val="40000"/>
                  </a:schemeClr>
                </a:outerShdw>
              </a:effectLst>
            </a:endParaRPr>
          </a:p>
        </p:txBody>
      </p:sp>
      <p:pic>
        <p:nvPicPr>
          <p:cNvPr id="2" name="Picture 1"/>
          <p:cNvPicPr>
            <a:picLocks noChangeAspect="1"/>
          </p:cNvPicPr>
          <p:nvPr/>
        </p:nvPicPr>
        <p:blipFill>
          <a:blip r:embed="rId2"/>
          <a:stretch>
            <a:fillRect/>
          </a:stretch>
        </p:blipFill>
        <p:spPr>
          <a:xfrm>
            <a:off x="838200" y="1690687"/>
            <a:ext cx="10515600" cy="4969419"/>
          </a:xfrm>
          <a:prstGeom prst="rect">
            <a:avLst/>
          </a:prstGeom>
        </p:spPr>
      </p:pic>
    </p:spTree>
    <p:extLst>
      <p:ext uri="{BB962C8B-B14F-4D97-AF65-F5344CB8AC3E}">
        <p14:creationId xmlns:p14="http://schemas.microsoft.com/office/powerpoint/2010/main" val="3504316916"/>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solidFill>
                  <a:srgbClr val="FF0000"/>
                </a:solidFill>
              </a:rPr>
              <a:t>Logistic Regression</a:t>
            </a:r>
          </a:p>
        </p:txBody>
      </p:sp>
      <p:sp>
        <p:nvSpPr>
          <p:cNvPr id="3" name="Rectangle 2"/>
          <p:cNvSpPr/>
          <p:nvPr/>
        </p:nvSpPr>
        <p:spPr>
          <a:xfrm>
            <a:off x="8460231" y="2489663"/>
            <a:ext cx="184730" cy="923330"/>
          </a:xfrm>
          <a:prstGeom prst="rect">
            <a:avLst/>
          </a:prstGeom>
          <a:noFill/>
        </p:spPr>
        <p:txBody>
          <a:bodyPr wrap="none" lIns="91440" tIns="45720" rIns="91440" bIns="45720">
            <a:spAutoFit/>
          </a:bodyPr>
          <a:lstStyle/>
          <a:p>
            <a:pPr algn="ctr"/>
            <a:endParaRPr lang="en-US" sz="5400" b="0" cap="none" spc="0" dirty="0">
              <a:ln w="0"/>
              <a:solidFill>
                <a:schemeClr val="tx1"/>
              </a:solidFill>
              <a:effectLst>
                <a:outerShdw blurRad="38100" dist="19050" dir="2700000" algn="tl" rotWithShape="0">
                  <a:schemeClr val="dk1">
                    <a:alpha val="40000"/>
                  </a:schemeClr>
                </a:outerShdw>
              </a:effectLst>
            </a:endParaRPr>
          </a:p>
        </p:txBody>
      </p:sp>
      <p:sp>
        <p:nvSpPr>
          <p:cNvPr id="5" name="Rectangle 4"/>
          <p:cNvSpPr/>
          <p:nvPr/>
        </p:nvSpPr>
        <p:spPr>
          <a:xfrm>
            <a:off x="1091821" y="2489663"/>
            <a:ext cx="9880979" cy="2677656"/>
          </a:xfrm>
          <a:prstGeom prst="rect">
            <a:avLst/>
          </a:prstGeom>
        </p:spPr>
        <p:txBody>
          <a:bodyPr wrap="square">
            <a:spAutoFit/>
          </a:bodyPr>
          <a:lstStyle/>
          <a:p>
            <a:pPr marL="342900" indent="-342900">
              <a:buFont typeface="Wingdings" panose="05000000000000000000" pitchFamily="2" charset="2"/>
              <a:buChar char="Ø"/>
            </a:pPr>
            <a:r>
              <a:rPr lang="en-US" sz="2400" dirty="0"/>
              <a:t>Notice the difference between this table and previous parameter estimates table. Because you used the Reference Cell Coding, instead of the Effect Coding, the meaning of the parameter estimates and </a:t>
            </a:r>
            <a:r>
              <a:rPr lang="en-US" sz="2400" i="1" dirty="0"/>
              <a:t>p-</a:t>
            </a:r>
            <a:r>
              <a:rPr lang="en-US" sz="2400" dirty="0"/>
              <a:t>values are different. </a:t>
            </a:r>
          </a:p>
          <a:p>
            <a:endParaRPr lang="en-US" sz="2400" dirty="0"/>
          </a:p>
          <a:p>
            <a:endParaRPr lang="en-US" sz="2400" dirty="0"/>
          </a:p>
          <a:p>
            <a:pPr marL="342900" indent="-342900">
              <a:buFont typeface="Wingdings" panose="05000000000000000000" pitchFamily="2" charset="2"/>
              <a:buChar char="Ø"/>
            </a:pPr>
            <a:r>
              <a:rPr lang="en-US" sz="2400" dirty="0"/>
              <a:t>Now, the parameter estimate and </a:t>
            </a:r>
            <a:r>
              <a:rPr lang="en-US" sz="2400" i="1" dirty="0"/>
              <a:t>p-</a:t>
            </a:r>
            <a:r>
              <a:rPr lang="en-US" sz="2400" dirty="0"/>
              <a:t>value for </a:t>
            </a:r>
            <a:r>
              <a:rPr lang="en-US" sz="2400" dirty="0" err="1"/>
              <a:t>IncLevel</a:t>
            </a:r>
            <a:r>
              <a:rPr lang="en-US" sz="2400" dirty="0"/>
              <a:t> = 1 reflect the difference between </a:t>
            </a:r>
            <a:r>
              <a:rPr lang="en-US" sz="2400" b="1" dirty="0" err="1"/>
              <a:t>IncLevel</a:t>
            </a:r>
            <a:r>
              <a:rPr lang="en-US" sz="2400" b="1" dirty="0"/>
              <a:t> = 1 and </a:t>
            </a:r>
            <a:r>
              <a:rPr lang="en-US" sz="2400" b="1" dirty="0" err="1"/>
              <a:t>IncLevel</a:t>
            </a:r>
            <a:r>
              <a:rPr lang="en-US" sz="2400" b="1" dirty="0"/>
              <a:t> = 3 (the reference level)</a:t>
            </a:r>
            <a:r>
              <a:rPr lang="en-US" sz="2400" dirty="0"/>
              <a:t>.</a:t>
            </a:r>
            <a:endParaRPr lang="en-US" sz="2400" dirty="0">
              <a:effectLst/>
            </a:endParaRPr>
          </a:p>
        </p:txBody>
      </p:sp>
      <p:sp>
        <p:nvSpPr>
          <p:cNvPr id="6" name="Rectangle 5"/>
          <p:cNvSpPr/>
          <p:nvPr/>
        </p:nvSpPr>
        <p:spPr>
          <a:xfrm>
            <a:off x="1091821" y="5550795"/>
            <a:ext cx="9289576" cy="830997"/>
          </a:xfrm>
          <a:prstGeom prst="rect">
            <a:avLst/>
          </a:prstGeom>
        </p:spPr>
        <p:txBody>
          <a:bodyPr wrap="square">
            <a:spAutoFit/>
          </a:bodyPr>
          <a:lstStyle/>
          <a:p>
            <a:pPr marL="342900" indent="-342900">
              <a:buFont typeface="Wingdings" panose="05000000000000000000" pitchFamily="2" charset="2"/>
              <a:buChar char="Ø"/>
            </a:pPr>
            <a:r>
              <a:rPr lang="en-US" sz="2400" dirty="0"/>
              <a:t>It is important to know what type of parameterization you are using in order to interpret and report the results of this table</a:t>
            </a:r>
            <a:endParaRPr lang="en-US" sz="2400" dirty="0">
              <a:effectLst/>
            </a:endParaRPr>
          </a:p>
        </p:txBody>
      </p:sp>
    </p:spTree>
    <p:extLst>
      <p:ext uri="{BB962C8B-B14F-4D97-AF65-F5344CB8AC3E}">
        <p14:creationId xmlns:p14="http://schemas.microsoft.com/office/powerpoint/2010/main" val="1886259149"/>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solidFill>
                  <a:srgbClr val="FF0000"/>
                </a:solidFill>
              </a:rPr>
              <a:t>Logistic Regression</a:t>
            </a:r>
          </a:p>
        </p:txBody>
      </p:sp>
      <p:sp>
        <p:nvSpPr>
          <p:cNvPr id="3" name="Rectangle 2"/>
          <p:cNvSpPr/>
          <p:nvPr/>
        </p:nvSpPr>
        <p:spPr>
          <a:xfrm>
            <a:off x="8460231" y="2489663"/>
            <a:ext cx="184730" cy="923330"/>
          </a:xfrm>
          <a:prstGeom prst="rect">
            <a:avLst/>
          </a:prstGeom>
          <a:noFill/>
        </p:spPr>
        <p:txBody>
          <a:bodyPr wrap="none" lIns="91440" tIns="45720" rIns="91440" bIns="45720">
            <a:spAutoFit/>
          </a:bodyPr>
          <a:lstStyle/>
          <a:p>
            <a:pPr algn="ctr"/>
            <a:endParaRPr lang="en-US" sz="5400" b="0" cap="none" spc="0" dirty="0">
              <a:ln w="0"/>
              <a:solidFill>
                <a:schemeClr val="tx1"/>
              </a:solidFill>
              <a:effectLst>
                <a:outerShdw blurRad="38100" dist="19050" dir="2700000" algn="tl" rotWithShape="0">
                  <a:schemeClr val="dk1">
                    <a:alpha val="40000"/>
                  </a:schemeClr>
                </a:outerShdw>
              </a:effectLst>
            </a:endParaRP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79211" y="1682115"/>
            <a:ext cx="4306327" cy="32415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Rectangle 1"/>
          <p:cNvSpPr/>
          <p:nvPr/>
        </p:nvSpPr>
        <p:spPr>
          <a:xfrm>
            <a:off x="928468" y="5238767"/>
            <a:ext cx="10058399" cy="1200329"/>
          </a:xfrm>
          <a:prstGeom prst="rect">
            <a:avLst/>
          </a:prstGeom>
        </p:spPr>
        <p:txBody>
          <a:bodyPr wrap="square">
            <a:spAutoFit/>
          </a:bodyPr>
          <a:lstStyle/>
          <a:p>
            <a:r>
              <a:rPr lang="en-IN" dirty="0">
                <a:solidFill>
                  <a:srgbClr val="C00000"/>
                </a:solidFill>
              </a:rPr>
              <a:t>Odds Ratios for categorical predictors are reported for bi-group comparisons in PROC LOGISTIC, no matter which parameterization is chosen. Thus, even if Effect Coding is selected for </a:t>
            </a:r>
            <a:r>
              <a:rPr lang="en-IN" b="1" dirty="0">
                <a:solidFill>
                  <a:srgbClr val="C00000"/>
                </a:solidFill>
              </a:rPr>
              <a:t>Gender</a:t>
            </a:r>
            <a:r>
              <a:rPr lang="en-IN" dirty="0">
                <a:solidFill>
                  <a:srgbClr val="C00000"/>
                </a:solidFill>
              </a:rPr>
              <a:t> variable, the odds ratio tables display odds comparison between female and male (and not females versus the average of both).   </a:t>
            </a:r>
            <a:endParaRPr lang="en-IN" dirty="0">
              <a:solidFill>
                <a:srgbClr val="C00000"/>
              </a:solidFill>
              <a:effectLst/>
            </a:endParaRPr>
          </a:p>
        </p:txBody>
      </p:sp>
    </p:spTree>
    <p:extLst>
      <p:ext uri="{BB962C8B-B14F-4D97-AF65-F5344CB8AC3E}">
        <p14:creationId xmlns:p14="http://schemas.microsoft.com/office/powerpoint/2010/main" val="76830024"/>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solidFill>
                  <a:srgbClr val="FF0000"/>
                </a:solidFill>
              </a:rPr>
              <a:t>Logistic Regression</a:t>
            </a:r>
          </a:p>
        </p:txBody>
      </p:sp>
      <p:sp>
        <p:nvSpPr>
          <p:cNvPr id="3" name="Rectangle 2"/>
          <p:cNvSpPr/>
          <p:nvPr/>
        </p:nvSpPr>
        <p:spPr>
          <a:xfrm>
            <a:off x="8460231" y="2489663"/>
            <a:ext cx="184730" cy="923330"/>
          </a:xfrm>
          <a:prstGeom prst="rect">
            <a:avLst/>
          </a:prstGeom>
          <a:noFill/>
        </p:spPr>
        <p:txBody>
          <a:bodyPr wrap="none" lIns="91440" tIns="45720" rIns="91440" bIns="45720">
            <a:spAutoFit/>
          </a:bodyPr>
          <a:lstStyle/>
          <a:p>
            <a:pPr algn="ctr"/>
            <a:endParaRPr lang="en-US" sz="5400" b="0" cap="none" spc="0" dirty="0">
              <a:ln w="0"/>
              <a:solidFill>
                <a:schemeClr val="tx1"/>
              </a:solidFill>
              <a:effectLst>
                <a:outerShdw blurRad="38100" dist="19050" dir="2700000" algn="tl" rotWithShape="0">
                  <a:schemeClr val="dk1">
                    <a:alpha val="40000"/>
                  </a:schemeClr>
                </a:outerShdw>
              </a:effectLst>
            </a:endParaRP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22753" y="1908340"/>
            <a:ext cx="5013813" cy="29731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Rectangle 4"/>
          <p:cNvSpPr/>
          <p:nvPr/>
        </p:nvSpPr>
        <p:spPr>
          <a:xfrm>
            <a:off x="6096000" y="1908340"/>
            <a:ext cx="6096000" cy="3416320"/>
          </a:xfrm>
          <a:prstGeom prst="rect">
            <a:avLst/>
          </a:prstGeom>
        </p:spPr>
        <p:txBody>
          <a:bodyPr>
            <a:spAutoFit/>
          </a:bodyPr>
          <a:lstStyle/>
          <a:p>
            <a:r>
              <a:rPr lang="en-IN" dirty="0"/>
              <a:t>Each design variable is assigned its own beta value. The number of parameters in the logistic model takes into account the intercept, the number of continuous predictors, and the number of design variables assigned to CLASS variables. </a:t>
            </a:r>
          </a:p>
          <a:p>
            <a:r>
              <a:rPr lang="en-IN" dirty="0"/>
              <a:t> </a:t>
            </a:r>
          </a:p>
          <a:p>
            <a:r>
              <a:rPr lang="en-IN" dirty="0"/>
              <a:t>So in this example, we include the following design variables </a:t>
            </a:r>
          </a:p>
          <a:p>
            <a:r>
              <a:rPr lang="en-IN" dirty="0"/>
              <a:t> </a:t>
            </a:r>
          </a:p>
          <a:p>
            <a:r>
              <a:rPr lang="en-IN" dirty="0"/>
              <a:t>Gender – Female</a:t>
            </a:r>
          </a:p>
          <a:p>
            <a:r>
              <a:rPr lang="en-IN" dirty="0"/>
              <a:t>Class – First Class</a:t>
            </a:r>
          </a:p>
          <a:p>
            <a:r>
              <a:rPr lang="en-IN" dirty="0"/>
              <a:t>Class – Second Class</a:t>
            </a:r>
          </a:p>
          <a:p>
            <a:r>
              <a:rPr lang="en-IN" dirty="0"/>
              <a:t> </a:t>
            </a:r>
          </a:p>
          <a:p>
            <a:r>
              <a:rPr lang="en-IN" dirty="0"/>
              <a:t>and continuous predictor variable Age.</a:t>
            </a:r>
            <a:endParaRPr lang="en-IN" dirty="0">
              <a:effectLst/>
            </a:endParaRPr>
          </a:p>
        </p:txBody>
      </p:sp>
    </p:spTree>
    <p:extLst>
      <p:ext uri="{BB962C8B-B14F-4D97-AF65-F5344CB8AC3E}">
        <p14:creationId xmlns:p14="http://schemas.microsoft.com/office/powerpoint/2010/main" val="2464966251"/>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solidFill>
                  <a:srgbClr val="FF0000"/>
                </a:solidFill>
              </a:rPr>
              <a:t>Logistic Regression</a:t>
            </a:r>
            <a:endParaRPr lang="en-US" dirty="0"/>
          </a:p>
        </p:txBody>
      </p:sp>
      <p:sp>
        <p:nvSpPr>
          <p:cNvPr id="3" name="Rectangle 2"/>
          <p:cNvSpPr/>
          <p:nvPr/>
        </p:nvSpPr>
        <p:spPr>
          <a:xfrm>
            <a:off x="8460231" y="2489663"/>
            <a:ext cx="184730" cy="923330"/>
          </a:xfrm>
          <a:prstGeom prst="rect">
            <a:avLst/>
          </a:prstGeom>
          <a:noFill/>
        </p:spPr>
        <p:txBody>
          <a:bodyPr wrap="none" lIns="91440" tIns="45720" rIns="91440" bIns="45720">
            <a:spAutoFit/>
          </a:bodyPr>
          <a:lstStyle/>
          <a:p>
            <a:pPr algn="ctr"/>
            <a:endParaRPr lang="en-US" sz="5400" b="0" cap="none" spc="0" dirty="0">
              <a:ln w="0"/>
              <a:solidFill>
                <a:schemeClr val="tx1"/>
              </a:solidFill>
              <a:effectLst>
                <a:outerShdw blurRad="38100" dist="19050" dir="2700000" algn="tl" rotWithShape="0">
                  <a:schemeClr val="dk1">
                    <a:alpha val="40000"/>
                  </a:schemeClr>
                </a:outerShdw>
              </a:effectLst>
            </a:endParaRPr>
          </a:p>
        </p:txBody>
      </p:sp>
      <p:sp>
        <p:nvSpPr>
          <p:cNvPr id="5" name="Rectangle 4"/>
          <p:cNvSpPr/>
          <p:nvPr/>
        </p:nvSpPr>
        <p:spPr>
          <a:xfrm>
            <a:off x="3951691" y="2689718"/>
            <a:ext cx="3142207" cy="1446550"/>
          </a:xfrm>
          <a:prstGeom prst="rect">
            <a:avLst/>
          </a:prstGeom>
          <a:noFill/>
        </p:spPr>
        <p:txBody>
          <a:bodyPr wrap="none" lIns="91440" tIns="45720" rIns="91440" bIns="45720">
            <a:spAutoFit/>
          </a:bodyPr>
          <a:lstStyle/>
          <a:p>
            <a:pPr algn="ctr"/>
            <a:r>
              <a:rPr lang="en-US" sz="8800" b="0" cap="none" spc="0" dirty="0">
                <a:ln w="0"/>
                <a:solidFill>
                  <a:srgbClr val="FFFF00"/>
                </a:solidFill>
                <a:effectLst>
                  <a:outerShdw blurRad="38100" dist="19050" dir="2700000" algn="tl" rotWithShape="0">
                    <a:schemeClr val="dk1">
                      <a:alpha val="40000"/>
                    </a:schemeClr>
                  </a:outerShdw>
                </a:effectLst>
              </a:rPr>
              <a:t>DEMO</a:t>
            </a:r>
          </a:p>
        </p:txBody>
      </p:sp>
    </p:spTree>
    <p:extLst>
      <p:ext uri="{BB962C8B-B14F-4D97-AF65-F5344CB8AC3E}">
        <p14:creationId xmlns:p14="http://schemas.microsoft.com/office/powerpoint/2010/main" val="2554433541"/>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solidFill>
                  <a:srgbClr val="FF0000"/>
                </a:solidFill>
              </a:rPr>
              <a:t>Honest Assessment</a:t>
            </a:r>
          </a:p>
        </p:txBody>
      </p:sp>
      <p:sp>
        <p:nvSpPr>
          <p:cNvPr id="3" name="Rectangle 2"/>
          <p:cNvSpPr/>
          <p:nvPr/>
        </p:nvSpPr>
        <p:spPr>
          <a:xfrm>
            <a:off x="8460231" y="2489663"/>
            <a:ext cx="184730" cy="923330"/>
          </a:xfrm>
          <a:prstGeom prst="rect">
            <a:avLst/>
          </a:prstGeom>
          <a:noFill/>
        </p:spPr>
        <p:txBody>
          <a:bodyPr wrap="none" lIns="91440" tIns="45720" rIns="91440" bIns="45720">
            <a:spAutoFit/>
          </a:bodyPr>
          <a:lstStyle/>
          <a:p>
            <a:pPr algn="ctr"/>
            <a:endParaRPr lang="en-US" sz="5400" b="0" cap="none" spc="0" dirty="0">
              <a:ln w="0"/>
              <a:solidFill>
                <a:schemeClr val="tx1"/>
              </a:solidFill>
              <a:effectLst>
                <a:outerShdw blurRad="38100" dist="19050" dir="2700000" algn="tl" rotWithShape="0">
                  <a:schemeClr val="dk1">
                    <a:alpha val="40000"/>
                  </a:schemeClr>
                </a:outerShdw>
              </a:effectLst>
            </a:endParaRP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09709" y="1917568"/>
            <a:ext cx="11019693" cy="3822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661201112"/>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solidFill>
                  <a:srgbClr val="FF0000"/>
                </a:solidFill>
              </a:rPr>
              <a:t>Honest Assessment</a:t>
            </a:r>
          </a:p>
        </p:txBody>
      </p:sp>
      <p:sp>
        <p:nvSpPr>
          <p:cNvPr id="3" name="Rectangle 2"/>
          <p:cNvSpPr/>
          <p:nvPr/>
        </p:nvSpPr>
        <p:spPr>
          <a:xfrm>
            <a:off x="8460231" y="2489663"/>
            <a:ext cx="184730" cy="923330"/>
          </a:xfrm>
          <a:prstGeom prst="rect">
            <a:avLst/>
          </a:prstGeom>
          <a:noFill/>
        </p:spPr>
        <p:txBody>
          <a:bodyPr wrap="none" lIns="91440" tIns="45720" rIns="91440" bIns="45720">
            <a:spAutoFit/>
          </a:bodyPr>
          <a:lstStyle/>
          <a:p>
            <a:pPr algn="ctr"/>
            <a:endParaRPr lang="en-US" sz="5400" b="0" cap="none" spc="0" dirty="0">
              <a:ln w="0"/>
              <a:solidFill>
                <a:schemeClr val="tx1"/>
              </a:solidFill>
              <a:effectLst>
                <a:outerShdw blurRad="38100" dist="19050" dir="2700000" algn="tl" rotWithShape="0">
                  <a:schemeClr val="dk1">
                    <a:alpha val="40000"/>
                  </a:schemeClr>
                </a:outerShdw>
              </a:effectLst>
            </a:endParaRPr>
          </a:p>
        </p:txBody>
      </p:sp>
      <p:pic>
        <p:nvPicPr>
          <p:cNvPr id="6" name="Picture 5">
            <a:extLst>
              <a:ext uri="{FF2B5EF4-FFF2-40B4-BE49-F238E27FC236}">
                <a16:creationId xmlns:a16="http://schemas.microsoft.com/office/drawing/2014/main" id="{A02E0E51-FAAD-4813-9D36-44323C604D25}"/>
              </a:ext>
            </a:extLst>
          </p:cNvPr>
          <p:cNvPicPr>
            <a:picLocks noChangeAspect="1"/>
          </p:cNvPicPr>
          <p:nvPr/>
        </p:nvPicPr>
        <p:blipFill>
          <a:blip r:embed="rId2"/>
          <a:stretch>
            <a:fillRect/>
          </a:stretch>
        </p:blipFill>
        <p:spPr>
          <a:xfrm>
            <a:off x="904875" y="1914425"/>
            <a:ext cx="5191125" cy="3876675"/>
          </a:xfrm>
          <a:prstGeom prst="rect">
            <a:avLst/>
          </a:prstGeom>
        </p:spPr>
      </p:pic>
      <p:sp>
        <p:nvSpPr>
          <p:cNvPr id="9" name="TextBox 8">
            <a:extLst>
              <a:ext uri="{FF2B5EF4-FFF2-40B4-BE49-F238E27FC236}">
                <a16:creationId xmlns:a16="http://schemas.microsoft.com/office/drawing/2014/main" id="{C6F2E571-EA25-4C18-A5EA-A232DF19E065}"/>
              </a:ext>
            </a:extLst>
          </p:cNvPr>
          <p:cNvSpPr txBox="1"/>
          <p:nvPr/>
        </p:nvSpPr>
        <p:spPr>
          <a:xfrm>
            <a:off x="6097622" y="2489663"/>
            <a:ext cx="6094378" cy="2552686"/>
          </a:xfrm>
          <a:prstGeom prst="rect">
            <a:avLst/>
          </a:prstGeom>
          <a:noFill/>
        </p:spPr>
        <p:txBody>
          <a:bodyPr wrap="square">
            <a:spAutoFit/>
          </a:bodyPr>
          <a:lstStyle/>
          <a:p>
            <a:pPr marL="285750" indent="-285750">
              <a:lnSpc>
                <a:spcPct val="107000"/>
              </a:lnSpc>
              <a:spcAft>
                <a:spcPts val="800"/>
              </a:spcAft>
              <a:buFont typeface="Arial" panose="020B0604020202020204" pitchFamily="34" charset="0"/>
              <a:buChar char="•"/>
            </a:pPr>
            <a:r>
              <a:rPr lang="en-US" sz="1800" dirty="0">
                <a:effectLst/>
                <a:latin typeface="Calibri" panose="020F0502020204030204" pitchFamily="34" charset="0"/>
                <a:ea typeface="Calibri" panose="020F0502020204030204" pitchFamily="34" charset="0"/>
                <a:cs typeface="Times New Roman" panose="02020603050405020304" pitchFamily="18" charset="0"/>
              </a:rPr>
              <a:t>A target marketing campaign for a bank was undertaken to identify segments of customers who are likely to respond to a variable annuity (insurance product) marketing campaign.  </a:t>
            </a:r>
          </a:p>
          <a:p>
            <a:pPr marL="285750" indent="-285750">
              <a:lnSpc>
                <a:spcPct val="107000"/>
              </a:lnSpc>
              <a:spcAft>
                <a:spcPts val="800"/>
              </a:spcAft>
              <a:buFont typeface="Arial" panose="020B0604020202020204" pitchFamily="34" charset="0"/>
              <a:buChar char="•"/>
            </a:pPr>
            <a:r>
              <a:rPr lang="en-US" dirty="0">
                <a:latin typeface="Calibri" panose="020F0502020204030204" pitchFamily="34" charset="0"/>
                <a:ea typeface="Calibri" panose="020F0502020204030204" pitchFamily="34" charset="0"/>
                <a:cs typeface="Times New Roman" panose="02020603050405020304" pitchFamily="18" charset="0"/>
              </a:rPr>
              <a:t>The binary target variable </a:t>
            </a:r>
            <a:r>
              <a:rPr lang="en-US" b="1" dirty="0">
                <a:latin typeface="Calibri" panose="020F0502020204030204" pitchFamily="34" charset="0"/>
                <a:ea typeface="Calibri" panose="020F0502020204030204" pitchFamily="34" charset="0"/>
                <a:cs typeface="Times New Roman" panose="02020603050405020304" pitchFamily="18" charset="0"/>
              </a:rPr>
              <a:t>Ins, </a:t>
            </a:r>
            <a:r>
              <a:rPr lang="en-US" dirty="0">
                <a:latin typeface="Calibri" panose="020F0502020204030204" pitchFamily="34" charset="0"/>
                <a:ea typeface="Calibri" panose="020F0502020204030204" pitchFamily="34" charset="0"/>
                <a:cs typeface="Times New Roman" panose="02020603050405020304" pitchFamily="18" charset="0"/>
              </a:rPr>
              <a:t>indicates whether the customer bought the variable annuity product or not. The 47 input variable represents the other product usage in last three months period and demographics. Two of the inputs are nominally scaled; the others are interval or binary. </a:t>
            </a:r>
            <a:endParaRPr lang="en-IN" sz="1800" b="1"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843267749"/>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solidFill>
                  <a:srgbClr val="FF0000"/>
                </a:solidFill>
              </a:rPr>
              <a:t>Honest Assessment</a:t>
            </a:r>
          </a:p>
        </p:txBody>
      </p:sp>
      <p:sp>
        <p:nvSpPr>
          <p:cNvPr id="3" name="Rectangle 2"/>
          <p:cNvSpPr/>
          <p:nvPr/>
        </p:nvSpPr>
        <p:spPr>
          <a:xfrm>
            <a:off x="8460231" y="2489663"/>
            <a:ext cx="184730" cy="923330"/>
          </a:xfrm>
          <a:prstGeom prst="rect">
            <a:avLst/>
          </a:prstGeom>
          <a:noFill/>
        </p:spPr>
        <p:txBody>
          <a:bodyPr wrap="none" lIns="91440" tIns="45720" rIns="91440" bIns="45720">
            <a:spAutoFit/>
          </a:bodyPr>
          <a:lstStyle/>
          <a:p>
            <a:pPr algn="ctr"/>
            <a:endParaRPr lang="en-US" sz="5400" b="0" cap="none" spc="0" dirty="0">
              <a:ln w="0"/>
              <a:solidFill>
                <a:schemeClr val="tx1"/>
              </a:solidFill>
              <a:effectLst>
                <a:outerShdw blurRad="38100" dist="19050" dir="2700000" algn="tl" rotWithShape="0">
                  <a:schemeClr val="dk1">
                    <a:alpha val="40000"/>
                  </a:schemeClr>
                </a:outerShdw>
              </a:effectLst>
            </a:endParaRP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82235" y="1674715"/>
            <a:ext cx="4941790" cy="35725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Rectangle 1"/>
          <p:cNvSpPr/>
          <p:nvPr/>
        </p:nvSpPr>
        <p:spPr>
          <a:xfrm>
            <a:off x="5960012" y="1875932"/>
            <a:ext cx="6096000" cy="3170099"/>
          </a:xfrm>
          <a:prstGeom prst="rect">
            <a:avLst/>
          </a:prstGeom>
        </p:spPr>
        <p:txBody>
          <a:bodyPr>
            <a:spAutoFit/>
          </a:bodyPr>
          <a:lstStyle/>
          <a:p>
            <a:r>
              <a:rPr lang="en-IN" sz="2000" dirty="0"/>
              <a:t>Evaluating the performance of classifier on same data used to train the classifier usually leads to an optimistically biased assessment. </a:t>
            </a:r>
          </a:p>
          <a:p>
            <a:r>
              <a:rPr lang="en-IN" sz="2000" dirty="0"/>
              <a:t> </a:t>
            </a:r>
          </a:p>
          <a:p>
            <a:r>
              <a:rPr lang="en-IN" sz="2000" dirty="0"/>
              <a:t>Here, the classifier was fit (more properly overfit) to a 10-case data set. It correctly classified 70% of the cases. However, when the same classification rule was applied to the 100 new cases from the same distribution, only 47% were correctly classified. This is called the “</a:t>
            </a:r>
            <a:r>
              <a:rPr lang="en-IN" sz="2000" i="1" dirty="0"/>
              <a:t>overfitting</a:t>
            </a:r>
            <a:r>
              <a:rPr lang="en-IN" sz="2000" dirty="0"/>
              <a:t>”. </a:t>
            </a:r>
          </a:p>
        </p:txBody>
      </p:sp>
    </p:spTree>
    <p:extLst>
      <p:ext uri="{BB962C8B-B14F-4D97-AF65-F5344CB8AC3E}">
        <p14:creationId xmlns:p14="http://schemas.microsoft.com/office/powerpoint/2010/main" val="2430349242"/>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solidFill>
                  <a:srgbClr val="FF0000"/>
                </a:solidFill>
              </a:rPr>
              <a:t>Honest Assessment</a:t>
            </a:r>
          </a:p>
        </p:txBody>
      </p:sp>
      <p:sp>
        <p:nvSpPr>
          <p:cNvPr id="3" name="Rectangle 2"/>
          <p:cNvSpPr/>
          <p:nvPr/>
        </p:nvSpPr>
        <p:spPr>
          <a:xfrm>
            <a:off x="8460231" y="2489663"/>
            <a:ext cx="184730" cy="923330"/>
          </a:xfrm>
          <a:prstGeom prst="rect">
            <a:avLst/>
          </a:prstGeom>
          <a:noFill/>
        </p:spPr>
        <p:txBody>
          <a:bodyPr wrap="none" lIns="91440" tIns="45720" rIns="91440" bIns="45720">
            <a:spAutoFit/>
          </a:bodyPr>
          <a:lstStyle/>
          <a:p>
            <a:pPr algn="ctr"/>
            <a:endParaRPr lang="en-US" sz="5400" b="0" cap="none" spc="0" dirty="0">
              <a:ln w="0"/>
              <a:solidFill>
                <a:schemeClr val="tx1"/>
              </a:solidFill>
              <a:effectLst>
                <a:outerShdw blurRad="38100" dist="19050" dir="2700000" algn="tl" rotWithShape="0">
                  <a:schemeClr val="dk1">
                    <a:alpha val="40000"/>
                  </a:schemeClr>
                </a:outerShdw>
              </a:effectLst>
            </a:endParaRPr>
          </a:p>
        </p:txBody>
      </p:sp>
      <p:sp>
        <p:nvSpPr>
          <p:cNvPr id="5" name="Rectangle 4"/>
          <p:cNvSpPr/>
          <p:nvPr/>
        </p:nvSpPr>
        <p:spPr>
          <a:xfrm>
            <a:off x="762363" y="1566333"/>
            <a:ext cx="10879016" cy="5016758"/>
          </a:xfrm>
          <a:prstGeom prst="rect">
            <a:avLst/>
          </a:prstGeom>
        </p:spPr>
        <p:txBody>
          <a:bodyPr wrap="square">
            <a:spAutoFit/>
          </a:bodyPr>
          <a:lstStyle/>
          <a:p>
            <a:pPr marL="285750" indent="-285750">
              <a:buFont typeface="Wingdings" pitchFamily="2" charset="2"/>
              <a:buChar char="Ø"/>
            </a:pPr>
            <a:r>
              <a:rPr lang="en-IN" sz="2000" dirty="0"/>
              <a:t>The simplest strategy for correcting the optimism bias is to hold out a portion of the development for assessment. The model is fit to the reminder (</a:t>
            </a:r>
            <a:r>
              <a:rPr lang="en-IN" sz="2000" i="1" dirty="0"/>
              <a:t>training data set</a:t>
            </a:r>
            <a:r>
              <a:rPr lang="en-IN" sz="2000" dirty="0"/>
              <a:t>) and performance is evaluated on the holdout portion (</a:t>
            </a:r>
            <a:r>
              <a:rPr lang="en-IN" sz="2000" i="1" dirty="0"/>
              <a:t>validation data set</a:t>
            </a:r>
            <a:r>
              <a:rPr lang="en-IN" sz="2000" dirty="0"/>
              <a:t>). Usually, from one-fourth to one-half of the development data is used as a validation data set.</a:t>
            </a:r>
          </a:p>
          <a:p>
            <a:endParaRPr lang="en-IN" sz="2000" dirty="0"/>
          </a:p>
          <a:p>
            <a:pPr marL="285750" indent="-285750">
              <a:buFont typeface="Wingdings" pitchFamily="2" charset="2"/>
              <a:buChar char="Ø"/>
            </a:pPr>
            <a:r>
              <a:rPr lang="en-IN" sz="2000" dirty="0"/>
              <a:t>When the holdout data (</a:t>
            </a:r>
            <a:r>
              <a:rPr lang="en-IN" sz="2000" i="1" dirty="0"/>
              <a:t>validation set</a:t>
            </a:r>
            <a:r>
              <a:rPr lang="en-IN" sz="2000" dirty="0"/>
              <a:t>) are used for comparing, selecting and tuning models and chosen model is assessed on the same data set that was used for comparison, then the optimism principal again applies. </a:t>
            </a:r>
          </a:p>
          <a:p>
            <a:endParaRPr lang="en-IN" sz="2000" dirty="0"/>
          </a:p>
          <a:p>
            <a:pPr marL="285750" indent="-285750">
              <a:buFont typeface="Wingdings" pitchFamily="2" charset="2"/>
              <a:buChar char="Ø"/>
            </a:pPr>
            <a:r>
              <a:rPr lang="en-IN" sz="2000" dirty="0"/>
              <a:t>To overcome this situation, another holdout portion is needed for final assessment. This holdout portion is called the “</a:t>
            </a:r>
            <a:r>
              <a:rPr lang="en-IN" sz="2000" i="1" dirty="0"/>
              <a:t>test data set</a:t>
            </a:r>
            <a:r>
              <a:rPr lang="en-IN" sz="2000" dirty="0"/>
              <a:t>”. </a:t>
            </a:r>
          </a:p>
          <a:p>
            <a:endParaRPr lang="en-IN" sz="2000" dirty="0"/>
          </a:p>
          <a:p>
            <a:pPr marL="285750" indent="-285750">
              <a:buFont typeface="Wingdings" pitchFamily="2" charset="2"/>
              <a:buChar char="Ø"/>
            </a:pPr>
            <a:r>
              <a:rPr lang="en-IN" sz="2000" dirty="0"/>
              <a:t>To conclude, if model tuning and final assessment are both needed, then the data should be split in three ways into “</a:t>
            </a:r>
            <a:r>
              <a:rPr lang="en-IN" sz="2000" i="1" dirty="0"/>
              <a:t>training</a:t>
            </a:r>
            <a:r>
              <a:rPr lang="en-IN" sz="2000" dirty="0"/>
              <a:t>”, “</a:t>
            </a:r>
            <a:r>
              <a:rPr lang="en-IN" sz="2000" i="1" dirty="0"/>
              <a:t>validation</a:t>
            </a:r>
            <a:r>
              <a:rPr lang="en-IN" sz="2000" dirty="0"/>
              <a:t>” and “</a:t>
            </a:r>
            <a:r>
              <a:rPr lang="en-IN" sz="2000" i="1" dirty="0"/>
              <a:t>test</a:t>
            </a:r>
            <a:r>
              <a:rPr lang="en-IN" sz="2000" dirty="0"/>
              <a:t>” sets.</a:t>
            </a:r>
          </a:p>
          <a:p>
            <a:endParaRPr lang="en-IN" sz="2000" dirty="0"/>
          </a:p>
          <a:p>
            <a:pPr marL="285750" indent="-285750">
              <a:buFont typeface="Wingdings" pitchFamily="2" charset="2"/>
              <a:buChar char="Ø"/>
            </a:pPr>
            <a:r>
              <a:rPr lang="en-IN" sz="2000" dirty="0"/>
              <a:t>In some situation, the test set is gathered from a different time or location.     </a:t>
            </a:r>
            <a:endParaRPr lang="en-IN" sz="2000" dirty="0">
              <a:effectLst/>
            </a:endParaRPr>
          </a:p>
        </p:txBody>
      </p:sp>
    </p:spTree>
    <p:extLst>
      <p:ext uri="{BB962C8B-B14F-4D97-AF65-F5344CB8AC3E}">
        <p14:creationId xmlns:p14="http://schemas.microsoft.com/office/powerpoint/2010/main" val="930019599"/>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solidFill>
                  <a:srgbClr val="FF0000"/>
                </a:solidFill>
              </a:rPr>
              <a:t>Honest Assessment</a:t>
            </a:r>
          </a:p>
        </p:txBody>
      </p:sp>
      <p:sp>
        <p:nvSpPr>
          <p:cNvPr id="3" name="Rectangle 2"/>
          <p:cNvSpPr/>
          <p:nvPr/>
        </p:nvSpPr>
        <p:spPr>
          <a:xfrm>
            <a:off x="8460231" y="2489663"/>
            <a:ext cx="184730" cy="923330"/>
          </a:xfrm>
          <a:prstGeom prst="rect">
            <a:avLst/>
          </a:prstGeom>
          <a:noFill/>
        </p:spPr>
        <p:txBody>
          <a:bodyPr wrap="none" lIns="91440" tIns="45720" rIns="91440" bIns="45720">
            <a:spAutoFit/>
          </a:bodyPr>
          <a:lstStyle/>
          <a:p>
            <a:pPr algn="ctr"/>
            <a:endParaRPr lang="en-US" sz="5400" b="0" cap="none" spc="0" dirty="0">
              <a:ln w="0"/>
              <a:solidFill>
                <a:schemeClr val="tx1"/>
              </a:solidFill>
              <a:effectLst>
                <a:outerShdw blurRad="38100" dist="19050" dir="2700000" algn="tl" rotWithShape="0">
                  <a:schemeClr val="dk1">
                    <a:alpha val="40000"/>
                  </a:schemeClr>
                </a:outerShdw>
              </a:effectLst>
            </a:endParaRPr>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37846" y="1669000"/>
            <a:ext cx="10034954" cy="48443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728888782"/>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solidFill>
                  <a:srgbClr val="FF0000"/>
                </a:solidFill>
              </a:rPr>
              <a:t>Honest Assessment</a:t>
            </a:r>
          </a:p>
        </p:txBody>
      </p:sp>
      <p:sp>
        <p:nvSpPr>
          <p:cNvPr id="3" name="Rectangle 2"/>
          <p:cNvSpPr/>
          <p:nvPr/>
        </p:nvSpPr>
        <p:spPr>
          <a:xfrm>
            <a:off x="8460231" y="2489663"/>
            <a:ext cx="184730" cy="923330"/>
          </a:xfrm>
          <a:prstGeom prst="rect">
            <a:avLst/>
          </a:prstGeom>
          <a:noFill/>
        </p:spPr>
        <p:txBody>
          <a:bodyPr wrap="none" lIns="91440" tIns="45720" rIns="91440" bIns="45720">
            <a:spAutoFit/>
          </a:bodyPr>
          <a:lstStyle/>
          <a:p>
            <a:pPr algn="ctr"/>
            <a:endParaRPr lang="en-US" sz="5400" b="0" cap="none" spc="0" dirty="0">
              <a:ln w="0"/>
              <a:solidFill>
                <a:schemeClr val="tx1"/>
              </a:solidFill>
              <a:effectLst>
                <a:outerShdw blurRad="38100" dist="19050" dir="2700000" algn="tl" rotWithShape="0">
                  <a:schemeClr val="dk1">
                    <a:alpha val="40000"/>
                  </a:schemeClr>
                </a:outerShdw>
              </a:effectLst>
            </a:endParaRPr>
          </a:p>
        </p:txBody>
      </p:sp>
      <p:sp>
        <p:nvSpPr>
          <p:cNvPr id="2" name="Rectangle 1"/>
          <p:cNvSpPr/>
          <p:nvPr/>
        </p:nvSpPr>
        <p:spPr>
          <a:xfrm>
            <a:off x="853440" y="1680815"/>
            <a:ext cx="10049022" cy="4154984"/>
          </a:xfrm>
          <a:prstGeom prst="rect">
            <a:avLst/>
          </a:prstGeom>
        </p:spPr>
        <p:txBody>
          <a:bodyPr wrap="square">
            <a:spAutoFit/>
          </a:bodyPr>
          <a:lstStyle/>
          <a:p>
            <a:pPr marL="342900" indent="-342900">
              <a:buFont typeface="Wingdings" pitchFamily="2" charset="2"/>
              <a:buChar char="Ø"/>
            </a:pPr>
            <a:r>
              <a:rPr lang="en-IN" sz="2200" dirty="0"/>
              <a:t>Split the data into training and validation sets. Redo the input preparation and the model fitting on the training data set. </a:t>
            </a:r>
          </a:p>
          <a:p>
            <a:endParaRPr lang="en-IN" sz="2200" dirty="0"/>
          </a:p>
          <a:p>
            <a:pPr marL="342900" indent="-342900">
              <a:buFont typeface="Wingdings" pitchFamily="2" charset="2"/>
              <a:buChar char="Ø"/>
            </a:pPr>
            <a:r>
              <a:rPr lang="en-IN" sz="2200" dirty="0"/>
              <a:t>The validation data will be used for assessment. Consequently, it needs to be treated as if it were truly new data where target variable value is unknown. </a:t>
            </a:r>
          </a:p>
          <a:p>
            <a:endParaRPr lang="en-IN" sz="2200" dirty="0"/>
          </a:p>
          <a:p>
            <a:pPr marL="342900" indent="-342900">
              <a:buFont typeface="Wingdings" pitchFamily="2" charset="2"/>
              <a:buChar char="Ø"/>
            </a:pPr>
            <a:r>
              <a:rPr lang="en-IN" sz="2200" dirty="0"/>
              <a:t>The result of the analysis on the training data set need to be applied to the validation data, not recalculated. </a:t>
            </a:r>
          </a:p>
          <a:p>
            <a:endParaRPr lang="en-IN" sz="2200" dirty="0"/>
          </a:p>
          <a:p>
            <a:pPr marL="342900" indent="-342900">
              <a:buFont typeface="Wingdings" pitchFamily="2" charset="2"/>
              <a:buChar char="Ø"/>
            </a:pPr>
            <a:r>
              <a:rPr lang="en-IN" sz="2200" dirty="0"/>
              <a:t>Several input-preparation steps can be done before the data are split. Creating missing indicator variables should be done on full data because result will not be change. </a:t>
            </a:r>
            <a:endParaRPr lang="en-IN" sz="2200" dirty="0">
              <a:effectLst/>
            </a:endParaRPr>
          </a:p>
        </p:txBody>
      </p:sp>
    </p:spTree>
    <p:extLst>
      <p:ext uri="{BB962C8B-B14F-4D97-AF65-F5344CB8AC3E}">
        <p14:creationId xmlns:p14="http://schemas.microsoft.com/office/powerpoint/2010/main" val="1529956523"/>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solidFill>
                  <a:srgbClr val="FF0000"/>
                </a:solidFill>
              </a:rPr>
              <a:t>Rare Event</a:t>
            </a:r>
          </a:p>
        </p:txBody>
      </p:sp>
      <p:sp>
        <p:nvSpPr>
          <p:cNvPr id="3" name="Rectangle 2"/>
          <p:cNvSpPr/>
          <p:nvPr/>
        </p:nvSpPr>
        <p:spPr>
          <a:xfrm>
            <a:off x="8460231" y="2489663"/>
            <a:ext cx="184730" cy="923330"/>
          </a:xfrm>
          <a:prstGeom prst="rect">
            <a:avLst/>
          </a:prstGeom>
          <a:noFill/>
        </p:spPr>
        <p:txBody>
          <a:bodyPr wrap="none" lIns="91440" tIns="45720" rIns="91440" bIns="45720">
            <a:spAutoFit/>
          </a:bodyPr>
          <a:lstStyle/>
          <a:p>
            <a:pPr algn="ctr"/>
            <a:endParaRPr lang="en-US" sz="5400" b="0" cap="none" spc="0" dirty="0">
              <a:ln w="0"/>
              <a:solidFill>
                <a:schemeClr val="tx1"/>
              </a:solidFill>
              <a:effectLst>
                <a:outerShdw blurRad="38100" dist="19050" dir="2700000" algn="tl" rotWithShape="0">
                  <a:schemeClr val="dk1">
                    <a:alpha val="40000"/>
                  </a:schemeClr>
                </a:outerShdw>
              </a:effectLst>
            </a:endParaRPr>
          </a:p>
        </p:txBody>
      </p:sp>
      <p:pic>
        <p:nvPicPr>
          <p:cNvPr id="6" name="Picture 5">
            <a:extLst>
              <a:ext uri="{FF2B5EF4-FFF2-40B4-BE49-F238E27FC236}">
                <a16:creationId xmlns:a16="http://schemas.microsoft.com/office/drawing/2014/main" id="{E239304A-D6CE-42D5-B039-BB39E0FAD1D9}"/>
              </a:ext>
            </a:extLst>
          </p:cNvPr>
          <p:cNvPicPr>
            <a:picLocks noChangeAspect="1"/>
          </p:cNvPicPr>
          <p:nvPr/>
        </p:nvPicPr>
        <p:blipFill>
          <a:blip r:embed="rId2"/>
          <a:stretch>
            <a:fillRect/>
          </a:stretch>
        </p:blipFill>
        <p:spPr>
          <a:xfrm>
            <a:off x="936590" y="1817853"/>
            <a:ext cx="4676775" cy="2266950"/>
          </a:xfrm>
          <a:prstGeom prst="rect">
            <a:avLst/>
          </a:prstGeom>
        </p:spPr>
      </p:pic>
      <p:pic>
        <p:nvPicPr>
          <p:cNvPr id="8" name="Picture 7">
            <a:extLst>
              <a:ext uri="{FF2B5EF4-FFF2-40B4-BE49-F238E27FC236}">
                <a16:creationId xmlns:a16="http://schemas.microsoft.com/office/drawing/2014/main" id="{5F3D53E2-E24F-4AD1-BFB3-136099E37711}"/>
              </a:ext>
            </a:extLst>
          </p:cNvPr>
          <p:cNvPicPr>
            <a:picLocks noChangeAspect="1"/>
          </p:cNvPicPr>
          <p:nvPr/>
        </p:nvPicPr>
        <p:blipFill>
          <a:blip r:embed="rId3"/>
          <a:stretch>
            <a:fillRect/>
          </a:stretch>
        </p:blipFill>
        <p:spPr>
          <a:xfrm>
            <a:off x="6724650" y="1217778"/>
            <a:ext cx="4629150" cy="3467100"/>
          </a:xfrm>
          <a:prstGeom prst="rect">
            <a:avLst/>
          </a:prstGeom>
        </p:spPr>
      </p:pic>
      <p:sp>
        <p:nvSpPr>
          <p:cNvPr id="10" name="TextBox 9">
            <a:extLst>
              <a:ext uri="{FF2B5EF4-FFF2-40B4-BE49-F238E27FC236}">
                <a16:creationId xmlns:a16="http://schemas.microsoft.com/office/drawing/2014/main" id="{B16F28EE-077B-49A2-941F-74C335ECB79A}"/>
              </a:ext>
            </a:extLst>
          </p:cNvPr>
          <p:cNvSpPr txBox="1"/>
          <p:nvPr/>
        </p:nvSpPr>
        <p:spPr>
          <a:xfrm>
            <a:off x="838199" y="5027626"/>
            <a:ext cx="10270787" cy="1367234"/>
          </a:xfrm>
          <a:prstGeom prst="rect">
            <a:avLst/>
          </a:prstGeom>
          <a:noFill/>
        </p:spPr>
        <p:txBody>
          <a:bodyPr wrap="square">
            <a:spAutoFit/>
          </a:bodyPr>
          <a:lstStyle/>
          <a:p>
            <a:pPr>
              <a:lnSpc>
                <a:spcPct val="107000"/>
              </a:lnSpc>
              <a:spcAft>
                <a:spcPts val="80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In joint sampling, the input-target pairs are randomly selected from their joint distribution. </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In separate sampling, the inputs are randomly selected from their distributions within each target class. Separate sampling is standard practice when the target event is rare. It is common to oversample the rare event, that is, take a disproportionately large number of rare event cases. </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144275210"/>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solidFill>
                  <a:srgbClr val="FF0000"/>
                </a:solidFill>
              </a:rPr>
              <a:t>Rare Event</a:t>
            </a:r>
          </a:p>
        </p:txBody>
      </p:sp>
      <p:sp>
        <p:nvSpPr>
          <p:cNvPr id="3" name="Rectangle 2"/>
          <p:cNvSpPr/>
          <p:nvPr/>
        </p:nvSpPr>
        <p:spPr>
          <a:xfrm>
            <a:off x="8460231" y="2489663"/>
            <a:ext cx="184730" cy="923330"/>
          </a:xfrm>
          <a:prstGeom prst="rect">
            <a:avLst/>
          </a:prstGeom>
          <a:noFill/>
        </p:spPr>
        <p:txBody>
          <a:bodyPr wrap="none" lIns="91440" tIns="45720" rIns="91440" bIns="45720">
            <a:spAutoFit/>
          </a:bodyPr>
          <a:lstStyle/>
          <a:p>
            <a:pPr algn="ctr"/>
            <a:endParaRPr lang="en-US" sz="5400" b="0" cap="none" spc="0" dirty="0">
              <a:ln w="0"/>
              <a:solidFill>
                <a:schemeClr val="tx1"/>
              </a:solidFill>
              <a:effectLst>
                <a:outerShdw blurRad="38100" dist="19050" dir="2700000" algn="tl" rotWithShape="0">
                  <a:schemeClr val="dk1">
                    <a:alpha val="40000"/>
                  </a:schemeClr>
                </a:outerShdw>
              </a:effectLst>
            </a:endParaRPr>
          </a:p>
        </p:txBody>
      </p:sp>
      <p:pic>
        <p:nvPicPr>
          <p:cNvPr id="5" name="Picture 4">
            <a:extLst>
              <a:ext uri="{FF2B5EF4-FFF2-40B4-BE49-F238E27FC236}">
                <a16:creationId xmlns:a16="http://schemas.microsoft.com/office/drawing/2014/main" id="{34E673EC-87E7-40E3-AB06-4AC0E6E84F72}"/>
              </a:ext>
            </a:extLst>
          </p:cNvPr>
          <p:cNvPicPr>
            <a:picLocks noChangeAspect="1"/>
          </p:cNvPicPr>
          <p:nvPr/>
        </p:nvPicPr>
        <p:blipFill>
          <a:blip r:embed="rId2"/>
          <a:stretch>
            <a:fillRect/>
          </a:stretch>
        </p:blipFill>
        <p:spPr>
          <a:xfrm>
            <a:off x="838200" y="5011933"/>
            <a:ext cx="9978957" cy="1547949"/>
          </a:xfrm>
          <a:prstGeom prst="rect">
            <a:avLst/>
          </a:prstGeom>
        </p:spPr>
      </p:pic>
      <p:sp>
        <p:nvSpPr>
          <p:cNvPr id="11" name="TextBox 10">
            <a:extLst>
              <a:ext uri="{FF2B5EF4-FFF2-40B4-BE49-F238E27FC236}">
                <a16:creationId xmlns:a16="http://schemas.microsoft.com/office/drawing/2014/main" id="{DA9600DA-3C36-4983-AA01-FD24B06692F7}"/>
              </a:ext>
            </a:extLst>
          </p:cNvPr>
          <p:cNvSpPr txBox="1"/>
          <p:nvPr/>
        </p:nvSpPr>
        <p:spPr>
          <a:xfrm>
            <a:off x="795236" y="1967831"/>
            <a:ext cx="6094378" cy="2849050"/>
          </a:xfrm>
          <a:prstGeom prst="rect">
            <a:avLst/>
          </a:prstGeom>
          <a:noFill/>
        </p:spPr>
        <p:txBody>
          <a:bodyPr wrap="square">
            <a:spAutoFit/>
          </a:bodyPr>
          <a:lstStyle/>
          <a:p>
            <a:pPr>
              <a:lnSpc>
                <a:spcPct val="107000"/>
              </a:lnSpc>
              <a:spcAft>
                <a:spcPts val="80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The maximum likelihood estimates are derived under the assumption that Y have independent binomial distribution. This assumption is appropriate for joint sampling but not for the separate sampling. However, the effects of violating this assumption can be easily corrected. In standard logistic regression model, only parameter estimate of intercept (B0) would be impacted.  </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The appropriate adjustment of oversampling is to add the </a:t>
            </a:r>
            <a:r>
              <a:rPr lang="en-US" sz="1800" b="1" i="1" dirty="0">
                <a:effectLst/>
                <a:latin typeface="Calibri" panose="020F0502020204030204" pitchFamily="34" charset="0"/>
                <a:ea typeface="Calibri" panose="020F0502020204030204" pitchFamily="34" charset="0"/>
                <a:cs typeface="Times New Roman" panose="02020603050405020304" pitchFamily="18" charset="0"/>
              </a:rPr>
              <a:t>offset</a:t>
            </a:r>
            <a:r>
              <a:rPr lang="en-US" sz="1800" dirty="0">
                <a:effectLst/>
                <a:latin typeface="Calibri" panose="020F0502020204030204" pitchFamily="34" charset="0"/>
                <a:ea typeface="Calibri" panose="020F0502020204030204" pitchFamily="34" charset="0"/>
                <a:cs typeface="Times New Roman" panose="02020603050405020304" pitchFamily="18" charset="0"/>
              </a:rPr>
              <a:t> variable in the model as follow:</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12" name="Picture 11">
            <a:extLst>
              <a:ext uri="{FF2B5EF4-FFF2-40B4-BE49-F238E27FC236}">
                <a16:creationId xmlns:a16="http://schemas.microsoft.com/office/drawing/2014/main" id="{BED0872F-76F1-4893-B07E-52F9AEA6E70B}"/>
              </a:ext>
            </a:extLst>
          </p:cNvPr>
          <p:cNvPicPr>
            <a:picLocks noChangeAspect="1"/>
          </p:cNvPicPr>
          <p:nvPr/>
        </p:nvPicPr>
        <p:blipFill>
          <a:blip r:embed="rId3"/>
          <a:stretch>
            <a:fillRect/>
          </a:stretch>
        </p:blipFill>
        <p:spPr>
          <a:xfrm>
            <a:off x="7239304" y="2903814"/>
            <a:ext cx="4472798" cy="771627"/>
          </a:xfrm>
          <a:prstGeom prst="rect">
            <a:avLst/>
          </a:prstGeom>
        </p:spPr>
      </p:pic>
    </p:spTree>
    <p:extLst>
      <p:ext uri="{BB962C8B-B14F-4D97-AF65-F5344CB8AC3E}">
        <p14:creationId xmlns:p14="http://schemas.microsoft.com/office/powerpoint/2010/main" val="3390466230"/>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solidFill>
                  <a:srgbClr val="FF0000"/>
                </a:solidFill>
              </a:rPr>
              <a:t>Rare Event</a:t>
            </a:r>
          </a:p>
        </p:txBody>
      </p:sp>
      <p:sp>
        <p:nvSpPr>
          <p:cNvPr id="3" name="Rectangle 2"/>
          <p:cNvSpPr/>
          <p:nvPr/>
        </p:nvSpPr>
        <p:spPr>
          <a:xfrm>
            <a:off x="8460231" y="2489663"/>
            <a:ext cx="184730" cy="923330"/>
          </a:xfrm>
          <a:prstGeom prst="rect">
            <a:avLst/>
          </a:prstGeom>
          <a:noFill/>
        </p:spPr>
        <p:txBody>
          <a:bodyPr wrap="none" lIns="91440" tIns="45720" rIns="91440" bIns="45720">
            <a:spAutoFit/>
          </a:bodyPr>
          <a:lstStyle/>
          <a:p>
            <a:pPr algn="ctr"/>
            <a:endParaRPr lang="en-US" sz="5400" b="0" cap="none" spc="0" dirty="0">
              <a:ln w="0"/>
              <a:solidFill>
                <a:schemeClr val="tx1"/>
              </a:solidFill>
              <a:effectLst>
                <a:outerShdw blurRad="38100" dist="19050" dir="2700000" algn="tl" rotWithShape="0">
                  <a:schemeClr val="dk1">
                    <a:alpha val="40000"/>
                  </a:schemeClr>
                </a:outerShdw>
              </a:effectLst>
            </a:endParaRPr>
          </a:p>
        </p:txBody>
      </p:sp>
      <p:pic>
        <p:nvPicPr>
          <p:cNvPr id="6" name="Picture 5">
            <a:extLst>
              <a:ext uri="{FF2B5EF4-FFF2-40B4-BE49-F238E27FC236}">
                <a16:creationId xmlns:a16="http://schemas.microsoft.com/office/drawing/2014/main" id="{81FD9DE2-551E-4207-BEB7-49E568690C0F}"/>
              </a:ext>
            </a:extLst>
          </p:cNvPr>
          <p:cNvPicPr>
            <a:picLocks noChangeAspect="1"/>
          </p:cNvPicPr>
          <p:nvPr/>
        </p:nvPicPr>
        <p:blipFill>
          <a:blip r:embed="rId2"/>
          <a:stretch>
            <a:fillRect/>
          </a:stretch>
        </p:blipFill>
        <p:spPr>
          <a:xfrm>
            <a:off x="4390417" y="3429000"/>
            <a:ext cx="2438400" cy="657225"/>
          </a:xfrm>
          <a:prstGeom prst="rect">
            <a:avLst/>
          </a:prstGeom>
        </p:spPr>
      </p:pic>
      <p:sp>
        <p:nvSpPr>
          <p:cNvPr id="10" name="TextBox 9">
            <a:extLst>
              <a:ext uri="{FF2B5EF4-FFF2-40B4-BE49-F238E27FC236}">
                <a16:creationId xmlns:a16="http://schemas.microsoft.com/office/drawing/2014/main" id="{7FC05BCB-2DCB-411F-9540-E13A04818D5B}"/>
              </a:ext>
            </a:extLst>
          </p:cNvPr>
          <p:cNvSpPr txBox="1"/>
          <p:nvPr/>
        </p:nvSpPr>
        <p:spPr>
          <a:xfrm>
            <a:off x="3048811" y="1759889"/>
            <a:ext cx="6094378" cy="968278"/>
          </a:xfrm>
          <a:prstGeom prst="rect">
            <a:avLst/>
          </a:prstGeom>
          <a:noFill/>
        </p:spPr>
        <p:txBody>
          <a:bodyPr wrap="square">
            <a:spAutoFit/>
          </a:bodyPr>
          <a:lstStyle/>
          <a:p>
            <a:pPr>
              <a:lnSpc>
                <a:spcPct val="107000"/>
              </a:lnSpc>
              <a:spcAft>
                <a:spcPts val="80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We can directly fit the model discussed in previous slide. Alternatively, the offset can be applied after the standard model is fitted by using following formula.  </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9" name="Picture 8">
            <a:extLst>
              <a:ext uri="{FF2B5EF4-FFF2-40B4-BE49-F238E27FC236}">
                <a16:creationId xmlns:a16="http://schemas.microsoft.com/office/drawing/2014/main" id="{141D4377-F6B7-47AE-AC33-F070727B5E48}"/>
              </a:ext>
            </a:extLst>
          </p:cNvPr>
          <p:cNvPicPr>
            <a:picLocks noChangeAspect="1"/>
          </p:cNvPicPr>
          <p:nvPr/>
        </p:nvPicPr>
        <p:blipFill>
          <a:blip r:embed="rId3"/>
          <a:stretch>
            <a:fillRect/>
          </a:stretch>
        </p:blipFill>
        <p:spPr>
          <a:xfrm>
            <a:off x="1809345" y="4977960"/>
            <a:ext cx="9182910" cy="1325563"/>
          </a:xfrm>
          <a:prstGeom prst="rect">
            <a:avLst/>
          </a:prstGeom>
        </p:spPr>
      </p:pic>
    </p:spTree>
    <p:extLst>
      <p:ext uri="{BB962C8B-B14F-4D97-AF65-F5344CB8AC3E}">
        <p14:creationId xmlns:p14="http://schemas.microsoft.com/office/powerpoint/2010/main" val="3461219700"/>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3" name="Rectangle 2"/>
          <p:cNvSpPr/>
          <p:nvPr/>
        </p:nvSpPr>
        <p:spPr>
          <a:xfrm>
            <a:off x="8460231" y="2489663"/>
            <a:ext cx="184730" cy="923330"/>
          </a:xfrm>
          <a:prstGeom prst="rect">
            <a:avLst/>
          </a:prstGeom>
          <a:noFill/>
        </p:spPr>
        <p:txBody>
          <a:bodyPr wrap="none" lIns="91440" tIns="45720" rIns="91440" bIns="45720">
            <a:spAutoFit/>
          </a:bodyPr>
          <a:lstStyle/>
          <a:p>
            <a:pPr algn="ctr"/>
            <a:endParaRPr lang="en-US" sz="5400" b="0" cap="none" spc="0" dirty="0">
              <a:ln w="0"/>
              <a:solidFill>
                <a:schemeClr val="tx1"/>
              </a:solidFill>
              <a:effectLst>
                <a:outerShdw blurRad="38100" dist="19050" dir="2700000" algn="tl" rotWithShape="0">
                  <a:schemeClr val="dk1">
                    <a:alpha val="40000"/>
                  </a:schemeClr>
                </a:outerShdw>
              </a:effectLst>
            </a:endParaRPr>
          </a:p>
        </p:txBody>
      </p:sp>
      <p:sp>
        <p:nvSpPr>
          <p:cNvPr id="5" name="Rectangle 4"/>
          <p:cNvSpPr/>
          <p:nvPr/>
        </p:nvSpPr>
        <p:spPr>
          <a:xfrm>
            <a:off x="3951691" y="2689718"/>
            <a:ext cx="3142207" cy="1446550"/>
          </a:xfrm>
          <a:prstGeom prst="rect">
            <a:avLst/>
          </a:prstGeom>
          <a:noFill/>
        </p:spPr>
        <p:txBody>
          <a:bodyPr wrap="none" lIns="91440" tIns="45720" rIns="91440" bIns="45720">
            <a:spAutoFit/>
          </a:bodyPr>
          <a:lstStyle/>
          <a:p>
            <a:pPr algn="ctr"/>
            <a:r>
              <a:rPr lang="en-US" sz="8800" b="0" cap="none" spc="0" dirty="0">
                <a:ln w="0"/>
                <a:solidFill>
                  <a:srgbClr val="FFFF00"/>
                </a:solidFill>
                <a:effectLst>
                  <a:outerShdw blurRad="38100" dist="19050" dir="2700000" algn="tl" rotWithShape="0">
                    <a:schemeClr val="dk1">
                      <a:alpha val="40000"/>
                    </a:schemeClr>
                  </a:outerShdw>
                </a:effectLst>
              </a:rPr>
              <a:t>DEMO</a:t>
            </a:r>
          </a:p>
        </p:txBody>
      </p:sp>
    </p:spTree>
    <p:extLst>
      <p:ext uri="{BB962C8B-B14F-4D97-AF65-F5344CB8AC3E}">
        <p14:creationId xmlns:p14="http://schemas.microsoft.com/office/powerpoint/2010/main" val="1857634570"/>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solidFill>
                  <a:srgbClr val="FF0000"/>
                </a:solidFill>
              </a:rPr>
              <a:t>Confusion Matrix</a:t>
            </a:r>
          </a:p>
        </p:txBody>
      </p:sp>
      <p:sp>
        <p:nvSpPr>
          <p:cNvPr id="3" name="Rectangle 2"/>
          <p:cNvSpPr/>
          <p:nvPr/>
        </p:nvSpPr>
        <p:spPr>
          <a:xfrm>
            <a:off x="8460231" y="2489663"/>
            <a:ext cx="184730" cy="923330"/>
          </a:xfrm>
          <a:prstGeom prst="rect">
            <a:avLst/>
          </a:prstGeom>
          <a:noFill/>
        </p:spPr>
        <p:txBody>
          <a:bodyPr wrap="none" lIns="91440" tIns="45720" rIns="91440" bIns="45720">
            <a:spAutoFit/>
          </a:bodyPr>
          <a:lstStyle/>
          <a:p>
            <a:pPr algn="ctr"/>
            <a:endParaRPr lang="en-US" sz="5400" b="0" cap="none" spc="0" dirty="0">
              <a:ln w="0"/>
              <a:solidFill>
                <a:schemeClr val="tx1"/>
              </a:solidFill>
              <a:effectLst>
                <a:outerShdw blurRad="38100" dist="19050" dir="2700000" algn="tl" rotWithShape="0">
                  <a:schemeClr val="dk1">
                    <a:alpha val="40000"/>
                  </a:schemeClr>
                </a:outerShdw>
              </a:effectLst>
            </a:endParaRPr>
          </a:p>
        </p:txBody>
      </p:sp>
      <p:sp>
        <p:nvSpPr>
          <p:cNvPr id="8" name="TextBox 7">
            <a:extLst>
              <a:ext uri="{FF2B5EF4-FFF2-40B4-BE49-F238E27FC236}">
                <a16:creationId xmlns:a16="http://schemas.microsoft.com/office/drawing/2014/main" id="{39B35900-BF58-42B7-925F-C28729326FF1}"/>
              </a:ext>
            </a:extLst>
          </p:cNvPr>
          <p:cNvSpPr txBox="1"/>
          <p:nvPr/>
        </p:nvSpPr>
        <p:spPr>
          <a:xfrm>
            <a:off x="838200" y="1690688"/>
            <a:ext cx="9134272" cy="1953740"/>
          </a:xfrm>
          <a:prstGeom prst="rect">
            <a:avLst/>
          </a:prstGeom>
          <a:noFill/>
        </p:spPr>
        <p:txBody>
          <a:bodyPr wrap="square">
            <a:spAutoFit/>
          </a:bodyPr>
          <a:lstStyle/>
          <a:p>
            <a:pPr>
              <a:lnSpc>
                <a:spcPct val="107000"/>
              </a:lnSpc>
              <a:spcAft>
                <a:spcPts val="80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Supervised classification does not usually end with estimate of the probabilities. An allocation rule corresponds to a threshold value (cutoff) of the predicted probability. For example, all the cases with probabilities of purchasing insurance product greater than 0.4 are potential customers and company will target only those customers while sending discount/promotional offers. </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r>
              <a:rPr lang="en-US" sz="1800" dirty="0">
                <a:effectLst/>
                <a:latin typeface="Calibri" panose="020F0502020204030204" pitchFamily="34" charset="0"/>
                <a:ea typeface="Calibri" panose="020F0502020204030204" pitchFamily="34" charset="0"/>
                <a:cs typeface="Times New Roman" panose="02020603050405020304" pitchFamily="18" charset="0"/>
              </a:rPr>
              <a:t>Here, the question is how well does the classifier/threshold/cutoff perform?</a:t>
            </a:r>
            <a:endParaRPr lang="en-IN" dirty="0"/>
          </a:p>
        </p:txBody>
      </p:sp>
    </p:spTree>
    <p:extLst>
      <p:ext uri="{BB962C8B-B14F-4D97-AF65-F5344CB8AC3E}">
        <p14:creationId xmlns:p14="http://schemas.microsoft.com/office/powerpoint/2010/main" val="471914184"/>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solidFill>
                  <a:srgbClr val="FF0000"/>
                </a:solidFill>
              </a:rPr>
              <a:t>Confusion Matrix</a:t>
            </a:r>
          </a:p>
        </p:txBody>
      </p:sp>
      <p:sp>
        <p:nvSpPr>
          <p:cNvPr id="3" name="Rectangle 2"/>
          <p:cNvSpPr/>
          <p:nvPr/>
        </p:nvSpPr>
        <p:spPr>
          <a:xfrm>
            <a:off x="8460231" y="2489663"/>
            <a:ext cx="184730" cy="923330"/>
          </a:xfrm>
          <a:prstGeom prst="rect">
            <a:avLst/>
          </a:prstGeom>
          <a:noFill/>
        </p:spPr>
        <p:txBody>
          <a:bodyPr wrap="none" lIns="91440" tIns="45720" rIns="91440" bIns="45720">
            <a:spAutoFit/>
          </a:bodyPr>
          <a:lstStyle/>
          <a:p>
            <a:pPr algn="ctr"/>
            <a:endParaRPr lang="en-US" sz="5400" b="0" cap="none" spc="0" dirty="0">
              <a:ln w="0"/>
              <a:solidFill>
                <a:schemeClr val="tx1"/>
              </a:solidFill>
              <a:effectLst>
                <a:outerShdw blurRad="38100" dist="19050" dir="2700000" algn="tl" rotWithShape="0">
                  <a:schemeClr val="dk1">
                    <a:alpha val="40000"/>
                  </a:schemeClr>
                </a:outerShdw>
              </a:effectLst>
            </a:endParaRPr>
          </a:p>
        </p:txBody>
      </p:sp>
      <p:sp>
        <p:nvSpPr>
          <p:cNvPr id="6" name="TextBox 5">
            <a:extLst>
              <a:ext uri="{FF2B5EF4-FFF2-40B4-BE49-F238E27FC236}">
                <a16:creationId xmlns:a16="http://schemas.microsoft.com/office/drawing/2014/main" id="{48470330-07B5-40F4-A570-24DB80DF0BAF}"/>
              </a:ext>
            </a:extLst>
          </p:cNvPr>
          <p:cNvSpPr txBox="1"/>
          <p:nvPr/>
        </p:nvSpPr>
        <p:spPr>
          <a:xfrm>
            <a:off x="838200" y="2186642"/>
            <a:ext cx="6094378" cy="2951642"/>
          </a:xfrm>
          <a:prstGeom prst="rect">
            <a:avLst/>
          </a:prstGeom>
          <a:noFill/>
        </p:spPr>
        <p:txBody>
          <a:bodyPr wrap="square">
            <a:spAutoFit/>
          </a:bodyPr>
          <a:lstStyle/>
          <a:p>
            <a:pPr>
              <a:lnSpc>
                <a:spcPct val="107000"/>
              </a:lnSpc>
              <a:spcAft>
                <a:spcPts val="80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The fundamental assessment tool is </a:t>
            </a:r>
            <a:r>
              <a:rPr lang="en-US" sz="1800" b="1" i="1" dirty="0">
                <a:effectLst/>
                <a:latin typeface="Calibri" panose="020F0502020204030204" pitchFamily="34" charset="0"/>
                <a:ea typeface="Calibri" panose="020F0502020204030204" pitchFamily="34" charset="0"/>
                <a:cs typeface="Times New Roman" panose="02020603050405020304" pitchFamily="18" charset="0"/>
              </a:rPr>
              <a:t>confusion matrix. </a:t>
            </a:r>
            <a:r>
              <a:rPr lang="en-US" sz="1800" dirty="0">
                <a:effectLst/>
                <a:latin typeface="Calibri" panose="020F0502020204030204" pitchFamily="34" charset="0"/>
                <a:ea typeface="Calibri" panose="020F0502020204030204" pitchFamily="34" charset="0"/>
                <a:cs typeface="Times New Roman" panose="02020603050405020304" pitchFamily="18" charset="0"/>
              </a:rPr>
              <a:t>The confusion matrix is a crosstabulation of actual and predicted classes. It quantifies confusion of classifier. The event of interest whether it is unfavorable (like fraud,  churn or default) or favorable (like response to offer) is often called positive. The simplest performance statistics are </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US" sz="1800" b="1" i="1" dirty="0">
                <a:effectLst/>
                <a:latin typeface="Calibri" panose="020F0502020204030204" pitchFamily="34" charset="0"/>
                <a:ea typeface="Calibri" panose="020F0502020204030204" pitchFamily="34" charset="0"/>
                <a:cs typeface="Times New Roman" panose="02020603050405020304" pitchFamily="18" charset="0"/>
              </a:rPr>
              <a:t>Accuracy</a:t>
            </a:r>
            <a:r>
              <a:rPr lang="en-US" sz="1800" dirty="0">
                <a:effectLst/>
                <a:latin typeface="Calibri" panose="020F0502020204030204" pitchFamily="34" charset="0"/>
                <a:ea typeface="Calibri" panose="020F0502020204030204" pitchFamily="34" charset="0"/>
                <a:cs typeface="Times New Roman" panose="02020603050405020304" pitchFamily="18" charset="0"/>
              </a:rPr>
              <a:t> = (true positives + true negatives) / total cases</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US" sz="1800" b="1" i="1" dirty="0">
                <a:effectLst/>
                <a:latin typeface="Calibri" panose="020F0502020204030204" pitchFamily="34" charset="0"/>
                <a:ea typeface="Calibri" panose="020F0502020204030204" pitchFamily="34" charset="0"/>
                <a:cs typeface="Times New Roman" panose="02020603050405020304" pitchFamily="18" charset="0"/>
              </a:rPr>
              <a:t>Error </a:t>
            </a:r>
            <a:r>
              <a:rPr lang="en-US" b="1" i="1" dirty="0">
                <a:latin typeface="Calibri" panose="020F0502020204030204" pitchFamily="34" charset="0"/>
                <a:ea typeface="Calibri" panose="020F0502020204030204" pitchFamily="34" charset="0"/>
                <a:cs typeface="Times New Roman" panose="02020603050405020304" pitchFamily="18" charset="0"/>
              </a:rPr>
              <a:t>or </a:t>
            </a:r>
            <a:r>
              <a:rPr lang="en-US" sz="1800" b="1" i="1" dirty="0">
                <a:effectLst/>
                <a:latin typeface="Calibri" panose="020F0502020204030204" pitchFamily="34" charset="0"/>
                <a:ea typeface="Calibri" panose="020F0502020204030204" pitchFamily="34" charset="0"/>
                <a:cs typeface="Times New Roman" panose="02020603050405020304" pitchFamily="18" charset="0"/>
              </a:rPr>
              <a:t>misclassification rate</a:t>
            </a:r>
            <a:r>
              <a:rPr lang="en-US" sz="1800" dirty="0">
                <a:effectLst/>
                <a:latin typeface="Calibri" panose="020F0502020204030204" pitchFamily="34" charset="0"/>
                <a:ea typeface="Calibri" panose="020F0502020204030204" pitchFamily="34" charset="0"/>
                <a:cs typeface="Times New Roman" panose="02020603050405020304" pitchFamily="18" charset="0"/>
              </a:rPr>
              <a:t> = (false positive + false negative) / total cases</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7" name="Picture 6">
            <a:extLst>
              <a:ext uri="{FF2B5EF4-FFF2-40B4-BE49-F238E27FC236}">
                <a16:creationId xmlns:a16="http://schemas.microsoft.com/office/drawing/2014/main" id="{38B75BE8-0529-415F-ADCB-A41C5C93DCD4}"/>
              </a:ext>
            </a:extLst>
          </p:cNvPr>
          <p:cNvPicPr>
            <a:picLocks noChangeAspect="1"/>
          </p:cNvPicPr>
          <p:nvPr/>
        </p:nvPicPr>
        <p:blipFill>
          <a:blip r:embed="rId2"/>
          <a:stretch>
            <a:fillRect/>
          </a:stretch>
        </p:blipFill>
        <p:spPr>
          <a:xfrm>
            <a:off x="7400621" y="2005113"/>
            <a:ext cx="4219575" cy="3314700"/>
          </a:xfrm>
          <a:prstGeom prst="rect">
            <a:avLst/>
          </a:prstGeom>
        </p:spPr>
      </p:pic>
    </p:spTree>
    <p:extLst>
      <p:ext uri="{BB962C8B-B14F-4D97-AF65-F5344CB8AC3E}">
        <p14:creationId xmlns:p14="http://schemas.microsoft.com/office/powerpoint/2010/main" val="3842193423"/>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solidFill>
                  <a:srgbClr val="FF0000"/>
                </a:solidFill>
              </a:rPr>
              <a:t>Confusion Matrix</a:t>
            </a:r>
          </a:p>
        </p:txBody>
      </p:sp>
      <p:sp>
        <p:nvSpPr>
          <p:cNvPr id="3" name="Rectangle 2"/>
          <p:cNvSpPr/>
          <p:nvPr/>
        </p:nvSpPr>
        <p:spPr>
          <a:xfrm>
            <a:off x="8460231" y="2489663"/>
            <a:ext cx="184730" cy="923330"/>
          </a:xfrm>
          <a:prstGeom prst="rect">
            <a:avLst/>
          </a:prstGeom>
          <a:noFill/>
        </p:spPr>
        <p:txBody>
          <a:bodyPr wrap="none" lIns="91440" tIns="45720" rIns="91440" bIns="45720">
            <a:spAutoFit/>
          </a:bodyPr>
          <a:lstStyle/>
          <a:p>
            <a:pPr algn="ctr"/>
            <a:endParaRPr lang="en-US" sz="5400" b="0" cap="none" spc="0" dirty="0">
              <a:ln w="0"/>
              <a:solidFill>
                <a:schemeClr val="tx1"/>
              </a:solidFill>
              <a:effectLst>
                <a:outerShdw blurRad="38100" dist="19050" dir="2700000" algn="tl" rotWithShape="0">
                  <a:schemeClr val="dk1">
                    <a:alpha val="40000"/>
                  </a:schemeClr>
                </a:outerShdw>
              </a:effectLst>
            </a:endParaRPr>
          </a:p>
        </p:txBody>
      </p:sp>
      <p:pic>
        <p:nvPicPr>
          <p:cNvPr id="5" name="Picture 4">
            <a:extLst>
              <a:ext uri="{FF2B5EF4-FFF2-40B4-BE49-F238E27FC236}">
                <a16:creationId xmlns:a16="http://schemas.microsoft.com/office/drawing/2014/main" id="{7F19C647-90F4-4411-9C28-A5BC969DAD85}"/>
              </a:ext>
            </a:extLst>
          </p:cNvPr>
          <p:cNvPicPr>
            <a:picLocks noChangeAspect="1"/>
          </p:cNvPicPr>
          <p:nvPr/>
        </p:nvPicPr>
        <p:blipFill>
          <a:blip r:embed="rId2"/>
          <a:stretch>
            <a:fillRect/>
          </a:stretch>
        </p:blipFill>
        <p:spPr>
          <a:xfrm>
            <a:off x="953817" y="1920908"/>
            <a:ext cx="4467225" cy="3171825"/>
          </a:xfrm>
          <a:prstGeom prst="rect">
            <a:avLst/>
          </a:prstGeom>
        </p:spPr>
      </p:pic>
      <p:sp>
        <p:nvSpPr>
          <p:cNvPr id="7" name="TextBox 6">
            <a:extLst>
              <a:ext uri="{FF2B5EF4-FFF2-40B4-BE49-F238E27FC236}">
                <a16:creationId xmlns:a16="http://schemas.microsoft.com/office/drawing/2014/main" id="{014818D6-3162-4299-A1A6-46960EE3CA5E}"/>
              </a:ext>
            </a:extLst>
          </p:cNvPr>
          <p:cNvSpPr txBox="1"/>
          <p:nvPr/>
        </p:nvSpPr>
        <p:spPr>
          <a:xfrm>
            <a:off x="5800117" y="2025292"/>
            <a:ext cx="6094378" cy="2963055"/>
          </a:xfrm>
          <a:prstGeom prst="rect">
            <a:avLst/>
          </a:prstGeom>
          <a:noFill/>
        </p:spPr>
        <p:txBody>
          <a:bodyPr wrap="square">
            <a:spAutoFit/>
          </a:bodyPr>
          <a:lstStyle/>
          <a:p>
            <a:pPr>
              <a:lnSpc>
                <a:spcPct val="107000"/>
              </a:lnSpc>
              <a:spcAft>
                <a:spcPts val="80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Two specialized measures of classifier performance are:</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285750" indent="-285750">
              <a:lnSpc>
                <a:spcPct val="107000"/>
              </a:lnSpc>
              <a:spcAft>
                <a:spcPts val="800"/>
              </a:spcAft>
              <a:buFont typeface="Arial" panose="020B0604020202020204" pitchFamily="34" charset="0"/>
              <a:buChar char="•"/>
            </a:pPr>
            <a:r>
              <a:rPr lang="en-US" sz="1800" b="1" i="1" dirty="0">
                <a:effectLst/>
                <a:latin typeface="Calibri" panose="020F0502020204030204" pitchFamily="34" charset="0"/>
                <a:ea typeface="Calibri" panose="020F0502020204030204" pitchFamily="34" charset="0"/>
                <a:cs typeface="Times New Roman" panose="02020603050405020304" pitchFamily="18" charset="0"/>
              </a:rPr>
              <a:t>Sensitivity</a:t>
            </a:r>
            <a:r>
              <a:rPr lang="en-US" sz="1800" dirty="0">
                <a:effectLst/>
                <a:latin typeface="Calibri" panose="020F0502020204030204" pitchFamily="34" charset="0"/>
                <a:ea typeface="Calibri" panose="020F0502020204030204" pitchFamily="34" charset="0"/>
                <a:cs typeface="Times New Roman" panose="02020603050405020304" pitchFamily="18" charset="0"/>
              </a:rPr>
              <a:t> = true positives / total actual positives</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285750" indent="-285750">
              <a:lnSpc>
                <a:spcPct val="107000"/>
              </a:lnSpc>
              <a:spcAft>
                <a:spcPts val="800"/>
              </a:spcAft>
              <a:buFont typeface="Arial" panose="020B0604020202020204" pitchFamily="34" charset="0"/>
              <a:buChar char="•"/>
            </a:pPr>
            <a:r>
              <a:rPr lang="en-US" sz="1800" b="1" i="1" dirty="0">
                <a:effectLst/>
                <a:latin typeface="Calibri" panose="020F0502020204030204" pitchFamily="34" charset="0"/>
                <a:ea typeface="Calibri" panose="020F0502020204030204" pitchFamily="34" charset="0"/>
                <a:cs typeface="Times New Roman" panose="02020603050405020304" pitchFamily="18" charset="0"/>
              </a:rPr>
              <a:t>Positive predicted value (PV+)</a:t>
            </a:r>
            <a:r>
              <a:rPr lang="en-US" sz="1800" dirty="0">
                <a:effectLst/>
                <a:latin typeface="Calibri" panose="020F0502020204030204" pitchFamily="34" charset="0"/>
                <a:ea typeface="Calibri" panose="020F0502020204030204" pitchFamily="34" charset="0"/>
                <a:cs typeface="Times New Roman" panose="02020603050405020304" pitchFamily="18" charset="0"/>
              </a:rPr>
              <a:t> = true positives / total predicted positives</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The analogs to these measures are:</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285750" indent="-285750">
              <a:lnSpc>
                <a:spcPct val="107000"/>
              </a:lnSpc>
              <a:spcAft>
                <a:spcPts val="800"/>
              </a:spcAft>
              <a:buFont typeface="Arial" panose="020B0604020202020204" pitchFamily="34" charset="0"/>
              <a:buChar char="•"/>
            </a:pPr>
            <a:r>
              <a:rPr lang="en-US" sz="1800" b="1" i="1" dirty="0">
                <a:effectLst/>
                <a:latin typeface="Calibri" panose="020F0502020204030204" pitchFamily="34" charset="0"/>
                <a:ea typeface="Calibri" panose="020F0502020204030204" pitchFamily="34" charset="0"/>
                <a:cs typeface="Times New Roman" panose="02020603050405020304" pitchFamily="18" charset="0"/>
              </a:rPr>
              <a:t>Specificity</a:t>
            </a:r>
            <a:r>
              <a:rPr lang="en-US" sz="1800" dirty="0">
                <a:effectLst/>
                <a:latin typeface="Calibri" panose="020F0502020204030204" pitchFamily="34" charset="0"/>
                <a:ea typeface="Calibri" panose="020F0502020204030204" pitchFamily="34" charset="0"/>
                <a:cs typeface="Times New Roman" panose="02020603050405020304" pitchFamily="18" charset="0"/>
              </a:rPr>
              <a:t> = true negatives / total actual negatives </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285750" indent="-285750">
              <a:lnSpc>
                <a:spcPct val="107000"/>
              </a:lnSpc>
              <a:spcAft>
                <a:spcPts val="800"/>
              </a:spcAft>
              <a:buFont typeface="Arial" panose="020B0604020202020204" pitchFamily="34" charset="0"/>
              <a:buChar char="•"/>
            </a:pPr>
            <a:r>
              <a:rPr lang="en-US" sz="1800" b="1" i="1" dirty="0">
                <a:effectLst/>
                <a:latin typeface="Calibri" panose="020F0502020204030204" pitchFamily="34" charset="0"/>
                <a:ea typeface="Calibri" panose="020F0502020204030204" pitchFamily="34" charset="0"/>
                <a:cs typeface="Times New Roman" panose="02020603050405020304" pitchFamily="18" charset="0"/>
              </a:rPr>
              <a:t>Negative predicted value (PV-) </a:t>
            </a:r>
            <a:r>
              <a:rPr lang="en-US" sz="1800" dirty="0">
                <a:effectLst/>
                <a:latin typeface="Calibri" panose="020F0502020204030204" pitchFamily="34" charset="0"/>
                <a:ea typeface="Calibri" panose="020F0502020204030204" pitchFamily="34" charset="0"/>
                <a:cs typeface="Times New Roman" panose="02020603050405020304" pitchFamily="18" charset="0"/>
              </a:rPr>
              <a:t>= true negatives / total predicted negatives</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9" name="Picture 8">
            <a:extLst>
              <a:ext uri="{FF2B5EF4-FFF2-40B4-BE49-F238E27FC236}">
                <a16:creationId xmlns:a16="http://schemas.microsoft.com/office/drawing/2014/main" id="{F69BE705-4CE3-4360-813F-E185171FE274}"/>
              </a:ext>
            </a:extLst>
          </p:cNvPr>
          <p:cNvPicPr>
            <a:picLocks noChangeAspect="1"/>
          </p:cNvPicPr>
          <p:nvPr/>
        </p:nvPicPr>
        <p:blipFill>
          <a:blip r:embed="rId3"/>
          <a:stretch>
            <a:fillRect/>
          </a:stretch>
        </p:blipFill>
        <p:spPr>
          <a:xfrm>
            <a:off x="1094116" y="5322951"/>
            <a:ext cx="8448718" cy="1430663"/>
          </a:xfrm>
          <a:prstGeom prst="rect">
            <a:avLst/>
          </a:prstGeom>
        </p:spPr>
      </p:pic>
    </p:spTree>
    <p:extLst>
      <p:ext uri="{BB962C8B-B14F-4D97-AF65-F5344CB8AC3E}">
        <p14:creationId xmlns:p14="http://schemas.microsoft.com/office/powerpoint/2010/main" val="1424765629"/>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solidFill>
                  <a:srgbClr val="FF0000"/>
                </a:solidFill>
              </a:rPr>
              <a:t>ROC Curve</a:t>
            </a:r>
          </a:p>
        </p:txBody>
      </p:sp>
      <p:sp>
        <p:nvSpPr>
          <p:cNvPr id="3" name="Rectangle 2"/>
          <p:cNvSpPr/>
          <p:nvPr/>
        </p:nvSpPr>
        <p:spPr>
          <a:xfrm>
            <a:off x="8460231" y="2489663"/>
            <a:ext cx="184730" cy="923330"/>
          </a:xfrm>
          <a:prstGeom prst="rect">
            <a:avLst/>
          </a:prstGeom>
          <a:noFill/>
        </p:spPr>
        <p:txBody>
          <a:bodyPr wrap="none" lIns="91440" tIns="45720" rIns="91440" bIns="45720">
            <a:spAutoFit/>
          </a:bodyPr>
          <a:lstStyle/>
          <a:p>
            <a:pPr algn="ctr"/>
            <a:endParaRPr lang="en-US" sz="5400" b="0" cap="none" spc="0" dirty="0">
              <a:ln w="0"/>
              <a:solidFill>
                <a:schemeClr val="tx1"/>
              </a:solidFill>
              <a:effectLst>
                <a:outerShdw blurRad="38100" dist="19050" dir="2700000" algn="tl" rotWithShape="0">
                  <a:schemeClr val="dk1">
                    <a:alpha val="40000"/>
                  </a:schemeClr>
                </a:outerShdw>
              </a:effectLst>
            </a:endParaRPr>
          </a:p>
        </p:txBody>
      </p:sp>
      <p:pic>
        <p:nvPicPr>
          <p:cNvPr id="7" name="Picture 6">
            <a:extLst>
              <a:ext uri="{FF2B5EF4-FFF2-40B4-BE49-F238E27FC236}">
                <a16:creationId xmlns:a16="http://schemas.microsoft.com/office/drawing/2014/main" id="{493C7AAB-7306-4FB5-A20B-027BBBB4200D}"/>
              </a:ext>
            </a:extLst>
          </p:cNvPr>
          <p:cNvPicPr>
            <a:picLocks noChangeAspect="1"/>
          </p:cNvPicPr>
          <p:nvPr/>
        </p:nvPicPr>
        <p:blipFill>
          <a:blip r:embed="rId2"/>
          <a:stretch>
            <a:fillRect/>
          </a:stretch>
        </p:blipFill>
        <p:spPr>
          <a:xfrm>
            <a:off x="2131978" y="1507787"/>
            <a:ext cx="7928043" cy="5136203"/>
          </a:xfrm>
          <a:prstGeom prst="rect">
            <a:avLst/>
          </a:prstGeom>
        </p:spPr>
      </p:pic>
    </p:spTree>
    <p:extLst>
      <p:ext uri="{BB962C8B-B14F-4D97-AF65-F5344CB8AC3E}">
        <p14:creationId xmlns:p14="http://schemas.microsoft.com/office/powerpoint/2010/main" val="3176253093"/>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solidFill>
                  <a:srgbClr val="FF0000"/>
                </a:solidFill>
              </a:rPr>
              <a:t>ROC Curve</a:t>
            </a:r>
          </a:p>
        </p:txBody>
      </p:sp>
      <p:sp>
        <p:nvSpPr>
          <p:cNvPr id="3" name="Rectangle 2"/>
          <p:cNvSpPr/>
          <p:nvPr/>
        </p:nvSpPr>
        <p:spPr>
          <a:xfrm>
            <a:off x="8460231" y="2489663"/>
            <a:ext cx="184730" cy="923330"/>
          </a:xfrm>
          <a:prstGeom prst="rect">
            <a:avLst/>
          </a:prstGeom>
          <a:noFill/>
        </p:spPr>
        <p:txBody>
          <a:bodyPr wrap="none" lIns="91440" tIns="45720" rIns="91440" bIns="45720">
            <a:spAutoFit/>
          </a:bodyPr>
          <a:lstStyle/>
          <a:p>
            <a:pPr algn="ctr"/>
            <a:endParaRPr lang="en-US" sz="5400" b="0" cap="none" spc="0" dirty="0">
              <a:ln w="0"/>
              <a:solidFill>
                <a:schemeClr val="tx1"/>
              </a:solidFill>
              <a:effectLst>
                <a:outerShdw blurRad="38100" dist="19050" dir="2700000" algn="tl" rotWithShape="0">
                  <a:schemeClr val="dk1">
                    <a:alpha val="40000"/>
                  </a:schemeClr>
                </a:outerShdw>
              </a:effectLst>
            </a:endParaRPr>
          </a:p>
        </p:txBody>
      </p:sp>
      <p:sp>
        <p:nvSpPr>
          <p:cNvPr id="6" name="TextBox 5">
            <a:extLst>
              <a:ext uri="{FF2B5EF4-FFF2-40B4-BE49-F238E27FC236}">
                <a16:creationId xmlns:a16="http://schemas.microsoft.com/office/drawing/2014/main" id="{A92C6C69-A7E6-4B01-B307-5C6D557771EC}"/>
              </a:ext>
            </a:extLst>
          </p:cNvPr>
          <p:cNvSpPr txBox="1"/>
          <p:nvPr/>
        </p:nvSpPr>
        <p:spPr>
          <a:xfrm>
            <a:off x="936692" y="1690688"/>
            <a:ext cx="10318615" cy="4843827"/>
          </a:xfrm>
          <a:prstGeom prst="rect">
            <a:avLst/>
          </a:prstGeom>
          <a:noFill/>
        </p:spPr>
        <p:txBody>
          <a:bodyPr wrap="square">
            <a:spAutoFit/>
          </a:bodyPr>
          <a:lstStyle/>
          <a:p>
            <a:pPr marL="285750" indent="-285750">
              <a:lnSpc>
                <a:spcPct val="107000"/>
              </a:lnSpc>
              <a:spcAft>
                <a:spcPts val="800"/>
              </a:spcAft>
              <a:buFont typeface="Arial" panose="020B0604020202020204" pitchFamily="34" charset="0"/>
              <a:buChar char="•"/>
            </a:pPr>
            <a:r>
              <a:rPr lang="en-US" sz="1800" dirty="0">
                <a:effectLst/>
                <a:latin typeface="Calibri" panose="020F0502020204030204" pitchFamily="34" charset="0"/>
                <a:ea typeface="Calibri" panose="020F0502020204030204" pitchFamily="34" charset="0"/>
                <a:cs typeface="Times New Roman" panose="02020603050405020304" pitchFamily="18" charset="0"/>
              </a:rPr>
              <a:t>The </a:t>
            </a:r>
            <a:r>
              <a:rPr lang="en-US" sz="1800" i="1" dirty="0">
                <a:effectLst/>
                <a:latin typeface="Calibri" panose="020F0502020204030204" pitchFamily="34" charset="0"/>
                <a:ea typeface="Calibri" panose="020F0502020204030204" pitchFamily="34" charset="0"/>
                <a:cs typeface="Times New Roman" panose="02020603050405020304" pitchFamily="18" charset="0"/>
              </a:rPr>
              <a:t>receiver operating characteristics (ROC) </a:t>
            </a:r>
            <a:r>
              <a:rPr lang="en-US" sz="1800" dirty="0">
                <a:effectLst/>
                <a:latin typeface="Calibri" panose="020F0502020204030204" pitchFamily="34" charset="0"/>
                <a:ea typeface="Calibri" panose="020F0502020204030204" pitchFamily="34" charset="0"/>
                <a:cs typeface="Times New Roman" panose="02020603050405020304" pitchFamily="18" charset="0"/>
              </a:rPr>
              <a:t>curve was adopted from signal detection theory for the assessment of classifiers/cutoff. The ROC curve displays the sensitivity and specificity for the entire range of cutoff values. </a:t>
            </a:r>
          </a:p>
          <a:p>
            <a:pPr>
              <a:lnSpc>
                <a:spcPct val="107000"/>
              </a:lnSpc>
              <a:spcAft>
                <a:spcPts val="800"/>
              </a:spcAft>
            </a:pP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285750" indent="-285750">
              <a:lnSpc>
                <a:spcPct val="107000"/>
              </a:lnSpc>
              <a:spcAft>
                <a:spcPts val="800"/>
              </a:spcAft>
              <a:buFont typeface="Arial" panose="020B0604020202020204" pitchFamily="34" charset="0"/>
              <a:buChar char="•"/>
            </a:pPr>
            <a:r>
              <a:rPr lang="en-US" sz="1800" dirty="0">
                <a:effectLst/>
                <a:latin typeface="Calibri" panose="020F0502020204030204" pitchFamily="34" charset="0"/>
                <a:ea typeface="Calibri" panose="020F0502020204030204" pitchFamily="34" charset="0"/>
                <a:cs typeface="Times New Roman" panose="02020603050405020304" pitchFamily="18" charset="0"/>
              </a:rPr>
              <a:t>As the cutoff decreases, more and more cases are allocated to class 1. Hence, the sensitivity increases and specificity decreases. As the cutoff increases, more and more cases are allocated to class 0. Hence, the sensitivity decreases and specificity increases.</a:t>
            </a:r>
          </a:p>
          <a:p>
            <a:pPr>
              <a:lnSpc>
                <a:spcPct val="107000"/>
              </a:lnSpc>
              <a:spcAft>
                <a:spcPts val="800"/>
              </a:spcAft>
            </a:pP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285750" indent="-285750">
              <a:lnSpc>
                <a:spcPct val="107000"/>
              </a:lnSpc>
              <a:spcAft>
                <a:spcPts val="800"/>
              </a:spcAft>
              <a:buFont typeface="Arial" panose="020B0604020202020204" pitchFamily="34" charset="0"/>
              <a:buChar char="•"/>
            </a:pPr>
            <a:r>
              <a:rPr lang="en-US" sz="1800" dirty="0">
                <a:effectLst/>
                <a:latin typeface="Calibri" panose="020F0502020204030204" pitchFamily="34" charset="0"/>
                <a:ea typeface="Calibri" panose="020F0502020204030204" pitchFamily="34" charset="0"/>
                <a:cs typeface="Times New Roman" panose="02020603050405020304" pitchFamily="18" charset="0"/>
              </a:rPr>
              <a:t>The ROC curve intersects (0,0) and (1,1). If the probabilities are arbitrarily assigned to the cases, then the ratio of false positives to true positives would be equal to the ratio total actual negatives to the total actual positives. In this case, baseline (random) model is a 45-degree angel going through the origin. </a:t>
            </a:r>
          </a:p>
          <a:p>
            <a:pPr>
              <a:lnSpc>
                <a:spcPct val="107000"/>
              </a:lnSpc>
              <a:spcAft>
                <a:spcPts val="800"/>
              </a:spcAft>
            </a:pP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285750" indent="-285750">
              <a:lnSpc>
                <a:spcPct val="107000"/>
              </a:lnSpc>
              <a:spcAft>
                <a:spcPts val="800"/>
              </a:spcAft>
              <a:buFont typeface="Arial" panose="020B0604020202020204" pitchFamily="34" charset="0"/>
              <a:buChar char="•"/>
            </a:pPr>
            <a:r>
              <a:rPr lang="en-US" sz="1800" dirty="0">
                <a:effectLst/>
                <a:latin typeface="Calibri" panose="020F0502020204030204" pitchFamily="34" charset="0"/>
                <a:ea typeface="Calibri" panose="020F0502020204030204" pitchFamily="34" charset="0"/>
                <a:cs typeface="Times New Roman" panose="02020603050405020304" pitchFamily="18" charset="0"/>
              </a:rPr>
              <a:t>As the ROC curve bows above the diagonal line, the predictive power increases. A perfect model would reach the (0,1) where sensitivity and specificity are equal to 1. </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279937251"/>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solidFill>
                  <a:srgbClr val="FF0000"/>
                </a:solidFill>
              </a:rPr>
              <a:t>Lift/Gains Chart</a:t>
            </a:r>
          </a:p>
        </p:txBody>
      </p:sp>
      <p:sp>
        <p:nvSpPr>
          <p:cNvPr id="3" name="Rectangle 2"/>
          <p:cNvSpPr/>
          <p:nvPr/>
        </p:nvSpPr>
        <p:spPr>
          <a:xfrm>
            <a:off x="8460231" y="2489663"/>
            <a:ext cx="184730" cy="923330"/>
          </a:xfrm>
          <a:prstGeom prst="rect">
            <a:avLst/>
          </a:prstGeom>
          <a:noFill/>
        </p:spPr>
        <p:txBody>
          <a:bodyPr wrap="none" lIns="91440" tIns="45720" rIns="91440" bIns="45720">
            <a:spAutoFit/>
          </a:bodyPr>
          <a:lstStyle/>
          <a:p>
            <a:pPr algn="ctr"/>
            <a:endParaRPr lang="en-US" sz="5400" b="0" cap="none" spc="0" dirty="0">
              <a:ln w="0"/>
              <a:solidFill>
                <a:schemeClr val="tx1"/>
              </a:solidFill>
              <a:effectLst>
                <a:outerShdw blurRad="38100" dist="19050" dir="2700000" algn="tl" rotWithShape="0">
                  <a:schemeClr val="dk1">
                    <a:alpha val="40000"/>
                  </a:schemeClr>
                </a:outerShdw>
              </a:effectLst>
            </a:endParaRPr>
          </a:p>
        </p:txBody>
      </p:sp>
      <p:pic>
        <p:nvPicPr>
          <p:cNvPr id="8" name="Picture 7">
            <a:extLst>
              <a:ext uri="{FF2B5EF4-FFF2-40B4-BE49-F238E27FC236}">
                <a16:creationId xmlns:a16="http://schemas.microsoft.com/office/drawing/2014/main" id="{A871C32A-CA7B-4569-877B-BF0FD6FB468F}"/>
              </a:ext>
            </a:extLst>
          </p:cNvPr>
          <p:cNvPicPr>
            <a:picLocks noChangeAspect="1"/>
          </p:cNvPicPr>
          <p:nvPr/>
        </p:nvPicPr>
        <p:blipFill>
          <a:blip r:embed="rId2"/>
          <a:stretch>
            <a:fillRect/>
          </a:stretch>
        </p:blipFill>
        <p:spPr>
          <a:xfrm>
            <a:off x="2943833" y="1484177"/>
            <a:ext cx="7277100" cy="5095875"/>
          </a:xfrm>
          <a:prstGeom prst="rect">
            <a:avLst/>
          </a:prstGeom>
        </p:spPr>
      </p:pic>
    </p:spTree>
    <p:extLst>
      <p:ext uri="{BB962C8B-B14F-4D97-AF65-F5344CB8AC3E}">
        <p14:creationId xmlns:p14="http://schemas.microsoft.com/office/powerpoint/2010/main" val="2642450174"/>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solidFill>
                  <a:srgbClr val="FF0000"/>
                </a:solidFill>
              </a:rPr>
              <a:t>Lift/Gains Chart</a:t>
            </a:r>
          </a:p>
        </p:txBody>
      </p:sp>
      <p:sp>
        <p:nvSpPr>
          <p:cNvPr id="3" name="Rectangle 2"/>
          <p:cNvSpPr/>
          <p:nvPr/>
        </p:nvSpPr>
        <p:spPr>
          <a:xfrm>
            <a:off x="8460231" y="2489663"/>
            <a:ext cx="184730" cy="923330"/>
          </a:xfrm>
          <a:prstGeom prst="rect">
            <a:avLst/>
          </a:prstGeom>
          <a:noFill/>
        </p:spPr>
        <p:txBody>
          <a:bodyPr wrap="none" lIns="91440" tIns="45720" rIns="91440" bIns="45720">
            <a:spAutoFit/>
          </a:bodyPr>
          <a:lstStyle/>
          <a:p>
            <a:pPr algn="ctr"/>
            <a:endParaRPr lang="en-US" sz="5400" b="0" cap="none" spc="0" dirty="0">
              <a:ln w="0"/>
              <a:solidFill>
                <a:schemeClr val="tx1"/>
              </a:solidFill>
              <a:effectLst>
                <a:outerShdw blurRad="38100" dist="19050" dir="2700000" algn="tl" rotWithShape="0">
                  <a:schemeClr val="dk1">
                    <a:alpha val="40000"/>
                  </a:schemeClr>
                </a:outerShdw>
              </a:effectLst>
            </a:endParaRPr>
          </a:p>
        </p:txBody>
      </p:sp>
      <p:sp>
        <p:nvSpPr>
          <p:cNvPr id="5" name="TextBox 4">
            <a:extLst>
              <a:ext uri="{FF2B5EF4-FFF2-40B4-BE49-F238E27FC236}">
                <a16:creationId xmlns:a16="http://schemas.microsoft.com/office/drawing/2014/main" id="{F93EA5D7-1DCC-46E9-8AE8-80AFCDE6A05F}"/>
              </a:ext>
            </a:extLst>
          </p:cNvPr>
          <p:cNvSpPr txBox="1"/>
          <p:nvPr/>
        </p:nvSpPr>
        <p:spPr>
          <a:xfrm>
            <a:off x="586091" y="1535045"/>
            <a:ext cx="11019817" cy="5247975"/>
          </a:xfrm>
          <a:prstGeom prst="rect">
            <a:avLst/>
          </a:prstGeom>
          <a:noFill/>
        </p:spPr>
        <p:txBody>
          <a:bodyPr wrap="square">
            <a:spAutoFit/>
          </a:bodyPr>
          <a:lstStyle/>
          <a:p>
            <a:pPr marL="285750" indent="-285750">
              <a:lnSpc>
                <a:spcPct val="107000"/>
              </a:lnSpc>
              <a:spcAft>
                <a:spcPts val="800"/>
              </a:spcAft>
              <a:buFont typeface="Arial" panose="020B0604020202020204" pitchFamily="34" charset="0"/>
              <a:buChar char="•"/>
            </a:pPr>
            <a:r>
              <a:rPr lang="en-US" sz="1800" dirty="0">
                <a:effectLst/>
                <a:latin typeface="Calibri" panose="020F0502020204030204" pitchFamily="34" charset="0"/>
                <a:ea typeface="Calibri" panose="020F0502020204030204" pitchFamily="34" charset="0"/>
                <a:cs typeface="Times New Roman" panose="02020603050405020304" pitchFamily="18" charset="0"/>
              </a:rPr>
              <a:t>Lift chart displays the </a:t>
            </a:r>
            <a:r>
              <a:rPr lang="en-US" sz="1800" i="1" dirty="0">
                <a:effectLst/>
                <a:latin typeface="Calibri" panose="020F0502020204030204" pitchFamily="34" charset="0"/>
                <a:ea typeface="Calibri" panose="020F0502020204030204" pitchFamily="34" charset="0"/>
                <a:cs typeface="Times New Roman" panose="02020603050405020304" pitchFamily="18" charset="0"/>
              </a:rPr>
              <a:t>lift </a:t>
            </a:r>
            <a:r>
              <a:rPr lang="en-US" sz="1800" dirty="0">
                <a:effectLst/>
                <a:latin typeface="Calibri" panose="020F0502020204030204" pitchFamily="34" charset="0"/>
                <a:ea typeface="Calibri" panose="020F0502020204030204" pitchFamily="34" charset="0"/>
                <a:cs typeface="Times New Roman" panose="02020603050405020304" pitchFamily="18" charset="0"/>
              </a:rPr>
              <a:t>and </a:t>
            </a:r>
            <a:r>
              <a:rPr lang="en-US" sz="1800" i="1" dirty="0">
                <a:effectLst/>
                <a:latin typeface="Calibri" panose="020F0502020204030204" pitchFamily="34" charset="0"/>
                <a:ea typeface="Calibri" panose="020F0502020204030204" pitchFamily="34" charset="0"/>
                <a:cs typeface="Times New Roman" panose="02020603050405020304" pitchFamily="18" charset="0"/>
              </a:rPr>
              <a:t>depth </a:t>
            </a:r>
            <a:r>
              <a:rPr lang="en-US" sz="1800" dirty="0">
                <a:effectLst/>
                <a:latin typeface="Calibri" panose="020F0502020204030204" pitchFamily="34" charset="0"/>
                <a:ea typeface="Calibri" panose="020F0502020204030204" pitchFamily="34" charset="0"/>
                <a:cs typeface="Times New Roman" panose="02020603050405020304" pitchFamily="18" charset="0"/>
              </a:rPr>
              <a:t>for a range of cutoff values.</a:t>
            </a:r>
          </a:p>
          <a:p>
            <a:pPr>
              <a:lnSpc>
                <a:spcPct val="107000"/>
              </a:lnSpc>
              <a:spcAft>
                <a:spcPts val="800"/>
              </a:spcAft>
            </a:pP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285750" indent="-285750">
              <a:lnSpc>
                <a:spcPct val="107000"/>
              </a:lnSpc>
              <a:spcAft>
                <a:spcPts val="800"/>
              </a:spcAft>
              <a:buFont typeface="Arial" panose="020B0604020202020204" pitchFamily="34" charset="0"/>
              <a:buChar char="•"/>
            </a:pPr>
            <a:r>
              <a:rPr lang="en-US" sz="1800" dirty="0">
                <a:effectLst/>
                <a:latin typeface="Calibri" panose="020F0502020204030204" pitchFamily="34" charset="0"/>
                <a:ea typeface="Calibri" panose="020F0502020204030204" pitchFamily="34" charset="0"/>
                <a:cs typeface="Times New Roman" panose="02020603050405020304" pitchFamily="18" charset="0"/>
              </a:rPr>
              <a:t>A </a:t>
            </a:r>
            <a:r>
              <a:rPr lang="en-US" sz="1800" i="1" dirty="0">
                <a:effectLst/>
                <a:latin typeface="Calibri" panose="020F0502020204030204" pitchFamily="34" charset="0"/>
                <a:ea typeface="Calibri" panose="020F0502020204030204" pitchFamily="34" charset="0"/>
                <a:cs typeface="Times New Roman" panose="02020603050405020304" pitchFamily="18" charset="0"/>
              </a:rPr>
              <a:t>depth </a:t>
            </a:r>
            <a:r>
              <a:rPr lang="en-US" sz="1800" dirty="0">
                <a:effectLst/>
                <a:latin typeface="Calibri" panose="020F0502020204030204" pitchFamily="34" charset="0"/>
                <a:ea typeface="Calibri" panose="020F0502020204030204" pitchFamily="34" charset="0"/>
                <a:cs typeface="Times New Roman" panose="02020603050405020304" pitchFamily="18" charset="0"/>
              </a:rPr>
              <a:t>is the total proportion of cases that were allocated to class 1. </a:t>
            </a:r>
          </a:p>
          <a:p>
            <a:pPr>
              <a:lnSpc>
                <a:spcPct val="107000"/>
              </a:lnSpc>
              <a:spcAft>
                <a:spcPts val="800"/>
              </a:spcAft>
            </a:pP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285750" indent="-285750">
              <a:lnSpc>
                <a:spcPct val="107000"/>
              </a:lnSpc>
              <a:spcAft>
                <a:spcPts val="800"/>
              </a:spcAft>
              <a:buFont typeface="Arial" panose="020B0604020202020204" pitchFamily="34" charset="0"/>
              <a:buChar char="•"/>
            </a:pPr>
            <a:r>
              <a:rPr lang="en-US" sz="1800" dirty="0">
                <a:effectLst/>
                <a:latin typeface="Calibri" panose="020F0502020204030204" pitchFamily="34" charset="0"/>
                <a:ea typeface="Calibri" panose="020F0502020204030204" pitchFamily="34" charset="0"/>
                <a:cs typeface="Times New Roman" panose="02020603050405020304" pitchFamily="18" charset="0"/>
              </a:rPr>
              <a:t>A </a:t>
            </a:r>
            <a:r>
              <a:rPr lang="en-US" sz="1800" i="1" dirty="0">
                <a:effectLst/>
                <a:latin typeface="Calibri" panose="020F0502020204030204" pitchFamily="34" charset="0"/>
                <a:ea typeface="Calibri" panose="020F0502020204030204" pitchFamily="34" charset="0"/>
                <a:cs typeface="Times New Roman" panose="02020603050405020304" pitchFamily="18" charset="0"/>
              </a:rPr>
              <a:t>lift </a:t>
            </a:r>
            <a:r>
              <a:rPr lang="en-US" sz="1800" dirty="0">
                <a:effectLst/>
                <a:latin typeface="Calibri" panose="020F0502020204030204" pitchFamily="34" charset="0"/>
                <a:ea typeface="Calibri" panose="020F0502020204030204" pitchFamily="34" charset="0"/>
                <a:cs typeface="Times New Roman" panose="02020603050405020304" pitchFamily="18" charset="0"/>
              </a:rPr>
              <a:t>is PV+/p1, so for a given depth, there are lift times more responders targeted by the model than by random chance.  </a:t>
            </a:r>
          </a:p>
          <a:p>
            <a:pPr>
              <a:lnSpc>
                <a:spcPct val="107000"/>
              </a:lnSpc>
              <a:spcAft>
                <a:spcPts val="800"/>
              </a:spcAft>
            </a:pP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285750" indent="-285750">
              <a:lnSpc>
                <a:spcPct val="107000"/>
              </a:lnSpc>
              <a:spcAft>
                <a:spcPts val="800"/>
              </a:spcAft>
              <a:buFont typeface="Arial" panose="020B0604020202020204" pitchFamily="34" charset="0"/>
              <a:buChar char="•"/>
            </a:pPr>
            <a:r>
              <a:rPr lang="en-US" sz="1800" dirty="0">
                <a:effectLst/>
                <a:latin typeface="Calibri" panose="020F0502020204030204" pitchFamily="34" charset="0"/>
                <a:ea typeface="Calibri" panose="020F0502020204030204" pitchFamily="34" charset="0"/>
                <a:cs typeface="Times New Roman" panose="02020603050405020304" pitchFamily="18" charset="0"/>
              </a:rPr>
              <a:t>As the cutoff decreases, more and more cases are allocated to class 1 and hence, the depth increases and PV+ approaches the marginal (additional) event rate. When cutoff is minimum, then 100% of the cases are selected and response rate is p1. </a:t>
            </a:r>
          </a:p>
          <a:p>
            <a:pPr>
              <a:lnSpc>
                <a:spcPct val="107000"/>
              </a:lnSpc>
              <a:spcAft>
                <a:spcPts val="800"/>
              </a:spcAft>
            </a:pP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285750" indent="-285750">
              <a:lnSpc>
                <a:spcPct val="107000"/>
              </a:lnSpc>
              <a:spcAft>
                <a:spcPts val="800"/>
              </a:spcAft>
              <a:buFont typeface="Arial" panose="020B0604020202020204" pitchFamily="34" charset="0"/>
              <a:buChar char="•"/>
            </a:pPr>
            <a:r>
              <a:rPr lang="en-US" sz="1800" dirty="0">
                <a:effectLst/>
                <a:latin typeface="Calibri" panose="020F0502020204030204" pitchFamily="34" charset="0"/>
                <a:ea typeface="Calibri" panose="020F0502020204030204" pitchFamily="34" charset="0"/>
                <a:cs typeface="Times New Roman" panose="02020603050405020304" pitchFamily="18" charset="0"/>
              </a:rPr>
              <a:t>A model with good predictive power, would have increasing </a:t>
            </a:r>
            <a:r>
              <a:rPr lang="en-US" sz="1800" i="1" dirty="0">
                <a:effectLst/>
                <a:latin typeface="Calibri" panose="020F0502020204030204" pitchFamily="34" charset="0"/>
                <a:ea typeface="Calibri" panose="020F0502020204030204" pitchFamily="34" charset="0"/>
                <a:cs typeface="Times New Roman" panose="02020603050405020304" pitchFamily="18" charset="0"/>
              </a:rPr>
              <a:t>lift </a:t>
            </a:r>
            <a:r>
              <a:rPr lang="en-US" sz="1800" dirty="0">
                <a:effectLst/>
                <a:latin typeface="Calibri" panose="020F0502020204030204" pitchFamily="34" charset="0"/>
                <a:ea typeface="Calibri" panose="020F0502020204030204" pitchFamily="34" charset="0"/>
                <a:cs typeface="Times New Roman" panose="02020603050405020304" pitchFamily="18" charset="0"/>
              </a:rPr>
              <a:t>as the depth is minimum. </a:t>
            </a:r>
          </a:p>
          <a:p>
            <a:pPr>
              <a:lnSpc>
                <a:spcPct val="107000"/>
              </a:lnSpc>
              <a:spcAft>
                <a:spcPts val="800"/>
              </a:spcAft>
            </a:pP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285750" indent="-285750">
              <a:buFont typeface="Arial" panose="020B0604020202020204" pitchFamily="34" charset="0"/>
              <a:buChar char="•"/>
            </a:pPr>
            <a:r>
              <a:rPr lang="en-US" sz="1800" dirty="0">
                <a:effectLst/>
                <a:latin typeface="Calibri" panose="020F0502020204030204" pitchFamily="34" charset="0"/>
                <a:ea typeface="Calibri" panose="020F0502020204030204" pitchFamily="34" charset="0"/>
                <a:cs typeface="Times New Roman" panose="02020603050405020304" pitchFamily="18" charset="0"/>
              </a:rPr>
              <a:t>If the probabilities are arbitrarily assigned to the cases, then the lift/gains chart would be horizontal line at p1. </a:t>
            </a:r>
            <a:endParaRPr lang="en-IN" dirty="0"/>
          </a:p>
        </p:txBody>
      </p:sp>
    </p:spTree>
    <p:extLst>
      <p:ext uri="{BB962C8B-B14F-4D97-AF65-F5344CB8AC3E}">
        <p14:creationId xmlns:p14="http://schemas.microsoft.com/office/powerpoint/2010/main" val="4266437305"/>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3" name="Rectangle 2"/>
          <p:cNvSpPr/>
          <p:nvPr/>
        </p:nvSpPr>
        <p:spPr>
          <a:xfrm>
            <a:off x="8460231" y="2489663"/>
            <a:ext cx="184730" cy="923330"/>
          </a:xfrm>
          <a:prstGeom prst="rect">
            <a:avLst/>
          </a:prstGeom>
          <a:noFill/>
        </p:spPr>
        <p:txBody>
          <a:bodyPr wrap="none" lIns="91440" tIns="45720" rIns="91440" bIns="45720">
            <a:spAutoFit/>
          </a:bodyPr>
          <a:lstStyle/>
          <a:p>
            <a:pPr algn="ctr"/>
            <a:endParaRPr lang="en-US" sz="5400" b="0" cap="none" spc="0" dirty="0">
              <a:ln w="0"/>
              <a:solidFill>
                <a:schemeClr val="tx1"/>
              </a:solidFill>
              <a:effectLst>
                <a:outerShdw blurRad="38100" dist="19050" dir="2700000" algn="tl" rotWithShape="0">
                  <a:schemeClr val="dk1">
                    <a:alpha val="40000"/>
                  </a:schemeClr>
                </a:outerShdw>
              </a:effectLst>
            </a:endParaRPr>
          </a:p>
        </p:txBody>
      </p:sp>
      <p:sp>
        <p:nvSpPr>
          <p:cNvPr id="5" name="Rectangle 4"/>
          <p:cNvSpPr/>
          <p:nvPr/>
        </p:nvSpPr>
        <p:spPr>
          <a:xfrm>
            <a:off x="3951691" y="2689718"/>
            <a:ext cx="3142207" cy="1446550"/>
          </a:xfrm>
          <a:prstGeom prst="rect">
            <a:avLst/>
          </a:prstGeom>
          <a:noFill/>
        </p:spPr>
        <p:txBody>
          <a:bodyPr wrap="none" lIns="91440" tIns="45720" rIns="91440" bIns="45720">
            <a:spAutoFit/>
          </a:bodyPr>
          <a:lstStyle/>
          <a:p>
            <a:pPr algn="ctr"/>
            <a:r>
              <a:rPr lang="en-US" sz="8800" b="0" cap="none" spc="0" dirty="0">
                <a:ln w="0"/>
                <a:solidFill>
                  <a:srgbClr val="FFFF00"/>
                </a:solidFill>
                <a:effectLst>
                  <a:outerShdw blurRad="38100" dist="19050" dir="2700000" algn="tl" rotWithShape="0">
                    <a:schemeClr val="dk1">
                      <a:alpha val="40000"/>
                    </a:schemeClr>
                  </a:outerShdw>
                </a:effectLst>
              </a:rPr>
              <a:t>DEMO</a:t>
            </a:r>
          </a:p>
        </p:txBody>
      </p:sp>
    </p:spTree>
    <p:extLst>
      <p:ext uri="{BB962C8B-B14F-4D97-AF65-F5344CB8AC3E}">
        <p14:creationId xmlns:p14="http://schemas.microsoft.com/office/powerpoint/2010/main" val="3266088498"/>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solidFill>
                  <a:srgbClr val="FF0000"/>
                </a:solidFill>
              </a:rPr>
              <a:t>Allocation Rule</a:t>
            </a:r>
          </a:p>
        </p:txBody>
      </p:sp>
      <p:sp>
        <p:nvSpPr>
          <p:cNvPr id="3" name="Rectangle 2"/>
          <p:cNvSpPr/>
          <p:nvPr/>
        </p:nvSpPr>
        <p:spPr>
          <a:xfrm>
            <a:off x="8460231" y="2489663"/>
            <a:ext cx="184730" cy="923330"/>
          </a:xfrm>
          <a:prstGeom prst="rect">
            <a:avLst/>
          </a:prstGeom>
          <a:noFill/>
        </p:spPr>
        <p:txBody>
          <a:bodyPr wrap="none" lIns="91440" tIns="45720" rIns="91440" bIns="45720">
            <a:spAutoFit/>
          </a:bodyPr>
          <a:lstStyle/>
          <a:p>
            <a:pPr algn="ctr"/>
            <a:endParaRPr lang="en-US" sz="5400" b="0" cap="none" spc="0" dirty="0">
              <a:ln w="0"/>
              <a:solidFill>
                <a:schemeClr val="tx1"/>
              </a:solidFill>
              <a:effectLst>
                <a:outerShdw blurRad="38100" dist="19050" dir="2700000" algn="tl" rotWithShape="0">
                  <a:schemeClr val="dk1">
                    <a:alpha val="40000"/>
                  </a:schemeClr>
                </a:outerShdw>
              </a:effectLst>
            </a:endParaRPr>
          </a:p>
        </p:txBody>
      </p:sp>
      <p:pic>
        <p:nvPicPr>
          <p:cNvPr id="5" name="Picture 4">
            <a:extLst>
              <a:ext uri="{FF2B5EF4-FFF2-40B4-BE49-F238E27FC236}">
                <a16:creationId xmlns:a16="http://schemas.microsoft.com/office/drawing/2014/main" id="{23903DB5-1209-4A66-BDE5-F13B63C8157D}"/>
              </a:ext>
            </a:extLst>
          </p:cNvPr>
          <p:cNvPicPr>
            <a:picLocks noChangeAspect="1"/>
          </p:cNvPicPr>
          <p:nvPr/>
        </p:nvPicPr>
        <p:blipFill>
          <a:blip r:embed="rId2"/>
          <a:stretch>
            <a:fillRect/>
          </a:stretch>
        </p:blipFill>
        <p:spPr>
          <a:xfrm>
            <a:off x="2447316" y="2192674"/>
            <a:ext cx="7494351" cy="3449367"/>
          </a:xfrm>
          <a:prstGeom prst="rect">
            <a:avLst/>
          </a:prstGeom>
        </p:spPr>
      </p:pic>
    </p:spTree>
    <p:extLst>
      <p:ext uri="{BB962C8B-B14F-4D97-AF65-F5344CB8AC3E}">
        <p14:creationId xmlns:p14="http://schemas.microsoft.com/office/powerpoint/2010/main" val="2502701417"/>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solidFill>
                  <a:srgbClr val="FF0000"/>
                </a:solidFill>
              </a:rPr>
              <a:t>Allocation Rule</a:t>
            </a:r>
          </a:p>
        </p:txBody>
      </p:sp>
      <p:sp>
        <p:nvSpPr>
          <p:cNvPr id="3" name="Rectangle 2"/>
          <p:cNvSpPr/>
          <p:nvPr/>
        </p:nvSpPr>
        <p:spPr>
          <a:xfrm>
            <a:off x="8460231" y="2489663"/>
            <a:ext cx="184730" cy="923330"/>
          </a:xfrm>
          <a:prstGeom prst="rect">
            <a:avLst/>
          </a:prstGeom>
          <a:noFill/>
        </p:spPr>
        <p:txBody>
          <a:bodyPr wrap="none" lIns="91440" tIns="45720" rIns="91440" bIns="45720">
            <a:spAutoFit/>
          </a:bodyPr>
          <a:lstStyle/>
          <a:p>
            <a:pPr algn="ctr"/>
            <a:endParaRPr lang="en-US" sz="5400" b="0" cap="none" spc="0" dirty="0">
              <a:ln w="0"/>
              <a:solidFill>
                <a:schemeClr val="tx1"/>
              </a:solidFill>
              <a:effectLst>
                <a:outerShdw blurRad="38100" dist="19050" dir="2700000" algn="tl" rotWithShape="0">
                  <a:schemeClr val="dk1">
                    <a:alpha val="40000"/>
                  </a:schemeClr>
                </a:outerShdw>
              </a:effectLst>
            </a:endParaRPr>
          </a:p>
        </p:txBody>
      </p:sp>
      <p:pic>
        <p:nvPicPr>
          <p:cNvPr id="6" name="Picture 5">
            <a:extLst>
              <a:ext uri="{FF2B5EF4-FFF2-40B4-BE49-F238E27FC236}">
                <a16:creationId xmlns:a16="http://schemas.microsoft.com/office/drawing/2014/main" id="{9CD70167-64A5-4507-848C-6378461BF3FB}"/>
              </a:ext>
            </a:extLst>
          </p:cNvPr>
          <p:cNvPicPr>
            <a:picLocks noChangeAspect="1"/>
          </p:cNvPicPr>
          <p:nvPr/>
        </p:nvPicPr>
        <p:blipFill>
          <a:blip r:embed="rId2"/>
          <a:stretch>
            <a:fillRect/>
          </a:stretch>
        </p:blipFill>
        <p:spPr>
          <a:xfrm>
            <a:off x="3391302" y="1690688"/>
            <a:ext cx="4467225" cy="3324225"/>
          </a:xfrm>
          <a:prstGeom prst="rect">
            <a:avLst/>
          </a:prstGeom>
        </p:spPr>
      </p:pic>
      <p:pic>
        <p:nvPicPr>
          <p:cNvPr id="8" name="Picture 7">
            <a:extLst>
              <a:ext uri="{FF2B5EF4-FFF2-40B4-BE49-F238E27FC236}">
                <a16:creationId xmlns:a16="http://schemas.microsoft.com/office/drawing/2014/main" id="{46CAE894-4C33-48DA-A2DD-DF5373D86E74}"/>
              </a:ext>
            </a:extLst>
          </p:cNvPr>
          <p:cNvPicPr>
            <a:picLocks noChangeAspect="1"/>
          </p:cNvPicPr>
          <p:nvPr/>
        </p:nvPicPr>
        <p:blipFill>
          <a:blip r:embed="rId3"/>
          <a:stretch>
            <a:fillRect/>
          </a:stretch>
        </p:blipFill>
        <p:spPr>
          <a:xfrm>
            <a:off x="1906622" y="5089325"/>
            <a:ext cx="8638162" cy="1690687"/>
          </a:xfrm>
          <a:prstGeom prst="rect">
            <a:avLst/>
          </a:prstGeom>
        </p:spPr>
      </p:pic>
    </p:spTree>
    <p:extLst>
      <p:ext uri="{BB962C8B-B14F-4D97-AF65-F5344CB8AC3E}">
        <p14:creationId xmlns:p14="http://schemas.microsoft.com/office/powerpoint/2010/main" val="2116280028"/>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solidFill>
                  <a:srgbClr val="FF0000"/>
                </a:solidFill>
              </a:rPr>
              <a:t>Allocation Rule</a:t>
            </a:r>
          </a:p>
        </p:txBody>
      </p:sp>
      <p:sp>
        <p:nvSpPr>
          <p:cNvPr id="3" name="Rectangle 2"/>
          <p:cNvSpPr/>
          <p:nvPr/>
        </p:nvSpPr>
        <p:spPr>
          <a:xfrm>
            <a:off x="8460231" y="2489663"/>
            <a:ext cx="184730" cy="923330"/>
          </a:xfrm>
          <a:prstGeom prst="rect">
            <a:avLst/>
          </a:prstGeom>
          <a:noFill/>
        </p:spPr>
        <p:txBody>
          <a:bodyPr wrap="none" lIns="91440" tIns="45720" rIns="91440" bIns="45720">
            <a:spAutoFit/>
          </a:bodyPr>
          <a:lstStyle/>
          <a:p>
            <a:pPr algn="ctr"/>
            <a:endParaRPr lang="en-US" sz="5400" b="0" cap="none" spc="0" dirty="0">
              <a:ln w="0"/>
              <a:solidFill>
                <a:schemeClr val="tx1"/>
              </a:solidFill>
              <a:effectLst>
                <a:outerShdw blurRad="38100" dist="19050" dir="2700000" algn="tl" rotWithShape="0">
                  <a:schemeClr val="dk1">
                    <a:alpha val="40000"/>
                  </a:schemeClr>
                </a:outerShdw>
              </a:effectLst>
            </a:endParaRPr>
          </a:p>
        </p:txBody>
      </p:sp>
      <p:pic>
        <p:nvPicPr>
          <p:cNvPr id="5" name="Picture 4">
            <a:extLst>
              <a:ext uri="{FF2B5EF4-FFF2-40B4-BE49-F238E27FC236}">
                <a16:creationId xmlns:a16="http://schemas.microsoft.com/office/drawing/2014/main" id="{B68B25FD-7BCD-4564-B42C-6D3921A40155}"/>
              </a:ext>
            </a:extLst>
          </p:cNvPr>
          <p:cNvPicPr>
            <a:picLocks noChangeAspect="1"/>
          </p:cNvPicPr>
          <p:nvPr/>
        </p:nvPicPr>
        <p:blipFill>
          <a:blip r:embed="rId2"/>
          <a:stretch>
            <a:fillRect/>
          </a:stretch>
        </p:blipFill>
        <p:spPr>
          <a:xfrm>
            <a:off x="948345" y="1764151"/>
            <a:ext cx="4867275" cy="3524250"/>
          </a:xfrm>
          <a:prstGeom prst="rect">
            <a:avLst/>
          </a:prstGeom>
        </p:spPr>
      </p:pic>
      <p:sp>
        <p:nvSpPr>
          <p:cNvPr id="9" name="TextBox 8">
            <a:extLst>
              <a:ext uri="{FF2B5EF4-FFF2-40B4-BE49-F238E27FC236}">
                <a16:creationId xmlns:a16="http://schemas.microsoft.com/office/drawing/2014/main" id="{3E9447DB-B739-4409-BB23-2A32E2722665}"/>
              </a:ext>
            </a:extLst>
          </p:cNvPr>
          <p:cNvSpPr txBox="1"/>
          <p:nvPr/>
        </p:nvSpPr>
        <p:spPr>
          <a:xfrm>
            <a:off x="5946032" y="1902273"/>
            <a:ext cx="6094378" cy="3248005"/>
          </a:xfrm>
          <a:prstGeom prst="rect">
            <a:avLst/>
          </a:prstGeom>
          <a:noFill/>
        </p:spPr>
        <p:txBody>
          <a:bodyPr wrap="square">
            <a:spAutoFit/>
          </a:bodyPr>
          <a:lstStyle/>
          <a:p>
            <a:pPr marL="285750" indent="-285750">
              <a:lnSpc>
                <a:spcPct val="107000"/>
              </a:lnSpc>
              <a:spcAft>
                <a:spcPts val="800"/>
              </a:spcAft>
              <a:buFont typeface="Arial" panose="020B0604020202020204" pitchFamily="34" charset="0"/>
              <a:buChar char="•"/>
            </a:pPr>
            <a:r>
              <a:rPr lang="en-US" sz="1800" dirty="0">
                <a:effectLst/>
                <a:latin typeface="Calibri" panose="020F0502020204030204" pitchFamily="34" charset="0"/>
                <a:ea typeface="Calibri" panose="020F0502020204030204" pitchFamily="34" charset="0"/>
                <a:cs typeface="Times New Roman" panose="02020603050405020304" pitchFamily="18" charset="0"/>
              </a:rPr>
              <a:t>A formal approach to determining optimum cutoff uses statistical decision theory. The decision-theoretic approach starts by assigning profit margins to true positives and loss margins to false margins. The optimum decision rule or cutoff would maximize the total expected profit. </a:t>
            </a:r>
          </a:p>
          <a:p>
            <a:pPr>
              <a:lnSpc>
                <a:spcPct val="107000"/>
              </a:lnSpc>
              <a:spcAft>
                <a:spcPts val="800"/>
              </a:spcAft>
            </a:pP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285750" indent="-285750">
              <a:lnSpc>
                <a:spcPct val="107000"/>
              </a:lnSpc>
              <a:spcAft>
                <a:spcPts val="800"/>
              </a:spcAft>
              <a:buFont typeface="Arial" panose="020B0604020202020204" pitchFamily="34" charset="0"/>
              <a:buChar char="•"/>
            </a:pPr>
            <a:r>
              <a:rPr lang="en-US" sz="1800" dirty="0">
                <a:effectLst/>
                <a:latin typeface="Calibri" panose="020F0502020204030204" pitchFamily="34" charset="0"/>
                <a:ea typeface="Calibri" panose="020F0502020204030204" pitchFamily="34" charset="0"/>
                <a:cs typeface="Times New Roman" panose="02020603050405020304" pitchFamily="18" charset="0"/>
              </a:rPr>
              <a:t>The profit matrix shown here is consistent with a marketing effort that costs $1, and when successful, the revenue is $100. Hence, the profit for soliciting a non-responder is -$1 and the profit for soliciting a responder is $100 - $1 = $99. </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725965094"/>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solidFill>
                  <a:srgbClr val="FF0000"/>
                </a:solidFill>
              </a:rPr>
              <a:t>Allocation Rule</a:t>
            </a:r>
          </a:p>
        </p:txBody>
      </p:sp>
      <p:sp>
        <p:nvSpPr>
          <p:cNvPr id="3" name="Rectangle 2"/>
          <p:cNvSpPr/>
          <p:nvPr/>
        </p:nvSpPr>
        <p:spPr>
          <a:xfrm>
            <a:off x="8460231" y="2489663"/>
            <a:ext cx="184730" cy="923330"/>
          </a:xfrm>
          <a:prstGeom prst="rect">
            <a:avLst/>
          </a:prstGeom>
          <a:noFill/>
        </p:spPr>
        <p:txBody>
          <a:bodyPr wrap="none" lIns="91440" tIns="45720" rIns="91440" bIns="45720">
            <a:spAutoFit/>
          </a:bodyPr>
          <a:lstStyle/>
          <a:p>
            <a:pPr algn="ctr"/>
            <a:endParaRPr lang="en-US" sz="5400" b="0" cap="none" spc="0" dirty="0">
              <a:ln w="0"/>
              <a:solidFill>
                <a:schemeClr val="tx1"/>
              </a:solidFill>
              <a:effectLst>
                <a:outerShdw blurRad="38100" dist="19050" dir="2700000" algn="tl" rotWithShape="0">
                  <a:schemeClr val="dk1">
                    <a:alpha val="40000"/>
                  </a:schemeClr>
                </a:outerShdw>
              </a:effectLst>
            </a:endParaRPr>
          </a:p>
        </p:txBody>
      </p:sp>
      <p:pic>
        <p:nvPicPr>
          <p:cNvPr id="6" name="Picture 5">
            <a:extLst>
              <a:ext uri="{FF2B5EF4-FFF2-40B4-BE49-F238E27FC236}">
                <a16:creationId xmlns:a16="http://schemas.microsoft.com/office/drawing/2014/main" id="{A1B7CC57-D37E-42E5-B31D-230A9C4E831A}"/>
              </a:ext>
            </a:extLst>
          </p:cNvPr>
          <p:cNvPicPr>
            <a:picLocks noChangeAspect="1"/>
          </p:cNvPicPr>
          <p:nvPr/>
        </p:nvPicPr>
        <p:blipFill>
          <a:blip r:embed="rId2"/>
          <a:stretch>
            <a:fillRect/>
          </a:stretch>
        </p:blipFill>
        <p:spPr>
          <a:xfrm>
            <a:off x="1025558" y="1921212"/>
            <a:ext cx="4810125" cy="2743200"/>
          </a:xfrm>
          <a:prstGeom prst="rect">
            <a:avLst/>
          </a:prstGeom>
        </p:spPr>
      </p:pic>
      <p:sp>
        <p:nvSpPr>
          <p:cNvPr id="10" name="TextBox 9">
            <a:extLst>
              <a:ext uri="{FF2B5EF4-FFF2-40B4-BE49-F238E27FC236}">
                <a16:creationId xmlns:a16="http://schemas.microsoft.com/office/drawing/2014/main" id="{D0F6530E-6C2A-4A4C-AE26-812AF6473FD3}"/>
              </a:ext>
            </a:extLst>
          </p:cNvPr>
          <p:cNvSpPr txBox="1"/>
          <p:nvPr/>
        </p:nvSpPr>
        <p:spPr>
          <a:xfrm>
            <a:off x="6096000" y="2414643"/>
            <a:ext cx="6094378" cy="1766189"/>
          </a:xfrm>
          <a:prstGeom prst="rect">
            <a:avLst/>
          </a:prstGeom>
          <a:noFill/>
        </p:spPr>
        <p:txBody>
          <a:bodyPr wrap="square">
            <a:spAutoFit/>
          </a:bodyPr>
          <a:lstStyle/>
          <a:p>
            <a:pPr marL="285750" indent="-285750">
              <a:lnSpc>
                <a:spcPct val="107000"/>
              </a:lnSpc>
              <a:spcAft>
                <a:spcPts val="800"/>
              </a:spcAft>
              <a:buFont typeface="Arial" panose="020B0604020202020204" pitchFamily="34" charset="0"/>
              <a:buChar char="•"/>
            </a:pPr>
            <a:r>
              <a:rPr lang="en-US" sz="1800" dirty="0">
                <a:effectLst/>
                <a:latin typeface="Calibri" panose="020F0502020204030204" pitchFamily="34" charset="0"/>
                <a:ea typeface="Calibri" panose="020F0502020204030204" pitchFamily="34" charset="0"/>
                <a:cs typeface="Times New Roman" panose="02020603050405020304" pitchFamily="18" charset="0"/>
              </a:rPr>
              <a:t>The </a:t>
            </a:r>
            <a:r>
              <a:rPr lang="en-US" sz="1800" i="1" dirty="0">
                <a:effectLst/>
                <a:latin typeface="Calibri" panose="020F0502020204030204" pitchFamily="34" charset="0"/>
                <a:ea typeface="Calibri" panose="020F0502020204030204" pitchFamily="34" charset="0"/>
                <a:cs typeface="Times New Roman" panose="02020603050405020304" pitchFamily="18" charset="0"/>
              </a:rPr>
              <a:t>Bayes Rule </a:t>
            </a:r>
            <a:r>
              <a:rPr lang="en-US" sz="1800" dirty="0">
                <a:effectLst/>
                <a:latin typeface="Calibri" panose="020F0502020204030204" pitchFamily="34" charset="0"/>
                <a:ea typeface="Calibri" panose="020F0502020204030204" pitchFamily="34" charset="0"/>
                <a:cs typeface="Times New Roman" panose="02020603050405020304" pitchFamily="18" charset="0"/>
              </a:rPr>
              <a:t>is the decision rule that maximizes the expected profit. </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285750" indent="-285750">
              <a:lnSpc>
                <a:spcPct val="107000"/>
              </a:lnSpc>
              <a:spcAft>
                <a:spcPts val="800"/>
              </a:spcAft>
              <a:buFont typeface="Arial" panose="020B0604020202020204" pitchFamily="34" charset="0"/>
              <a:buChar char="•"/>
            </a:pPr>
            <a:r>
              <a:rPr lang="en-US" sz="1800" dirty="0">
                <a:effectLst/>
                <a:latin typeface="Calibri" panose="020F0502020204030204" pitchFamily="34" charset="0"/>
                <a:ea typeface="Calibri" panose="020F0502020204030204" pitchFamily="34" charset="0"/>
                <a:cs typeface="Times New Roman" panose="02020603050405020304" pitchFamily="18" charset="0"/>
              </a:rPr>
              <a:t>Using the profit matrix defined earlier, the optimum cutoff becomes </a:t>
            </a:r>
          </a:p>
          <a:p>
            <a:pPr>
              <a:lnSpc>
                <a:spcPct val="107000"/>
              </a:lnSpc>
              <a:spcAft>
                <a:spcPts val="800"/>
              </a:spcAft>
            </a:pP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8" name="Picture 7">
            <a:extLst>
              <a:ext uri="{FF2B5EF4-FFF2-40B4-BE49-F238E27FC236}">
                <a16:creationId xmlns:a16="http://schemas.microsoft.com/office/drawing/2014/main" id="{78F1C903-D5EF-4555-B3A6-1257AD48A9D0}"/>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7393022" y="4104687"/>
            <a:ext cx="2957208" cy="1303892"/>
          </a:xfrm>
          <a:prstGeom prst="rect">
            <a:avLst/>
          </a:prstGeom>
          <a:noFill/>
          <a:ln>
            <a:noFill/>
          </a:ln>
        </p:spPr>
      </p:pic>
      <p:sp>
        <p:nvSpPr>
          <p:cNvPr id="14" name="TextBox 13">
            <a:extLst>
              <a:ext uri="{FF2B5EF4-FFF2-40B4-BE49-F238E27FC236}">
                <a16:creationId xmlns:a16="http://schemas.microsoft.com/office/drawing/2014/main" id="{D7F6A12A-2E1E-443C-9E9E-8EB471E2442D}"/>
              </a:ext>
            </a:extLst>
          </p:cNvPr>
          <p:cNvSpPr txBox="1"/>
          <p:nvPr/>
        </p:nvSpPr>
        <p:spPr>
          <a:xfrm>
            <a:off x="1025558" y="5870876"/>
            <a:ext cx="8643736" cy="671915"/>
          </a:xfrm>
          <a:prstGeom prst="rect">
            <a:avLst/>
          </a:prstGeom>
          <a:noFill/>
        </p:spPr>
        <p:txBody>
          <a:bodyPr wrap="square">
            <a:spAutoFit/>
          </a:bodyPr>
          <a:lstStyle/>
          <a:p>
            <a:pPr>
              <a:lnSpc>
                <a:spcPct val="107000"/>
              </a:lnSpc>
              <a:spcAft>
                <a:spcPts val="800"/>
              </a:spcAft>
            </a:pPr>
            <a:r>
              <a:rPr lang="en-US" sz="1800" b="1" i="1"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Note: The Bayes Rule might not achieve the maximum profit if the estimate of the posterior probability is poorly estimated.</a:t>
            </a:r>
            <a:endParaRPr lang="en-IN" sz="1800" b="1" i="1"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596643071"/>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3" name="Rectangle 2"/>
          <p:cNvSpPr/>
          <p:nvPr/>
        </p:nvSpPr>
        <p:spPr>
          <a:xfrm>
            <a:off x="8460231" y="2489663"/>
            <a:ext cx="184730" cy="923330"/>
          </a:xfrm>
          <a:prstGeom prst="rect">
            <a:avLst/>
          </a:prstGeom>
          <a:noFill/>
        </p:spPr>
        <p:txBody>
          <a:bodyPr wrap="none" lIns="91440" tIns="45720" rIns="91440" bIns="45720">
            <a:spAutoFit/>
          </a:bodyPr>
          <a:lstStyle/>
          <a:p>
            <a:pPr algn="ctr"/>
            <a:endParaRPr lang="en-US" sz="5400" b="0" cap="none" spc="0" dirty="0">
              <a:ln w="0"/>
              <a:solidFill>
                <a:schemeClr val="tx1"/>
              </a:solidFill>
              <a:effectLst>
                <a:outerShdw blurRad="38100" dist="19050" dir="2700000" algn="tl" rotWithShape="0">
                  <a:schemeClr val="dk1">
                    <a:alpha val="40000"/>
                  </a:schemeClr>
                </a:outerShdw>
              </a:effectLst>
            </a:endParaRPr>
          </a:p>
        </p:txBody>
      </p:sp>
      <p:sp>
        <p:nvSpPr>
          <p:cNvPr id="5" name="Rectangle 4"/>
          <p:cNvSpPr/>
          <p:nvPr/>
        </p:nvSpPr>
        <p:spPr>
          <a:xfrm>
            <a:off x="3951691" y="2689718"/>
            <a:ext cx="3142207" cy="1446550"/>
          </a:xfrm>
          <a:prstGeom prst="rect">
            <a:avLst/>
          </a:prstGeom>
          <a:noFill/>
        </p:spPr>
        <p:txBody>
          <a:bodyPr wrap="none" lIns="91440" tIns="45720" rIns="91440" bIns="45720">
            <a:spAutoFit/>
          </a:bodyPr>
          <a:lstStyle/>
          <a:p>
            <a:pPr algn="ctr"/>
            <a:r>
              <a:rPr lang="en-US" sz="8800" b="0" cap="none" spc="0" dirty="0">
                <a:ln w="0"/>
                <a:solidFill>
                  <a:srgbClr val="FFFF00"/>
                </a:solidFill>
                <a:effectLst>
                  <a:outerShdw blurRad="38100" dist="19050" dir="2700000" algn="tl" rotWithShape="0">
                    <a:schemeClr val="dk1">
                      <a:alpha val="40000"/>
                    </a:schemeClr>
                  </a:outerShdw>
                </a:effectLst>
              </a:rPr>
              <a:t>DEMO</a:t>
            </a:r>
          </a:p>
        </p:txBody>
      </p:sp>
    </p:spTree>
    <p:extLst>
      <p:ext uri="{BB962C8B-B14F-4D97-AF65-F5344CB8AC3E}">
        <p14:creationId xmlns:p14="http://schemas.microsoft.com/office/powerpoint/2010/main" val="2608761988"/>
      </p:ext>
    </p:extLst>
  </p:cSld>
  <p:clrMapOvr>
    <a:masterClrMapping/>
  </p:clrMapOvr>
</p:sld>
</file>

<file path=ppt/theme/theme1.xml><?xml version="1.0" encoding="utf-8"?>
<a:theme xmlns:a="http://schemas.openxmlformats.org/drawingml/2006/main" name="Office Theme">
  <a:themeElements>
    <a:clrScheme name="Blue">
      <a:dk1>
        <a:sysClr val="windowText" lastClr="000000"/>
      </a:dk1>
      <a:lt1>
        <a:sysClr val="window" lastClr="FFFFFF"/>
      </a:lt1>
      <a:dk2>
        <a:srgbClr val="17406D"/>
      </a:dk2>
      <a:lt2>
        <a:srgbClr val="DBEF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1165</TotalTime>
  <Words>5269</Words>
  <Application>Microsoft Office PowerPoint</Application>
  <PresentationFormat>Widescreen</PresentationFormat>
  <Paragraphs>449</Paragraphs>
  <Slides>111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111</vt:i4>
      </vt:variant>
    </vt:vector>
  </HeadingPairs>
  <TitlesOfParts>
    <vt:vector size="116" baseType="lpstr">
      <vt:lpstr>Arial</vt:lpstr>
      <vt:lpstr>Calibri</vt:lpstr>
      <vt:lpstr>Calibri Light</vt:lpstr>
      <vt:lpstr>Wingdings</vt:lpstr>
      <vt:lpstr>Office Theme</vt:lpstr>
      <vt:lpstr>Course Name: Categorical Data Analysis using SAS Course Duration: 15+ Hours Approx. Course Resources: Materials + Data + Codes </vt:lpstr>
      <vt:lpstr>Disclaimer</vt:lpstr>
      <vt:lpstr>Index/Agenda</vt:lpstr>
      <vt:lpstr>Index/Agenda</vt:lpstr>
      <vt:lpstr>Examining Distributions </vt:lpstr>
      <vt:lpstr>Examining Distributions </vt:lpstr>
      <vt:lpstr>Examining Distributions </vt:lpstr>
      <vt:lpstr>Examining Distributions </vt:lpstr>
      <vt:lpstr>Examining Distributions </vt:lpstr>
      <vt:lpstr>Examining Distributions </vt:lpstr>
      <vt:lpstr>Examining Distributions </vt:lpstr>
      <vt:lpstr>Examining Distributions </vt:lpstr>
      <vt:lpstr>Examining Distributions </vt:lpstr>
      <vt:lpstr>Examining Distributions </vt:lpstr>
      <vt:lpstr>Examining Distributions </vt:lpstr>
      <vt:lpstr>Test of Associations</vt:lpstr>
      <vt:lpstr>Test of Associations</vt:lpstr>
      <vt:lpstr>Test of Associations</vt:lpstr>
      <vt:lpstr>Test of Associations</vt:lpstr>
      <vt:lpstr>Test of Associations</vt:lpstr>
      <vt:lpstr>Test of Associations</vt:lpstr>
      <vt:lpstr>Test of Associations</vt:lpstr>
      <vt:lpstr>Test of Associations</vt:lpstr>
      <vt:lpstr>Test of Associations</vt:lpstr>
      <vt:lpstr>Test of Associations</vt:lpstr>
      <vt:lpstr>Test of Associations</vt:lpstr>
      <vt:lpstr>Fisher’s Exact p-value</vt:lpstr>
      <vt:lpstr>Fisher’s Exact p-value</vt:lpstr>
      <vt:lpstr>Fisher’s Exact p-value</vt:lpstr>
      <vt:lpstr>Fisher’s Exact p-value</vt:lpstr>
      <vt:lpstr>Fisher’s Exact p-value</vt:lpstr>
      <vt:lpstr>Fisher’s Exact p-value</vt:lpstr>
      <vt:lpstr>Fisher’s Exact p-value</vt:lpstr>
      <vt:lpstr>Fisher’s Exact p-value</vt:lpstr>
      <vt:lpstr>Fisher’s Exact p-value</vt:lpstr>
      <vt:lpstr>Test of Ordinal Association</vt:lpstr>
      <vt:lpstr>Test of Ordinal Association</vt:lpstr>
      <vt:lpstr>Test of Ordinal Association</vt:lpstr>
      <vt:lpstr>Test of Ordinal Association</vt:lpstr>
      <vt:lpstr>Test of Ordinal Association</vt:lpstr>
      <vt:lpstr>Test of Ordinal Association</vt:lpstr>
      <vt:lpstr>Test of Ordinal Association</vt:lpstr>
      <vt:lpstr>Test of Ordinal Association</vt:lpstr>
      <vt:lpstr>Odds and Odds Ratio</vt:lpstr>
      <vt:lpstr>Odds and Odds Ratio</vt:lpstr>
      <vt:lpstr>Odds and Odds Ratio</vt:lpstr>
      <vt:lpstr>Odds and Odds Ratio</vt:lpstr>
      <vt:lpstr>Odds and Odds Ratio</vt:lpstr>
      <vt:lpstr>Odds and Odds Ratio</vt:lpstr>
      <vt:lpstr>Odds and Odds Ratio</vt:lpstr>
      <vt:lpstr>Logistic Regression</vt:lpstr>
      <vt:lpstr>Logistic Regression</vt:lpstr>
      <vt:lpstr>Logistic Regression</vt:lpstr>
      <vt:lpstr>Logistic Regression</vt:lpstr>
      <vt:lpstr>Logistic Regression</vt:lpstr>
      <vt:lpstr>Logistic Regression</vt:lpstr>
      <vt:lpstr>Logistic Regression</vt:lpstr>
      <vt:lpstr>Logistic Regression</vt:lpstr>
      <vt:lpstr>Logistic Regression</vt:lpstr>
      <vt:lpstr>Logistic Regression</vt:lpstr>
      <vt:lpstr>Logistic Regression</vt:lpstr>
      <vt:lpstr>Logistic Regression</vt:lpstr>
      <vt:lpstr>Logistic Regression</vt:lpstr>
      <vt:lpstr>Logistic Regression</vt:lpstr>
      <vt:lpstr>Logistic Regression</vt:lpstr>
      <vt:lpstr>Logistic Regression</vt:lpstr>
      <vt:lpstr>Logistic Regression</vt:lpstr>
      <vt:lpstr>Logistic Regression</vt:lpstr>
      <vt:lpstr>Logistic Regression</vt:lpstr>
      <vt:lpstr>Logistic Regression</vt:lpstr>
      <vt:lpstr>Logistic Regression</vt:lpstr>
      <vt:lpstr>Logistic Regression</vt:lpstr>
      <vt:lpstr>Logistic Regression</vt:lpstr>
      <vt:lpstr>Logistic Regression</vt:lpstr>
      <vt:lpstr>Logistic Regression</vt:lpstr>
      <vt:lpstr>Logistic Regression</vt:lpstr>
      <vt:lpstr>Logistic Regression</vt:lpstr>
      <vt:lpstr>Logistic Regression</vt:lpstr>
      <vt:lpstr>Logistic Regression</vt:lpstr>
      <vt:lpstr>Logistic Regression</vt:lpstr>
      <vt:lpstr>Logistic Regression</vt:lpstr>
      <vt:lpstr>Logistic Regression</vt:lpstr>
      <vt:lpstr>Logistic Regression</vt:lpstr>
      <vt:lpstr>Logistic Regression</vt:lpstr>
      <vt:lpstr>Logistic Regression</vt:lpstr>
      <vt:lpstr>Logistic Regression</vt:lpstr>
      <vt:lpstr>Logistic Regression</vt:lpstr>
      <vt:lpstr>Logistic Regression</vt:lpstr>
      <vt:lpstr>Honest Assessment</vt:lpstr>
      <vt:lpstr>Honest Assessment</vt:lpstr>
      <vt:lpstr>Honest Assessment</vt:lpstr>
      <vt:lpstr>Honest Assessment</vt:lpstr>
      <vt:lpstr>Honest Assessment</vt:lpstr>
      <vt:lpstr>Honest Assessment</vt:lpstr>
      <vt:lpstr>Rare Event</vt:lpstr>
      <vt:lpstr>Rare Event</vt:lpstr>
      <vt:lpstr>Rare Event</vt:lpstr>
      <vt:lpstr>PowerPoint Presentation</vt:lpstr>
      <vt:lpstr>Confusion Matrix</vt:lpstr>
      <vt:lpstr>Confusion Matrix</vt:lpstr>
      <vt:lpstr>Confusion Matrix</vt:lpstr>
      <vt:lpstr>ROC Curve</vt:lpstr>
      <vt:lpstr>ROC Curve</vt:lpstr>
      <vt:lpstr>Lift/Gains Chart</vt:lpstr>
      <vt:lpstr>Lift/Gains Chart</vt:lpstr>
      <vt:lpstr>PowerPoint Presentation</vt:lpstr>
      <vt:lpstr>Allocation Rule</vt:lpstr>
      <vt:lpstr>Allocation Rule</vt:lpstr>
      <vt:lpstr>Allocation Rule</vt:lpstr>
      <vt:lpstr>Allocation Rule</vt:lpstr>
      <vt:lpstr>PowerPoint Presentation</vt:lpstr>
    </vt:vector>
  </TitlesOfParts>
  <Company>SAS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Analysis by using SAS (Demo)</dc:title>
  <dc:creator>Urvish Shah</dc:creator>
  <cp:lastModifiedBy>Urvish Shah</cp:lastModifiedBy>
  <cp:revision>662</cp:revision>
  <dcterms:created xsi:type="dcterms:W3CDTF">2015-11-18T16:05:43Z</dcterms:created>
  <dcterms:modified xsi:type="dcterms:W3CDTF">2020-08-20T08:01:20Z</dcterms:modified>
</cp:coreProperties>
</file>