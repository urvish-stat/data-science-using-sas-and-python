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53"/>
  </p:notesMasterIdLst>
  <p:sldIdLst>
    <p:sldId id="321" r:id="rId3"/>
    <p:sldId id="257" r:id="rId4"/>
    <p:sldId id="327" r:id="rId5"/>
    <p:sldId id="293" r:id="rId6"/>
    <p:sldId id="294" r:id="rId7"/>
    <p:sldId id="295" r:id="rId8"/>
    <p:sldId id="296" r:id="rId9"/>
    <p:sldId id="298" r:id="rId10"/>
    <p:sldId id="322" r:id="rId11"/>
    <p:sldId id="299" r:id="rId12"/>
    <p:sldId id="300" r:id="rId13"/>
    <p:sldId id="302" r:id="rId14"/>
    <p:sldId id="323" r:id="rId15"/>
    <p:sldId id="303" r:id="rId16"/>
    <p:sldId id="329" r:id="rId17"/>
    <p:sldId id="330" r:id="rId18"/>
    <p:sldId id="328" r:id="rId19"/>
    <p:sldId id="332" r:id="rId20"/>
    <p:sldId id="331" r:id="rId21"/>
    <p:sldId id="334" r:id="rId22"/>
    <p:sldId id="333" r:id="rId23"/>
    <p:sldId id="335" r:id="rId24"/>
    <p:sldId id="336" r:id="rId25"/>
    <p:sldId id="337" r:id="rId26"/>
    <p:sldId id="338" r:id="rId27"/>
    <p:sldId id="339" r:id="rId28"/>
    <p:sldId id="340" r:id="rId29"/>
    <p:sldId id="304" r:id="rId30"/>
    <p:sldId id="305" r:id="rId31"/>
    <p:sldId id="306" r:id="rId32"/>
    <p:sldId id="307" r:id="rId33"/>
    <p:sldId id="308" r:id="rId34"/>
    <p:sldId id="309" r:id="rId35"/>
    <p:sldId id="310" r:id="rId36"/>
    <p:sldId id="311" r:id="rId37"/>
    <p:sldId id="341" r:id="rId38"/>
    <p:sldId id="312" r:id="rId39"/>
    <p:sldId id="342" r:id="rId40"/>
    <p:sldId id="343" r:id="rId41"/>
    <p:sldId id="345" r:id="rId42"/>
    <p:sldId id="344" r:id="rId43"/>
    <p:sldId id="346" r:id="rId44"/>
    <p:sldId id="313" r:id="rId45"/>
    <p:sldId id="324" r:id="rId46"/>
    <p:sldId id="315" r:id="rId47"/>
    <p:sldId id="325" r:id="rId48"/>
    <p:sldId id="317" r:id="rId49"/>
    <p:sldId id="318" r:id="rId50"/>
    <p:sldId id="319" r:id="rId51"/>
    <p:sldId id="32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1499" autoAdjust="0"/>
  </p:normalViewPr>
  <p:slideViewPr>
    <p:cSldViewPr snapToGrid="0">
      <p:cViewPr varScale="1">
        <p:scale>
          <a:sx n="79" d="100"/>
          <a:sy n="79" d="100"/>
        </p:scale>
        <p:origin x="821" y="91"/>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7/10/2020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a:t>
            </a:fld>
            <a:endParaRPr lang="en-US"/>
          </a:p>
        </p:txBody>
      </p:sp>
    </p:spTree>
    <p:extLst>
      <p:ext uri="{BB962C8B-B14F-4D97-AF65-F5344CB8AC3E}">
        <p14:creationId xmlns:p14="http://schemas.microsoft.com/office/powerpoint/2010/main" val="48894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a:t>
            </a:fld>
            <a:endParaRPr lang="en-US"/>
          </a:p>
        </p:txBody>
      </p:sp>
    </p:spTree>
    <p:extLst>
      <p:ext uri="{BB962C8B-B14F-4D97-AF65-F5344CB8AC3E}">
        <p14:creationId xmlns:p14="http://schemas.microsoft.com/office/powerpoint/2010/main" val="3245907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a:t>
            </a:fld>
            <a:endParaRPr lang="en-US"/>
          </a:p>
        </p:txBody>
      </p:sp>
    </p:spTree>
    <p:extLst>
      <p:ext uri="{BB962C8B-B14F-4D97-AF65-F5344CB8AC3E}">
        <p14:creationId xmlns:p14="http://schemas.microsoft.com/office/powerpoint/2010/main" val="143727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5</a:t>
            </a:fld>
            <a:endParaRPr lang="en-US"/>
          </a:p>
        </p:txBody>
      </p:sp>
    </p:spTree>
    <p:extLst>
      <p:ext uri="{BB962C8B-B14F-4D97-AF65-F5344CB8AC3E}">
        <p14:creationId xmlns:p14="http://schemas.microsoft.com/office/powerpoint/2010/main" val="3357838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6</a:t>
            </a:fld>
            <a:endParaRPr lang="en-US"/>
          </a:p>
        </p:txBody>
      </p:sp>
    </p:spTree>
    <p:extLst>
      <p:ext uri="{BB962C8B-B14F-4D97-AF65-F5344CB8AC3E}">
        <p14:creationId xmlns:p14="http://schemas.microsoft.com/office/powerpoint/2010/main" val="1436057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7</a:t>
            </a:fld>
            <a:endParaRPr lang="en-US"/>
          </a:p>
        </p:txBody>
      </p:sp>
    </p:spTree>
    <p:extLst>
      <p:ext uri="{BB962C8B-B14F-4D97-AF65-F5344CB8AC3E}">
        <p14:creationId xmlns:p14="http://schemas.microsoft.com/office/powerpoint/2010/main" val="3553893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8</a:t>
            </a:fld>
            <a:endParaRPr lang="en-US"/>
          </a:p>
        </p:txBody>
      </p:sp>
    </p:spTree>
    <p:extLst>
      <p:ext uri="{BB962C8B-B14F-4D97-AF65-F5344CB8AC3E}">
        <p14:creationId xmlns:p14="http://schemas.microsoft.com/office/powerpoint/2010/main" val="7226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10</a:t>
            </a:fld>
            <a:endParaRPr lang="en-US"/>
          </a:p>
        </p:txBody>
      </p:sp>
    </p:spTree>
    <p:extLst>
      <p:ext uri="{BB962C8B-B14F-4D97-AF65-F5344CB8AC3E}">
        <p14:creationId xmlns:p14="http://schemas.microsoft.com/office/powerpoint/2010/main" val="692364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11</a:t>
            </a:fld>
            <a:endParaRPr lang="en-US"/>
          </a:p>
        </p:txBody>
      </p:sp>
    </p:spTree>
    <p:extLst>
      <p:ext uri="{BB962C8B-B14F-4D97-AF65-F5344CB8AC3E}">
        <p14:creationId xmlns:p14="http://schemas.microsoft.com/office/powerpoint/2010/main" val="3735082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12</a:t>
            </a:fld>
            <a:endParaRPr lang="en-US"/>
          </a:p>
        </p:txBody>
      </p:sp>
    </p:spTree>
    <p:extLst>
      <p:ext uri="{BB962C8B-B14F-4D97-AF65-F5344CB8AC3E}">
        <p14:creationId xmlns:p14="http://schemas.microsoft.com/office/powerpoint/2010/main" val="2360857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14</a:t>
            </a:fld>
            <a:endParaRPr lang="en-US"/>
          </a:p>
        </p:txBody>
      </p:sp>
    </p:spTree>
    <p:extLst>
      <p:ext uri="{BB962C8B-B14F-4D97-AF65-F5344CB8AC3E}">
        <p14:creationId xmlns:p14="http://schemas.microsoft.com/office/powerpoint/2010/main" val="923007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15</a:t>
            </a:fld>
            <a:endParaRPr lang="en-US"/>
          </a:p>
        </p:txBody>
      </p:sp>
    </p:spTree>
    <p:extLst>
      <p:ext uri="{BB962C8B-B14F-4D97-AF65-F5344CB8AC3E}">
        <p14:creationId xmlns:p14="http://schemas.microsoft.com/office/powerpoint/2010/main" val="37746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16</a:t>
            </a:fld>
            <a:endParaRPr lang="en-US"/>
          </a:p>
        </p:txBody>
      </p:sp>
    </p:spTree>
    <p:extLst>
      <p:ext uri="{BB962C8B-B14F-4D97-AF65-F5344CB8AC3E}">
        <p14:creationId xmlns:p14="http://schemas.microsoft.com/office/powerpoint/2010/main" val="1270587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17</a:t>
            </a:fld>
            <a:endParaRPr lang="en-US"/>
          </a:p>
        </p:txBody>
      </p:sp>
    </p:spTree>
    <p:extLst>
      <p:ext uri="{BB962C8B-B14F-4D97-AF65-F5344CB8AC3E}">
        <p14:creationId xmlns:p14="http://schemas.microsoft.com/office/powerpoint/2010/main" val="1666455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18</a:t>
            </a:fld>
            <a:endParaRPr lang="en-US"/>
          </a:p>
        </p:txBody>
      </p:sp>
    </p:spTree>
    <p:extLst>
      <p:ext uri="{BB962C8B-B14F-4D97-AF65-F5344CB8AC3E}">
        <p14:creationId xmlns:p14="http://schemas.microsoft.com/office/powerpoint/2010/main" val="2151387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19</a:t>
            </a:fld>
            <a:endParaRPr lang="en-US"/>
          </a:p>
        </p:txBody>
      </p:sp>
    </p:spTree>
    <p:extLst>
      <p:ext uri="{BB962C8B-B14F-4D97-AF65-F5344CB8AC3E}">
        <p14:creationId xmlns:p14="http://schemas.microsoft.com/office/powerpoint/2010/main" val="4272184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21</a:t>
            </a:fld>
            <a:endParaRPr lang="en-US"/>
          </a:p>
        </p:txBody>
      </p:sp>
    </p:spTree>
    <p:extLst>
      <p:ext uri="{BB962C8B-B14F-4D97-AF65-F5344CB8AC3E}">
        <p14:creationId xmlns:p14="http://schemas.microsoft.com/office/powerpoint/2010/main" val="3315105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22</a:t>
            </a:fld>
            <a:endParaRPr lang="en-US"/>
          </a:p>
        </p:txBody>
      </p:sp>
    </p:spTree>
    <p:extLst>
      <p:ext uri="{BB962C8B-B14F-4D97-AF65-F5344CB8AC3E}">
        <p14:creationId xmlns:p14="http://schemas.microsoft.com/office/powerpoint/2010/main" val="3013483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23</a:t>
            </a:fld>
            <a:endParaRPr lang="en-US"/>
          </a:p>
        </p:txBody>
      </p:sp>
    </p:spTree>
    <p:extLst>
      <p:ext uri="{BB962C8B-B14F-4D97-AF65-F5344CB8AC3E}">
        <p14:creationId xmlns:p14="http://schemas.microsoft.com/office/powerpoint/2010/main" val="3186653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24</a:t>
            </a:fld>
            <a:endParaRPr lang="en-US"/>
          </a:p>
        </p:txBody>
      </p:sp>
    </p:spTree>
    <p:extLst>
      <p:ext uri="{BB962C8B-B14F-4D97-AF65-F5344CB8AC3E}">
        <p14:creationId xmlns:p14="http://schemas.microsoft.com/office/powerpoint/2010/main" val="418192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25</a:t>
            </a:fld>
            <a:endParaRPr lang="en-US"/>
          </a:p>
        </p:txBody>
      </p:sp>
    </p:spTree>
    <p:extLst>
      <p:ext uri="{BB962C8B-B14F-4D97-AF65-F5344CB8AC3E}">
        <p14:creationId xmlns:p14="http://schemas.microsoft.com/office/powerpoint/2010/main" val="1001280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26</a:t>
            </a:fld>
            <a:endParaRPr lang="en-US"/>
          </a:p>
        </p:txBody>
      </p:sp>
    </p:spTree>
    <p:extLst>
      <p:ext uri="{BB962C8B-B14F-4D97-AF65-F5344CB8AC3E}">
        <p14:creationId xmlns:p14="http://schemas.microsoft.com/office/powerpoint/2010/main" val="1248745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27</a:t>
            </a:fld>
            <a:endParaRPr lang="en-US"/>
          </a:p>
        </p:txBody>
      </p:sp>
    </p:spTree>
    <p:extLst>
      <p:ext uri="{BB962C8B-B14F-4D97-AF65-F5344CB8AC3E}">
        <p14:creationId xmlns:p14="http://schemas.microsoft.com/office/powerpoint/2010/main" val="32766925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28</a:t>
            </a:fld>
            <a:endParaRPr lang="en-US"/>
          </a:p>
        </p:txBody>
      </p:sp>
    </p:spTree>
    <p:extLst>
      <p:ext uri="{BB962C8B-B14F-4D97-AF65-F5344CB8AC3E}">
        <p14:creationId xmlns:p14="http://schemas.microsoft.com/office/powerpoint/2010/main" val="19112206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29</a:t>
            </a:fld>
            <a:endParaRPr lang="en-US"/>
          </a:p>
        </p:txBody>
      </p:sp>
    </p:spTree>
    <p:extLst>
      <p:ext uri="{BB962C8B-B14F-4D97-AF65-F5344CB8AC3E}">
        <p14:creationId xmlns:p14="http://schemas.microsoft.com/office/powerpoint/2010/main" val="3828221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30</a:t>
            </a:fld>
            <a:endParaRPr lang="en-US"/>
          </a:p>
        </p:txBody>
      </p:sp>
    </p:spTree>
    <p:extLst>
      <p:ext uri="{BB962C8B-B14F-4D97-AF65-F5344CB8AC3E}">
        <p14:creationId xmlns:p14="http://schemas.microsoft.com/office/powerpoint/2010/main" val="2435826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31</a:t>
            </a:fld>
            <a:endParaRPr lang="en-US"/>
          </a:p>
        </p:txBody>
      </p:sp>
    </p:spTree>
    <p:extLst>
      <p:ext uri="{BB962C8B-B14F-4D97-AF65-F5344CB8AC3E}">
        <p14:creationId xmlns:p14="http://schemas.microsoft.com/office/powerpoint/2010/main" val="1153524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32</a:t>
            </a:fld>
            <a:endParaRPr lang="en-US"/>
          </a:p>
        </p:txBody>
      </p:sp>
    </p:spTree>
    <p:extLst>
      <p:ext uri="{BB962C8B-B14F-4D97-AF65-F5344CB8AC3E}">
        <p14:creationId xmlns:p14="http://schemas.microsoft.com/office/powerpoint/2010/main" val="26509314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33</a:t>
            </a:fld>
            <a:endParaRPr lang="en-US"/>
          </a:p>
        </p:txBody>
      </p:sp>
    </p:spTree>
    <p:extLst>
      <p:ext uri="{BB962C8B-B14F-4D97-AF65-F5344CB8AC3E}">
        <p14:creationId xmlns:p14="http://schemas.microsoft.com/office/powerpoint/2010/main" val="2625545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34</a:t>
            </a:fld>
            <a:endParaRPr lang="en-US"/>
          </a:p>
        </p:txBody>
      </p:sp>
    </p:spTree>
    <p:extLst>
      <p:ext uri="{BB962C8B-B14F-4D97-AF65-F5344CB8AC3E}">
        <p14:creationId xmlns:p14="http://schemas.microsoft.com/office/powerpoint/2010/main" val="929538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35</a:t>
            </a:fld>
            <a:endParaRPr lang="en-US"/>
          </a:p>
        </p:txBody>
      </p:sp>
    </p:spTree>
    <p:extLst>
      <p:ext uri="{BB962C8B-B14F-4D97-AF65-F5344CB8AC3E}">
        <p14:creationId xmlns:p14="http://schemas.microsoft.com/office/powerpoint/2010/main" val="2016610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36</a:t>
            </a:fld>
            <a:endParaRPr lang="en-US"/>
          </a:p>
        </p:txBody>
      </p:sp>
    </p:spTree>
    <p:extLst>
      <p:ext uri="{BB962C8B-B14F-4D97-AF65-F5344CB8AC3E}">
        <p14:creationId xmlns:p14="http://schemas.microsoft.com/office/powerpoint/2010/main" val="27446821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37</a:t>
            </a:fld>
            <a:endParaRPr lang="en-US"/>
          </a:p>
        </p:txBody>
      </p:sp>
    </p:spTree>
    <p:extLst>
      <p:ext uri="{BB962C8B-B14F-4D97-AF65-F5344CB8AC3E}">
        <p14:creationId xmlns:p14="http://schemas.microsoft.com/office/powerpoint/2010/main" val="33387179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38</a:t>
            </a:fld>
            <a:endParaRPr lang="en-US"/>
          </a:p>
        </p:txBody>
      </p:sp>
    </p:spTree>
    <p:extLst>
      <p:ext uri="{BB962C8B-B14F-4D97-AF65-F5344CB8AC3E}">
        <p14:creationId xmlns:p14="http://schemas.microsoft.com/office/powerpoint/2010/main" val="2303844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39</a:t>
            </a:fld>
            <a:endParaRPr lang="en-US"/>
          </a:p>
        </p:txBody>
      </p:sp>
    </p:spTree>
    <p:extLst>
      <p:ext uri="{BB962C8B-B14F-4D97-AF65-F5344CB8AC3E}">
        <p14:creationId xmlns:p14="http://schemas.microsoft.com/office/powerpoint/2010/main" val="16586251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40</a:t>
            </a:fld>
            <a:endParaRPr lang="en-US"/>
          </a:p>
        </p:txBody>
      </p:sp>
    </p:spTree>
    <p:extLst>
      <p:ext uri="{BB962C8B-B14F-4D97-AF65-F5344CB8AC3E}">
        <p14:creationId xmlns:p14="http://schemas.microsoft.com/office/powerpoint/2010/main" val="4582697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41</a:t>
            </a:fld>
            <a:endParaRPr lang="en-US"/>
          </a:p>
        </p:txBody>
      </p:sp>
    </p:spTree>
    <p:extLst>
      <p:ext uri="{BB962C8B-B14F-4D97-AF65-F5344CB8AC3E}">
        <p14:creationId xmlns:p14="http://schemas.microsoft.com/office/powerpoint/2010/main" val="9911657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42</a:t>
            </a:fld>
            <a:endParaRPr lang="en-US"/>
          </a:p>
        </p:txBody>
      </p:sp>
    </p:spTree>
    <p:extLst>
      <p:ext uri="{BB962C8B-B14F-4D97-AF65-F5344CB8AC3E}">
        <p14:creationId xmlns:p14="http://schemas.microsoft.com/office/powerpoint/2010/main" val="23868797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43</a:t>
            </a:fld>
            <a:endParaRPr lang="en-US"/>
          </a:p>
        </p:txBody>
      </p:sp>
    </p:spTree>
    <p:extLst>
      <p:ext uri="{BB962C8B-B14F-4D97-AF65-F5344CB8AC3E}">
        <p14:creationId xmlns:p14="http://schemas.microsoft.com/office/powerpoint/2010/main" val="42699570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45</a:t>
            </a:fld>
            <a:endParaRPr lang="en-US"/>
          </a:p>
        </p:txBody>
      </p:sp>
    </p:spTree>
    <p:extLst>
      <p:ext uri="{BB962C8B-B14F-4D97-AF65-F5344CB8AC3E}">
        <p14:creationId xmlns:p14="http://schemas.microsoft.com/office/powerpoint/2010/main" val="32960962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47</a:t>
            </a:fld>
            <a:endParaRPr lang="en-US"/>
          </a:p>
        </p:txBody>
      </p:sp>
    </p:spTree>
    <p:extLst>
      <p:ext uri="{BB962C8B-B14F-4D97-AF65-F5344CB8AC3E}">
        <p14:creationId xmlns:p14="http://schemas.microsoft.com/office/powerpoint/2010/main" val="40320729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48</a:t>
            </a:fld>
            <a:endParaRPr lang="en-US"/>
          </a:p>
        </p:txBody>
      </p:sp>
    </p:spTree>
    <p:extLst>
      <p:ext uri="{BB962C8B-B14F-4D97-AF65-F5344CB8AC3E}">
        <p14:creationId xmlns:p14="http://schemas.microsoft.com/office/powerpoint/2010/main" val="23416944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39B35-E5C0-4422-AAF8-BFFA2F238F42}" type="slidenum">
              <a:rPr lang="en-US" smtClean="0"/>
              <a:t>49</a:t>
            </a:fld>
            <a:endParaRPr lang="en-US"/>
          </a:p>
        </p:txBody>
      </p:sp>
    </p:spTree>
    <p:extLst>
      <p:ext uri="{BB962C8B-B14F-4D97-AF65-F5344CB8AC3E}">
        <p14:creationId xmlns:p14="http://schemas.microsoft.com/office/powerpoint/2010/main" val="2335237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7/10/2020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7/10/2020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7/10/2020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501655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9650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187308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388777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7/10/2020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605083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7/10/2020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45476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7/10/2020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131121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9966872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4205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9738119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36035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7/10/2020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7/10/2020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24092851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42647" y="2356163"/>
            <a:ext cx="9144000" cy="2092745"/>
          </a:xfrm>
        </p:spPr>
        <p:txBody>
          <a:bodyPr>
            <a:noAutofit/>
          </a:bodyPr>
          <a:lstStyle/>
          <a:p>
            <a:r>
              <a:rPr lang="en-US" sz="8000" dirty="0"/>
              <a:t>Hypothesis Testing and ANOVA </a:t>
            </a:r>
          </a:p>
        </p:txBody>
      </p:sp>
    </p:spTree>
    <p:extLst>
      <p:ext uri="{BB962C8B-B14F-4D97-AF65-F5344CB8AC3E}">
        <p14:creationId xmlns:p14="http://schemas.microsoft.com/office/powerpoint/2010/main" val="1428881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lstStyle/>
          <a:p>
            <a:r>
              <a:rPr lang="en-US" dirty="0"/>
              <a:t>Hypothesis Testing typically begins with theory, claim or assertion about population parameter.</a:t>
            </a:r>
          </a:p>
          <a:p>
            <a:r>
              <a:rPr lang="en-US" dirty="0"/>
              <a:t>Hypothesis is nothing but assumption which we make about your population parameter (mean). And we need to test that assumption to reach conclusion – called as “Hypothesis Testing”. </a:t>
            </a:r>
          </a:p>
          <a:p>
            <a:r>
              <a:rPr lang="en-US" dirty="0"/>
              <a:t>The term </a:t>
            </a:r>
            <a:r>
              <a:rPr lang="en-US" i="1" dirty="0"/>
              <a:t>“t-</a:t>
            </a:r>
            <a:r>
              <a:rPr lang="en-US" dirty="0"/>
              <a:t>test</a:t>
            </a:r>
            <a:r>
              <a:rPr lang="en-US" i="1" dirty="0"/>
              <a:t>” </a:t>
            </a:r>
            <a:r>
              <a:rPr lang="en-US" dirty="0"/>
              <a:t>stands for </a:t>
            </a:r>
            <a:r>
              <a:rPr lang="en-US" i="1" dirty="0"/>
              <a:t>“t </a:t>
            </a:r>
            <a:r>
              <a:rPr lang="en-US" dirty="0"/>
              <a:t>distribution</a:t>
            </a:r>
            <a:r>
              <a:rPr lang="en-US" i="1" dirty="0"/>
              <a:t>” </a:t>
            </a:r>
            <a:r>
              <a:rPr lang="en-US" dirty="0"/>
              <a:t>for hypothesis testing.</a:t>
            </a:r>
            <a:r>
              <a:rPr lang="en-US" i="1" dirty="0"/>
              <a:t> </a:t>
            </a:r>
            <a:r>
              <a:rPr lang="en-US" dirty="0"/>
              <a:t>It can be use if we have sample standard deviation and sample mean.</a:t>
            </a:r>
            <a:endParaRPr lang="en-US" i="1" dirty="0"/>
          </a:p>
          <a:p>
            <a:pPr marL="0" indent="0">
              <a:buNone/>
            </a:pPr>
            <a:endParaRPr lang="en-US" i="1" dirty="0"/>
          </a:p>
          <a:p>
            <a:pPr marL="0" indent="0">
              <a:buNone/>
            </a:pPr>
            <a:endParaRPr lang="en-US" i="1" dirty="0"/>
          </a:p>
        </p:txBody>
      </p:sp>
      <p:pic>
        <p:nvPicPr>
          <p:cNvPr id="1026" name="Picture 2" descr="http://www.psych.utoronto.ca/courses/c1/chap7/chapte1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0480" y="4671753"/>
            <a:ext cx="3990513" cy="2186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41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lnSpcReduction="10000"/>
          </a:bodyPr>
          <a:lstStyle/>
          <a:p>
            <a:r>
              <a:rPr lang="en-US" dirty="0"/>
              <a:t>As a Operational Manager of </a:t>
            </a:r>
            <a:r>
              <a:rPr lang="en-US" dirty="0">
                <a:solidFill>
                  <a:srgbClr val="FF0000"/>
                </a:solidFill>
              </a:rPr>
              <a:t>“Oxford Cereal Company”</a:t>
            </a:r>
            <a:r>
              <a:rPr lang="en-US" dirty="0"/>
              <a:t>, you are in charge of monitoring the amount of cereal contained in boxes. You are concerned with evaluating whether or not the cereal-filling process is working to ensure that on average, </a:t>
            </a:r>
            <a:r>
              <a:rPr lang="en-US" dirty="0">
                <a:solidFill>
                  <a:srgbClr val="FF0000"/>
                </a:solidFill>
              </a:rPr>
              <a:t>368 grams of cereal in each box. </a:t>
            </a:r>
          </a:p>
          <a:p>
            <a:r>
              <a:rPr lang="en-US" dirty="0"/>
              <a:t>A random sample of 25 boxes are selected and calculated the weight of each 25 boxes and then calculate the mean weight of 25 boxes to determine how close the mean weights are to 368 grams.</a:t>
            </a:r>
          </a:p>
          <a:p>
            <a:r>
              <a:rPr lang="en-US" dirty="0"/>
              <a:t>You hope that process is working properly, but sampled boxes may contain too little or too much cereals. As a result, you may want to halt the production process until you find the reason of failure. </a:t>
            </a:r>
          </a:p>
          <a:p>
            <a:r>
              <a:rPr lang="en-US" dirty="0"/>
              <a:t>If you find no difference, no corrective action is needed else you need to take corrective actions.  </a:t>
            </a:r>
          </a:p>
          <a:p>
            <a:pPr marL="0" indent="0">
              <a:buNone/>
            </a:pPr>
            <a:endParaRPr lang="en-US" i="1" dirty="0"/>
          </a:p>
        </p:txBody>
      </p:sp>
    </p:spTree>
    <p:extLst>
      <p:ext uri="{BB962C8B-B14F-4D97-AF65-F5344CB8AC3E}">
        <p14:creationId xmlns:p14="http://schemas.microsoft.com/office/powerpoint/2010/main" val="3520199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lstStyle/>
          <a:p>
            <a:r>
              <a:rPr lang="en-US" b="1" dirty="0">
                <a:solidFill>
                  <a:srgbClr val="FF0000"/>
                </a:solidFill>
              </a:rPr>
              <a:t>The Null and Alternate Hypothesis:</a:t>
            </a:r>
            <a:r>
              <a:rPr lang="en-US" dirty="0">
                <a:solidFill>
                  <a:srgbClr val="FF0000"/>
                </a:solidFill>
              </a:rPr>
              <a:t> </a:t>
            </a:r>
            <a:r>
              <a:rPr lang="en-US" dirty="0"/>
              <a:t>The hypothesis that the population parameter is equal to some assumed value is refer to “Null Hypothesis” The null hypothesis is always a notified as “no difference” and is denoted by symbol </a:t>
            </a:r>
          </a:p>
          <a:p>
            <a:r>
              <a:rPr lang="en-US" i="1" dirty="0"/>
              <a:t>For Example:             = 368</a:t>
            </a:r>
          </a:p>
          <a:p>
            <a:r>
              <a:rPr lang="en-US" dirty="0">
                <a:solidFill>
                  <a:srgbClr val="FFFF00"/>
                </a:solidFill>
              </a:rPr>
              <a:t>Null Hypothesis is always written in terms of population. The sample statistics will be used to make inference. </a:t>
            </a:r>
          </a:p>
          <a:p>
            <a:r>
              <a:rPr lang="en-US" dirty="0"/>
              <a:t>One of the possibility is “null hypothesis is false”. If null hypothesis is false then something else must be true. And it is </a:t>
            </a:r>
            <a:r>
              <a:rPr lang="en-US" b="1" dirty="0"/>
              <a:t>Alternative</a:t>
            </a:r>
            <a:r>
              <a:rPr lang="en-US" dirty="0"/>
              <a:t> </a:t>
            </a:r>
            <a:r>
              <a:rPr lang="en-US" b="1" dirty="0"/>
              <a:t>Hypothesis.</a:t>
            </a:r>
            <a:r>
              <a:rPr lang="en-US" dirty="0"/>
              <a:t> It is denoted as </a:t>
            </a:r>
          </a:p>
          <a:p>
            <a:r>
              <a:rPr lang="en-US" i="1" dirty="0"/>
              <a:t>For Example:             =  368</a:t>
            </a:r>
          </a:p>
          <a:p>
            <a:endParaRPr lang="en-US" dirty="0"/>
          </a:p>
          <a:p>
            <a:endParaRPr lang="en-US" dirty="0"/>
          </a:p>
          <a:p>
            <a:pPr marL="0" indent="0">
              <a:buNone/>
            </a:pPr>
            <a:endParaRPr lang="en-US" i="1" dirty="0"/>
          </a:p>
        </p:txBody>
      </p:sp>
      <p:pic>
        <p:nvPicPr>
          <p:cNvPr id="2050" name="Picture 2" descr="https://classconnection.s3.amazonaws.com/544/flashcards/728544/jpg/1613267601171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6931" y="2738725"/>
            <a:ext cx="532016" cy="5863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classconnection.s3.amazonaws.com/544/flashcards/728544/jpg/1613267601171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4487" y="3173758"/>
            <a:ext cx="532016" cy="58636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www.math.hope.edu/tanis/EPADEL/images/power3.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6215" y="5492317"/>
            <a:ext cx="371475" cy="3429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www.math.hope.edu/tanis/EPADEL/images/power3.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4488" y="5812409"/>
            <a:ext cx="532016" cy="593962"/>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8" name="Picture 10" descr="http://www.polyvore.com/cgi/img-thing?.out=jpg&amp;size=l&amp;tid=738474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35303" y="5812410"/>
            <a:ext cx="539966" cy="593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041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lstStyle/>
          <a:p>
            <a:r>
              <a:rPr lang="en-US" b="1" dirty="0">
                <a:solidFill>
                  <a:srgbClr val="FF0000"/>
                </a:solidFill>
              </a:rPr>
              <a:t>Critical Value of </a:t>
            </a:r>
            <a:r>
              <a:rPr lang="en-US" b="1" i="1" dirty="0">
                <a:solidFill>
                  <a:srgbClr val="FF0000"/>
                </a:solidFill>
              </a:rPr>
              <a:t>t-</a:t>
            </a:r>
            <a:r>
              <a:rPr lang="en-US" b="1" dirty="0">
                <a:solidFill>
                  <a:srgbClr val="FF0000"/>
                </a:solidFill>
              </a:rPr>
              <a:t>Test: </a:t>
            </a:r>
            <a:r>
              <a:rPr lang="en-US" b="1" dirty="0"/>
              <a:t>Critical values</a:t>
            </a:r>
            <a:r>
              <a:rPr lang="en-US" dirty="0"/>
              <a:t> for a test of hypothesis depend upon a test </a:t>
            </a:r>
            <a:r>
              <a:rPr lang="en-US" b="1" dirty="0"/>
              <a:t>statistic</a:t>
            </a:r>
            <a:r>
              <a:rPr lang="en-US" dirty="0"/>
              <a:t>, which is specific to the type of test, and the significance level (alpha). For example, you set value of alpha = 5% means that you are (100%-alpha) or 95% confidence that your null hypothesis is true and 5% not. </a:t>
            </a:r>
          </a:p>
          <a:p>
            <a:r>
              <a:rPr lang="en-US" dirty="0"/>
              <a:t>                                                                                      Critical Value divide                                     </a:t>
            </a:r>
          </a:p>
          <a:p>
            <a:pPr marL="0" indent="0">
              <a:buNone/>
            </a:pPr>
            <a:r>
              <a:rPr lang="en-US" dirty="0"/>
              <a:t>                                                                                          the distribution in</a:t>
            </a:r>
          </a:p>
          <a:p>
            <a:pPr marL="0" indent="0">
              <a:buNone/>
            </a:pPr>
            <a:r>
              <a:rPr lang="en-US" dirty="0"/>
              <a:t>                                                                                          terms of rejection     </a:t>
            </a:r>
          </a:p>
          <a:p>
            <a:pPr marL="0" indent="0">
              <a:buNone/>
            </a:pPr>
            <a:r>
              <a:rPr lang="en-US" dirty="0"/>
              <a:t>                                                                                          region and non – </a:t>
            </a:r>
          </a:p>
          <a:p>
            <a:pPr marL="0" indent="0">
              <a:buNone/>
            </a:pPr>
            <a:r>
              <a:rPr lang="en-US" dirty="0"/>
              <a:t>                                                                                          rejection region.</a:t>
            </a:r>
          </a:p>
          <a:p>
            <a:pPr marL="0" indent="0">
              <a:buNone/>
            </a:pPr>
            <a:endParaRPr lang="en-US" i="1" dirty="0"/>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245610" y="3607725"/>
            <a:ext cx="6767859" cy="3125584"/>
          </a:xfrm>
          <a:prstGeom prst="rect">
            <a:avLst/>
          </a:prstGeom>
        </p:spPr>
      </p:pic>
    </p:spTree>
    <p:extLst>
      <p:ext uri="{BB962C8B-B14F-4D97-AF65-F5344CB8AC3E}">
        <p14:creationId xmlns:p14="http://schemas.microsoft.com/office/powerpoint/2010/main" val="2638490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fontScale="92500" lnSpcReduction="20000"/>
          </a:bodyPr>
          <a:lstStyle/>
          <a:p>
            <a:r>
              <a:rPr lang="en-US" b="1" dirty="0">
                <a:solidFill>
                  <a:srgbClr val="FF0000"/>
                </a:solidFill>
              </a:rPr>
              <a:t>Rule for Decision Making: </a:t>
            </a:r>
            <a:endParaRPr lang="en-US" dirty="0">
              <a:solidFill>
                <a:srgbClr val="FF0000"/>
              </a:solidFill>
            </a:endParaRPr>
          </a:p>
          <a:p>
            <a:pPr marL="0" indent="0">
              <a:buNone/>
            </a:pPr>
            <a:r>
              <a:rPr lang="en-US" dirty="0"/>
              <a:t>             reject the null hypothesis if the test statistics </a:t>
            </a:r>
            <a:r>
              <a:rPr lang="en-US" i="1" dirty="0"/>
              <a:t>(t-</a:t>
            </a:r>
            <a:r>
              <a:rPr lang="en-US" dirty="0"/>
              <a:t>test</a:t>
            </a:r>
            <a:r>
              <a:rPr lang="en-US" i="1" dirty="0"/>
              <a:t>) </a:t>
            </a:r>
            <a:r>
              <a:rPr lang="en-US" dirty="0"/>
              <a:t>value falls in area of rejection, </a:t>
            </a:r>
          </a:p>
          <a:p>
            <a:pPr marL="0" indent="0">
              <a:buNone/>
            </a:pPr>
            <a:r>
              <a:rPr lang="en-US" dirty="0"/>
              <a:t>             otherwise do not reject the hypothesis. </a:t>
            </a:r>
          </a:p>
          <a:p>
            <a:r>
              <a:rPr lang="en-US" b="1" dirty="0">
                <a:solidFill>
                  <a:srgbClr val="FF0000"/>
                </a:solidFill>
              </a:rPr>
              <a:t>Risk in Decision Making: </a:t>
            </a:r>
            <a:r>
              <a:rPr lang="en-US" dirty="0"/>
              <a:t>Every decision involves risk based on our assumption. </a:t>
            </a:r>
          </a:p>
          <a:p>
            <a:r>
              <a:rPr lang="en-US" b="1" dirty="0">
                <a:solidFill>
                  <a:srgbClr val="FF0000"/>
                </a:solidFill>
              </a:rPr>
              <a:t>Type I Error: </a:t>
            </a:r>
            <a:r>
              <a:rPr lang="en-US" dirty="0"/>
              <a:t>occurs if the null hypothesis is rejected when in fact it is true. It is nothing but the alpha value which we have agreed on. If alpha is set to 5% then, there is 5% probability of falsely rejecting the hypothesis in fact it is true. </a:t>
            </a:r>
          </a:p>
          <a:p>
            <a:r>
              <a:rPr lang="en-US" b="1" dirty="0">
                <a:solidFill>
                  <a:srgbClr val="FF0000"/>
                </a:solidFill>
              </a:rPr>
              <a:t>Type II Error: </a:t>
            </a:r>
            <a:r>
              <a:rPr lang="en-US" dirty="0"/>
              <a:t>occurs if the null hypothesis is not rejected when in fact it is false. </a:t>
            </a:r>
          </a:p>
          <a:p>
            <a:r>
              <a:rPr lang="en-US" dirty="0"/>
              <a:t>We can control above error either by fixing alpha and by fixing the sample size. </a:t>
            </a:r>
            <a:endParaRPr lang="en-US" b="1" dirty="0"/>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31241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r>
              <a:rPr lang="en-US" b="1" dirty="0"/>
              <a:t>Concept of </a:t>
            </a:r>
            <a:r>
              <a:rPr lang="en-US" b="1" i="1" dirty="0"/>
              <a:t>p-</a:t>
            </a:r>
            <a:r>
              <a:rPr lang="en-US" b="1" dirty="0"/>
              <a:t>value: </a:t>
            </a:r>
            <a:r>
              <a:rPr lang="en-US" dirty="0"/>
              <a:t>There is another way to decide whether to reject the null hypothesis or not to reject it. </a:t>
            </a:r>
            <a:r>
              <a:rPr lang="en-US" i="1" dirty="0"/>
              <a:t>p-</a:t>
            </a:r>
            <a:r>
              <a:rPr lang="en-US" dirty="0"/>
              <a:t>value is the probability of obtaining test statistics equal to or more extreme than result obtained from the sample data, if the null hypothesis is true. </a:t>
            </a:r>
          </a:p>
          <a:p>
            <a:r>
              <a:rPr lang="en-US" dirty="0"/>
              <a:t>It is the probability of obtaining the difference between sample (mean) and hypothesized value. </a:t>
            </a:r>
          </a:p>
          <a:p>
            <a:r>
              <a:rPr lang="en-US" dirty="0"/>
              <a:t>For example: if H0 = 368 and </a:t>
            </a:r>
            <a:r>
              <a:rPr lang="en-US" i="1" dirty="0"/>
              <a:t>p-</a:t>
            </a:r>
            <a:r>
              <a:rPr lang="en-US" dirty="0"/>
              <a:t>value = 0.004 and sample mean = 324 then there is 0.4% probability of obtaining a difference of 4 unit, if the null hypothesis is true. This value is compare to alpha (say 0.5)</a:t>
            </a:r>
          </a:p>
          <a:p>
            <a:r>
              <a:rPr lang="en-US" dirty="0"/>
              <a:t>Reject the H0, if </a:t>
            </a:r>
            <a:r>
              <a:rPr lang="en-US" i="1" dirty="0"/>
              <a:t>p-</a:t>
            </a:r>
            <a:r>
              <a:rPr lang="en-US" dirty="0"/>
              <a:t>value &lt; alpha </a:t>
            </a:r>
          </a:p>
          <a:p>
            <a:pPr marL="0" indent="0">
              <a:buNone/>
            </a:pPr>
            <a:r>
              <a:rPr lang="en-US" dirty="0"/>
              <a:t>   Do not reject the H0, if </a:t>
            </a:r>
            <a:r>
              <a:rPr lang="en-US" i="1" dirty="0"/>
              <a:t>p-</a:t>
            </a:r>
            <a:r>
              <a:rPr lang="en-US" dirty="0"/>
              <a:t>value &gt;= alpha </a:t>
            </a:r>
          </a:p>
          <a:p>
            <a:pPr marL="0" indent="0">
              <a:buNone/>
            </a:pPr>
            <a:endParaRPr lang="en-US" dirty="0"/>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44376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One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r>
              <a:rPr lang="en-US" dirty="0"/>
              <a:t>In one of the efforts to maintain the internal control of sales, </a:t>
            </a:r>
            <a:r>
              <a:rPr lang="en-US" dirty="0">
                <a:solidFill>
                  <a:srgbClr val="FF0000"/>
                </a:solidFill>
              </a:rPr>
              <a:t>Saxon Plumbing Company </a:t>
            </a:r>
            <a:r>
              <a:rPr lang="en-US" dirty="0"/>
              <a:t>collects the sample of sales invoices at the end of the month to evaluate the mean amount listed on the sales invoices for the warehouse. Over the past five years, the mean amount per sales invoice for customers is around $120. </a:t>
            </a:r>
          </a:p>
          <a:p>
            <a:r>
              <a:rPr lang="en-US" dirty="0"/>
              <a:t>Based on the experience of Saxon Plumbing Company, you make assumption that mean amount of sales invoice is $120. As an auditor, you need to check whether this assumption or hypothesis is </a:t>
            </a:r>
            <a:r>
              <a:rPr lang="en-US" i="1" dirty="0"/>
              <a:t>statistical significant or not. </a:t>
            </a:r>
            <a:endParaRPr lang="en-US" dirty="0"/>
          </a:p>
          <a:p>
            <a:r>
              <a:rPr lang="en-US" dirty="0"/>
              <a:t>To start, you take random sample of 12 invoices and check for the mean difference.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45629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3654464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Two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r>
              <a:rPr lang="en-US" dirty="0"/>
              <a:t>In this slide, hypothesis testing is extended to procedures that compare the statistics from </a:t>
            </a:r>
            <a:r>
              <a:rPr lang="en-US" b="1" i="1" dirty="0"/>
              <a:t>two</a:t>
            </a:r>
            <a:r>
              <a:rPr lang="en-US" dirty="0"/>
              <a:t> </a:t>
            </a:r>
            <a:r>
              <a:rPr lang="en-US" b="1" i="1" dirty="0"/>
              <a:t>sample</a:t>
            </a:r>
            <a:r>
              <a:rPr lang="en-US" dirty="0"/>
              <a:t> of numerical data drawn from </a:t>
            </a:r>
            <a:r>
              <a:rPr lang="en-US" b="1" i="1" dirty="0"/>
              <a:t>two populations</a:t>
            </a:r>
            <a:r>
              <a:rPr lang="en-US" dirty="0"/>
              <a:t>.</a:t>
            </a:r>
          </a:p>
          <a:p>
            <a:r>
              <a:rPr lang="en-US" dirty="0"/>
              <a:t>For two sample </a:t>
            </a:r>
            <a:r>
              <a:rPr lang="en-US" i="1" dirty="0"/>
              <a:t>t-</a:t>
            </a:r>
            <a:r>
              <a:rPr lang="en-US" dirty="0"/>
              <a:t>test, we need to check whether the variance between the two populations are equal or not. Different algorithm has been used for calculating test statistics when the variance is equal and variance is not equal. </a:t>
            </a:r>
          </a:p>
          <a:p>
            <a:r>
              <a:rPr lang="en-US" dirty="0"/>
              <a:t>We can check the above assumption of equality of variance by using </a:t>
            </a:r>
            <a:r>
              <a:rPr lang="en-US" b="1" i="1" dirty="0"/>
              <a:t>F-</a:t>
            </a:r>
            <a:r>
              <a:rPr lang="en-US" b="1" dirty="0"/>
              <a:t>Test. </a:t>
            </a:r>
            <a:r>
              <a:rPr lang="en-US" i="1" dirty="0"/>
              <a:t>F-</a:t>
            </a:r>
            <a:r>
              <a:rPr lang="en-US" dirty="0"/>
              <a:t>Test is nothing but the ratio of two variance as follow.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https://people.richland.edu/james/lecture/m170/ch13-f.htg/img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738" y="5512348"/>
            <a:ext cx="1762298" cy="1154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862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Two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lnSpcReduction="10000"/>
          </a:bodyPr>
          <a:lstStyle/>
          <a:p>
            <a:r>
              <a:rPr lang="en-US" dirty="0"/>
              <a:t>The null hypothesis for the </a:t>
            </a:r>
            <a:r>
              <a:rPr lang="en-US" i="1" dirty="0"/>
              <a:t>F</a:t>
            </a:r>
            <a:r>
              <a:rPr lang="en-US" dirty="0"/>
              <a:t>-Test is two population variance are equal and the alternative hypothesis is two population variance are not equal.</a:t>
            </a:r>
          </a:p>
          <a:p>
            <a:pPr marL="0" indent="0">
              <a:buNone/>
            </a:pPr>
            <a:endParaRPr lang="en-US" dirty="0"/>
          </a:p>
          <a:p>
            <a:pPr marL="0" indent="0">
              <a:buNone/>
            </a:pPr>
            <a:endParaRPr lang="en-US" dirty="0"/>
          </a:p>
          <a:p>
            <a:pPr marL="0" indent="0">
              <a:buNone/>
            </a:pPr>
            <a:endParaRPr lang="en-US" dirty="0"/>
          </a:p>
          <a:p>
            <a:r>
              <a:rPr lang="en-US" dirty="0"/>
              <a:t>Based on the result of </a:t>
            </a:r>
            <a:r>
              <a:rPr lang="en-US" i="1" dirty="0"/>
              <a:t>p-</a:t>
            </a:r>
            <a:r>
              <a:rPr lang="en-US" dirty="0"/>
              <a:t>value for </a:t>
            </a:r>
            <a:r>
              <a:rPr lang="en-US" i="1" dirty="0"/>
              <a:t>F-</a:t>
            </a:r>
            <a:r>
              <a:rPr lang="en-US" dirty="0"/>
              <a:t>Test, we need to decide whether to use the </a:t>
            </a:r>
            <a:r>
              <a:rPr lang="en-US" b="1" dirty="0"/>
              <a:t>equal or pooled variance</a:t>
            </a:r>
            <a:r>
              <a:rPr lang="en-US" dirty="0"/>
              <a:t> </a:t>
            </a:r>
            <a:r>
              <a:rPr lang="en-US" i="1" dirty="0"/>
              <a:t>t-</a:t>
            </a:r>
            <a:r>
              <a:rPr lang="en-US" dirty="0"/>
              <a:t>test or </a:t>
            </a:r>
            <a:r>
              <a:rPr lang="en-US" b="1" dirty="0"/>
              <a:t>separate variance</a:t>
            </a:r>
            <a:r>
              <a:rPr lang="en-US" dirty="0"/>
              <a:t> </a:t>
            </a:r>
            <a:r>
              <a:rPr lang="en-US" i="1" dirty="0"/>
              <a:t>t-</a:t>
            </a:r>
            <a:r>
              <a:rPr lang="en-US" dirty="0"/>
              <a:t>test.</a:t>
            </a:r>
          </a:p>
          <a:p>
            <a:endParaRPr lang="en-US" dirty="0"/>
          </a:p>
          <a:p>
            <a:r>
              <a:rPr lang="en-US" dirty="0"/>
              <a:t>Both the types of tests are a part of output of proc ttest by default if you use the two sample </a:t>
            </a:r>
            <a:r>
              <a:rPr lang="en-US" i="1" dirty="0"/>
              <a:t>t-</a:t>
            </a:r>
            <a:r>
              <a:rPr lang="en-US" dirty="0"/>
              <a:t>test.</a:t>
            </a:r>
          </a:p>
          <a:p>
            <a:pPr marL="0" indent="0">
              <a:buNone/>
            </a:pPr>
            <a:r>
              <a:rPr lang="en-US" dirty="0"/>
              <a:t>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stretch>
            <a:fillRect/>
          </a:stretch>
        </p:blipFill>
        <p:spPr>
          <a:xfrm>
            <a:off x="2693323" y="2678301"/>
            <a:ext cx="7148946" cy="1064028"/>
          </a:xfrm>
          <a:prstGeom prst="rect">
            <a:avLst/>
          </a:prstGeom>
        </p:spPr>
      </p:pic>
    </p:spTree>
    <p:extLst>
      <p:ext uri="{BB962C8B-B14F-4D97-AF65-F5344CB8AC3E}">
        <p14:creationId xmlns:p14="http://schemas.microsoft.com/office/powerpoint/2010/main" val="1791747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Two Sample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r>
              <a:rPr lang="en-US" dirty="0"/>
              <a:t>As a regional sales manager of </a:t>
            </a:r>
            <a:r>
              <a:rPr lang="en-US" dirty="0">
                <a:solidFill>
                  <a:srgbClr val="FF0000"/>
                </a:solidFill>
              </a:rPr>
              <a:t>BLK Foods</a:t>
            </a:r>
            <a:r>
              <a:rPr lang="en-US" dirty="0"/>
              <a:t>, you are interested to comparing the sales volume of BLK Cola when the soft drink is displayed in the normal shelf location as compared to an end-aisle promotional display. </a:t>
            </a:r>
          </a:p>
          <a:p>
            <a:r>
              <a:rPr lang="en-US" dirty="0"/>
              <a:t>To select the effectiveness of end-aisle displays, you select 20 stores from BLK supermarket chain that all experience similar sales volumes.</a:t>
            </a:r>
          </a:p>
          <a:p>
            <a:r>
              <a:rPr lang="en-US" dirty="0"/>
              <a:t>You then randomly assigned 10 of the 20 stores to group1 and group2 The manager of the 10 stores of group1 place the BLK Cola in the regular shelf location. The manager of the 10 stores of group2 uses the special end-aisle promotional display. At the end of the week, sales of both the groups are recorded. </a:t>
            </a:r>
          </a:p>
          <a:p>
            <a:r>
              <a:rPr lang="en-US" dirty="0"/>
              <a:t>How would you use this information to improve the sales of BLK Cola?</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96564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427027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Paired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r>
              <a:rPr lang="en-US" dirty="0"/>
              <a:t>Sometimes, two groups are </a:t>
            </a:r>
            <a:r>
              <a:rPr lang="en-US" b="1" i="1" dirty="0">
                <a:solidFill>
                  <a:srgbClr val="FF0000"/>
                </a:solidFill>
              </a:rPr>
              <a:t>not</a:t>
            </a:r>
            <a:r>
              <a:rPr lang="en-US" dirty="0"/>
              <a:t> </a:t>
            </a:r>
            <a:r>
              <a:rPr lang="en-US" b="1" i="1" dirty="0">
                <a:solidFill>
                  <a:srgbClr val="FF0000"/>
                </a:solidFill>
              </a:rPr>
              <a:t>independent </a:t>
            </a:r>
            <a:r>
              <a:rPr lang="en-US" dirty="0"/>
              <a:t>meaning that the result of one group is not independent of result of second group. </a:t>
            </a:r>
          </a:p>
          <a:p>
            <a:pPr marL="0" indent="0">
              <a:buNone/>
            </a:pPr>
            <a:endParaRPr lang="en-US" dirty="0"/>
          </a:p>
          <a:p>
            <a:r>
              <a:rPr lang="en-US" dirty="0"/>
              <a:t>This dependency characteristic of the two groups occurs either because the items or individuals are </a:t>
            </a:r>
            <a:r>
              <a:rPr lang="en-US" b="1" i="1" dirty="0">
                <a:solidFill>
                  <a:srgbClr val="FF0000"/>
                </a:solidFill>
              </a:rPr>
              <a:t>paired or matched</a:t>
            </a:r>
            <a:r>
              <a:rPr lang="en-US" dirty="0"/>
              <a:t> according to some features or because </a:t>
            </a:r>
            <a:r>
              <a:rPr lang="en-US" b="1" i="1" dirty="0">
                <a:solidFill>
                  <a:srgbClr val="FF0000"/>
                </a:solidFill>
              </a:rPr>
              <a:t>repeated measurements </a:t>
            </a:r>
            <a:r>
              <a:rPr lang="en-US" dirty="0"/>
              <a:t>are obtained from same set of items or individuals.    </a:t>
            </a:r>
          </a:p>
          <a:p>
            <a:endParaRPr lang="en-US" dirty="0"/>
          </a:p>
          <a:p>
            <a:r>
              <a:rPr lang="en-US" dirty="0"/>
              <a:t>In either case, it requires different procedure/algorithm to accommodate dependency feature of two samples. </a:t>
            </a:r>
          </a:p>
          <a:p>
            <a:pPr marL="0" indent="0">
              <a:buNone/>
            </a:pPr>
            <a:endParaRPr lang="en-US" dirty="0"/>
          </a:p>
          <a:p>
            <a:pPr marL="0" indent="0">
              <a:buNone/>
            </a:pPr>
            <a:endParaRPr lang="en-US" b="1" i="1" dirty="0">
              <a:solidFill>
                <a:srgbClr val="FF0000"/>
              </a:solidFill>
            </a:endParaRP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38254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Paired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lnSpcReduction="10000"/>
          </a:bodyPr>
          <a:lstStyle/>
          <a:p>
            <a:r>
              <a:rPr lang="en-US" b="1" dirty="0">
                <a:solidFill>
                  <a:schemeClr val="accent2"/>
                </a:solidFill>
              </a:rPr>
              <a:t>First Approach Example:</a:t>
            </a:r>
            <a:r>
              <a:rPr lang="en-US" dirty="0"/>
              <a:t> In test marketing, a product under two different advertising and promotional strategies. A sample of test markets can be </a:t>
            </a:r>
            <a:r>
              <a:rPr lang="en-US" b="1" i="1" dirty="0">
                <a:solidFill>
                  <a:srgbClr val="FF0000"/>
                </a:solidFill>
              </a:rPr>
              <a:t>matched</a:t>
            </a:r>
            <a:r>
              <a:rPr lang="en-US" dirty="0"/>
              <a:t> on the basis of test market population size and/or other socioeconomic and demographic variables. By controlling these variables, one is better able to measure the effect of two different advertising and promotional campaigns.  </a:t>
            </a:r>
          </a:p>
          <a:p>
            <a:endParaRPr lang="en-US" dirty="0"/>
          </a:p>
          <a:p>
            <a:r>
              <a:rPr lang="en-US" b="1" dirty="0">
                <a:solidFill>
                  <a:schemeClr val="accent2"/>
                </a:solidFill>
              </a:rPr>
              <a:t>Second Approach Example: </a:t>
            </a:r>
            <a:r>
              <a:rPr lang="en-US" dirty="0"/>
              <a:t>The same item or individual will behave alike if treated alike. </a:t>
            </a:r>
            <a:r>
              <a:rPr lang="en-US" dirty="0">
                <a:solidFill>
                  <a:srgbClr val="FF0000"/>
                </a:solidFill>
              </a:rPr>
              <a:t>The objective of the analysis is to show that any differences between two measurements of the same items/individuals are due to different treatment condition. </a:t>
            </a:r>
            <a:r>
              <a:rPr lang="en-US" dirty="0"/>
              <a:t>For example, how much time it takes to complete the projects based on timelines. </a:t>
            </a:r>
          </a:p>
          <a:p>
            <a:pPr marL="0" indent="0">
              <a:buNone/>
            </a:pPr>
            <a:endParaRPr lang="en-US" b="1" i="1" dirty="0">
              <a:solidFill>
                <a:srgbClr val="FF0000"/>
              </a:solidFill>
            </a:endParaRP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5087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Paired </a:t>
            </a:r>
            <a:r>
              <a:rPr lang="en-US" i="1" dirty="0"/>
              <a:t>t</a:t>
            </a:r>
            <a:r>
              <a:rPr lang="en-US" dirty="0"/>
              <a:t>-test</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226A2E45-7258-49B1-9E97-4F633DA9C3D7}"/>
              </a:ext>
            </a:extLst>
          </p:cNvPr>
          <p:cNvPicPr>
            <a:picLocks noChangeAspect="1"/>
          </p:cNvPicPr>
          <p:nvPr/>
        </p:nvPicPr>
        <p:blipFill>
          <a:blip r:embed="rId3"/>
          <a:stretch>
            <a:fillRect/>
          </a:stretch>
        </p:blipFill>
        <p:spPr>
          <a:xfrm>
            <a:off x="838200" y="1826968"/>
            <a:ext cx="10785231" cy="4433155"/>
          </a:xfrm>
          <a:prstGeom prst="rect">
            <a:avLst/>
          </a:prstGeom>
        </p:spPr>
      </p:pic>
    </p:spTree>
    <p:extLst>
      <p:ext uri="{BB962C8B-B14F-4D97-AF65-F5344CB8AC3E}">
        <p14:creationId xmlns:p14="http://schemas.microsoft.com/office/powerpoint/2010/main" val="1910450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Paired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pPr marL="0" indent="0">
              <a:buNone/>
            </a:pPr>
            <a:r>
              <a:rPr lang="en-US" dirty="0">
                <a:solidFill>
                  <a:srgbClr val="FF0000"/>
                </a:solidFill>
              </a:rPr>
              <a:t>Null Hypothesis for two paired samples: </a:t>
            </a:r>
          </a:p>
          <a:p>
            <a:endParaRPr lang="en-US" dirty="0"/>
          </a:p>
          <a:p>
            <a:pPr marL="0" indent="0">
              <a:buNone/>
            </a:pPr>
            <a:r>
              <a:rPr lang="en-US" dirty="0"/>
              <a:t>                 H0: </a:t>
            </a:r>
            <a:r>
              <a:rPr lang="en-US" i="1" dirty="0" err="1"/>
              <a:t>u</a:t>
            </a:r>
            <a:r>
              <a:rPr lang="en-US" dirty="0" err="1"/>
              <a:t>D</a:t>
            </a:r>
            <a:r>
              <a:rPr lang="en-US" dirty="0"/>
              <a:t> = 0 where </a:t>
            </a:r>
            <a:r>
              <a:rPr lang="en-US" i="1" dirty="0" err="1"/>
              <a:t>u</a:t>
            </a:r>
            <a:r>
              <a:rPr lang="en-US" dirty="0" err="1"/>
              <a:t>D</a:t>
            </a:r>
            <a:r>
              <a:rPr lang="en-US" dirty="0"/>
              <a:t> = u1 - u2 OR</a:t>
            </a:r>
          </a:p>
          <a:p>
            <a:pPr marL="0" indent="0">
              <a:buNone/>
            </a:pPr>
            <a:r>
              <a:rPr lang="en-US" dirty="0"/>
              <a:t>                 H0: </a:t>
            </a:r>
            <a:r>
              <a:rPr lang="en-US" i="1" dirty="0"/>
              <a:t>u</a:t>
            </a:r>
            <a:r>
              <a:rPr lang="en-US" dirty="0"/>
              <a:t>D</a:t>
            </a:r>
            <a:r>
              <a:rPr lang="en-US" i="1" dirty="0"/>
              <a:t>1 = u</a:t>
            </a:r>
            <a:r>
              <a:rPr lang="en-US" dirty="0"/>
              <a:t>D</a:t>
            </a:r>
            <a:r>
              <a:rPr lang="en-US" i="1" dirty="0"/>
              <a:t>2</a:t>
            </a:r>
          </a:p>
          <a:p>
            <a:pPr marL="0" indent="0">
              <a:buNone/>
            </a:pPr>
            <a:endParaRPr lang="en-US" i="1" dirty="0"/>
          </a:p>
          <a:p>
            <a:pPr marL="0" indent="0">
              <a:buNone/>
            </a:pPr>
            <a:r>
              <a:rPr lang="en-US" dirty="0">
                <a:solidFill>
                  <a:srgbClr val="FF0000"/>
                </a:solidFill>
              </a:rPr>
              <a:t>Alternative Hypothesis for two paired samples:</a:t>
            </a:r>
          </a:p>
          <a:p>
            <a:pPr marL="0" indent="0">
              <a:buNone/>
            </a:pPr>
            <a:r>
              <a:rPr lang="en-US" dirty="0"/>
              <a:t> </a:t>
            </a:r>
          </a:p>
          <a:p>
            <a:pPr marL="0" indent="0">
              <a:buNone/>
            </a:pPr>
            <a:r>
              <a:rPr lang="en-US" dirty="0"/>
              <a:t>                  H1: </a:t>
            </a:r>
            <a:r>
              <a:rPr lang="en-US" i="1" dirty="0" err="1"/>
              <a:t>u</a:t>
            </a:r>
            <a:r>
              <a:rPr lang="en-US" dirty="0" err="1"/>
              <a:t>D</a:t>
            </a:r>
            <a:r>
              <a:rPr lang="en-US" dirty="0"/>
              <a:t> Not Equal to 0 OR</a:t>
            </a:r>
          </a:p>
          <a:p>
            <a:pPr marL="0" indent="0">
              <a:buNone/>
            </a:pPr>
            <a:r>
              <a:rPr lang="en-US" i="1" dirty="0"/>
              <a:t>                  </a:t>
            </a:r>
            <a:r>
              <a:rPr lang="en-US" dirty="0"/>
              <a:t>H1: </a:t>
            </a:r>
            <a:r>
              <a:rPr lang="en-US" i="1" dirty="0"/>
              <a:t>u</a:t>
            </a:r>
            <a:r>
              <a:rPr lang="en-US" dirty="0"/>
              <a:t>D</a:t>
            </a:r>
            <a:r>
              <a:rPr lang="en-US" i="1" dirty="0"/>
              <a:t>1 </a:t>
            </a:r>
            <a:r>
              <a:rPr lang="en-US" dirty="0"/>
              <a:t>Not Equal to</a:t>
            </a:r>
            <a:r>
              <a:rPr lang="en-US" i="1" dirty="0"/>
              <a:t> u</a:t>
            </a:r>
            <a:r>
              <a:rPr lang="en-US" dirty="0"/>
              <a:t>D</a:t>
            </a:r>
            <a:r>
              <a:rPr lang="en-US" i="1" dirty="0"/>
              <a:t>2</a:t>
            </a:r>
            <a:endParaRPr lang="en-US" dirty="0"/>
          </a:p>
          <a:p>
            <a:pPr marL="0" indent="0">
              <a:buNone/>
            </a:pPr>
            <a:endParaRPr lang="en-US" i="1" dirty="0"/>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2538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Paired </a:t>
            </a:r>
            <a:r>
              <a:rPr lang="en-US" i="1" dirty="0"/>
              <a:t>t</a:t>
            </a:r>
            <a:r>
              <a:rPr lang="en-US" dirty="0"/>
              <a:t>-test</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85125DD7-5084-411F-8640-694D70250C9A}"/>
              </a:ext>
            </a:extLst>
          </p:cNvPr>
          <p:cNvPicPr>
            <a:picLocks noChangeAspect="1"/>
          </p:cNvPicPr>
          <p:nvPr/>
        </p:nvPicPr>
        <p:blipFill>
          <a:blip r:embed="rId3"/>
          <a:stretch>
            <a:fillRect/>
          </a:stretch>
        </p:blipFill>
        <p:spPr>
          <a:xfrm>
            <a:off x="838201" y="1514842"/>
            <a:ext cx="10515599" cy="4868374"/>
          </a:xfrm>
          <a:prstGeom prst="rect">
            <a:avLst/>
          </a:prstGeom>
        </p:spPr>
      </p:pic>
    </p:spTree>
    <p:extLst>
      <p:ext uri="{BB962C8B-B14F-4D97-AF65-F5344CB8AC3E}">
        <p14:creationId xmlns:p14="http://schemas.microsoft.com/office/powerpoint/2010/main" val="1332510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Hypothesis Testing – Paired </a:t>
            </a:r>
            <a:r>
              <a:rPr lang="en-US" i="1" dirty="0"/>
              <a:t>t</a:t>
            </a:r>
            <a:r>
              <a:rPr lang="en-US" dirty="0"/>
              <a:t>-test</a:t>
            </a:r>
          </a:p>
        </p:txBody>
      </p:sp>
      <p:sp>
        <p:nvSpPr>
          <p:cNvPr id="5" name="Content Placeholder 4"/>
          <p:cNvSpPr>
            <a:spLocks noGrp="1"/>
          </p:cNvSpPr>
          <p:nvPr>
            <p:ph idx="1"/>
          </p:nvPr>
        </p:nvSpPr>
        <p:spPr>
          <a:xfrm>
            <a:off x="838200" y="1562792"/>
            <a:ext cx="10515600" cy="5295207"/>
          </a:xfrm>
        </p:spPr>
        <p:txBody>
          <a:bodyPr>
            <a:normAutofit/>
          </a:bodyPr>
          <a:lstStyle/>
          <a:p>
            <a:r>
              <a:rPr lang="en-US" dirty="0"/>
              <a:t>A software applications company is developing a new financial applications package. Because the computer processing time is an important decision criterion, the developer wants the new package to have the same feature and capabilities as the current market leader while providing results faster than the current leading package. </a:t>
            </a:r>
          </a:p>
          <a:p>
            <a:endParaRPr lang="en-US" dirty="0"/>
          </a:p>
          <a:p>
            <a:r>
              <a:rPr lang="en-US" dirty="0"/>
              <a:t>An experiment is undertaken to execute the financial applications projects by using new package and current market leader and average processing time required to get the similar results are recorded. </a:t>
            </a:r>
          </a:p>
          <a:p>
            <a:endParaRPr lang="en-US" dirty="0"/>
          </a:p>
          <a:p>
            <a:r>
              <a:rPr lang="en-US" dirty="0"/>
              <a:t>Is there any significant mean difference between current market leader package and new package?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93279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1739475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5" name="Content Placeholder 4"/>
          <p:cNvSpPr>
            <a:spLocks noGrp="1"/>
          </p:cNvSpPr>
          <p:nvPr>
            <p:ph idx="1"/>
          </p:nvPr>
        </p:nvSpPr>
        <p:spPr>
          <a:xfrm>
            <a:off x="838200" y="1562792"/>
            <a:ext cx="10515600" cy="5295207"/>
          </a:xfrm>
        </p:spPr>
        <p:txBody>
          <a:bodyPr>
            <a:normAutofit/>
          </a:bodyPr>
          <a:lstStyle/>
          <a:p>
            <a:r>
              <a:rPr lang="en-US" i="1" dirty="0"/>
              <a:t>Analysis of Variance </a:t>
            </a:r>
            <a:r>
              <a:rPr lang="en-US" dirty="0"/>
              <a:t>(ANOVA) is a statistical technique used to compare the means of two or more groups of observations or treatments. For this type of problem, you have the following:  </a:t>
            </a:r>
          </a:p>
          <a:p>
            <a:pPr marL="0" indent="0">
              <a:buNone/>
            </a:pPr>
            <a:r>
              <a:rPr lang="en-US" dirty="0"/>
              <a:t>          - a continuous dependent variable/response variable</a:t>
            </a:r>
          </a:p>
          <a:p>
            <a:pPr marL="0" indent="0">
              <a:buNone/>
            </a:pPr>
            <a:r>
              <a:rPr lang="en-US" dirty="0"/>
              <a:t>          - a discrete independent variable/predictor variable</a:t>
            </a:r>
          </a:p>
          <a:p>
            <a:r>
              <a:rPr lang="en-US" dirty="0"/>
              <a:t>If you analyze the difference between two groups using ANOVA, you reach the same conclusion as we did by using proc ttest.</a:t>
            </a:r>
          </a:p>
          <a:p>
            <a:r>
              <a:rPr lang="en-US" dirty="0"/>
              <a:t>But what if, if we have </a:t>
            </a:r>
            <a:r>
              <a:rPr lang="en-US" i="1" dirty="0"/>
              <a:t>n </a:t>
            </a:r>
            <a:r>
              <a:rPr lang="en-US" dirty="0"/>
              <a:t>number of groups. We can not compare all the groups one by one. Rather there should be algorithm which analyze the data simultaneously. ANOVA gives us this kind power to compare the means of </a:t>
            </a:r>
            <a:r>
              <a:rPr lang="en-US" i="1" dirty="0"/>
              <a:t>n </a:t>
            </a:r>
            <a:r>
              <a:rPr lang="en-US" dirty="0"/>
              <a:t>number of groups.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8045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7C5576A8-1DD3-4AF4-AF17-4DCA0E054480}"/>
              </a:ext>
            </a:extLst>
          </p:cNvPr>
          <p:cNvPicPr>
            <a:picLocks noChangeAspect="1"/>
          </p:cNvPicPr>
          <p:nvPr/>
        </p:nvPicPr>
        <p:blipFill>
          <a:blip r:embed="rId3"/>
          <a:stretch>
            <a:fillRect/>
          </a:stretch>
        </p:blipFill>
        <p:spPr>
          <a:xfrm>
            <a:off x="838200" y="1848946"/>
            <a:ext cx="9308123" cy="4428761"/>
          </a:xfrm>
          <a:prstGeom prst="rect">
            <a:avLst/>
          </a:prstGeom>
        </p:spPr>
      </p:pic>
    </p:spTree>
    <p:extLst>
      <p:ext uri="{BB962C8B-B14F-4D97-AF65-F5344CB8AC3E}">
        <p14:creationId xmlns:p14="http://schemas.microsoft.com/office/powerpoint/2010/main" val="190294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391AE85F-FF98-49A7-9775-33E0298F9EF6}"/>
              </a:ext>
            </a:extLst>
          </p:cNvPr>
          <p:cNvPicPr>
            <a:picLocks noChangeAspect="1"/>
          </p:cNvPicPr>
          <p:nvPr/>
        </p:nvPicPr>
        <p:blipFill>
          <a:blip r:embed="rId3"/>
          <a:stretch>
            <a:fillRect/>
          </a:stretch>
        </p:blipFill>
        <p:spPr>
          <a:xfrm>
            <a:off x="838200" y="1690688"/>
            <a:ext cx="9360877" cy="4391025"/>
          </a:xfrm>
          <a:prstGeom prst="rect">
            <a:avLst/>
          </a:prstGeom>
        </p:spPr>
      </p:pic>
    </p:spTree>
    <p:extLst>
      <p:ext uri="{BB962C8B-B14F-4D97-AF65-F5344CB8AC3E}">
        <p14:creationId xmlns:p14="http://schemas.microsoft.com/office/powerpoint/2010/main" val="3415872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CE1143CF-77B9-4D1A-B522-AEFA1AB5E41D}"/>
              </a:ext>
            </a:extLst>
          </p:cNvPr>
          <p:cNvPicPr>
            <a:picLocks noChangeAspect="1"/>
          </p:cNvPicPr>
          <p:nvPr/>
        </p:nvPicPr>
        <p:blipFill>
          <a:blip r:embed="rId3"/>
          <a:stretch>
            <a:fillRect/>
          </a:stretch>
        </p:blipFill>
        <p:spPr>
          <a:xfrm>
            <a:off x="2324099" y="1884119"/>
            <a:ext cx="6336322" cy="3145081"/>
          </a:xfrm>
          <a:prstGeom prst="rect">
            <a:avLst/>
          </a:prstGeom>
        </p:spPr>
      </p:pic>
      <p:sp>
        <p:nvSpPr>
          <p:cNvPr id="7" name="Rectangle 6">
            <a:extLst>
              <a:ext uri="{FF2B5EF4-FFF2-40B4-BE49-F238E27FC236}">
                <a16:creationId xmlns:a16="http://schemas.microsoft.com/office/drawing/2014/main" id="{C3F0CB93-A598-4DBB-8CE3-43E10C3D183B}"/>
              </a:ext>
            </a:extLst>
          </p:cNvPr>
          <p:cNvSpPr/>
          <p:nvPr/>
        </p:nvSpPr>
        <p:spPr>
          <a:xfrm>
            <a:off x="838199" y="5222631"/>
            <a:ext cx="10515601" cy="1569660"/>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Times New Roman" panose="02020603050405020304" pitchFamily="18" charset="0"/>
              </a:rPr>
              <a:t>If you analyze the difference between two means using ANOVA, you reach the same conclusions as you reach using pooled, </a:t>
            </a:r>
            <a:r>
              <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two-group t-test</a:t>
            </a:r>
            <a:r>
              <a:rPr lang="en-US" sz="2400" dirty="0">
                <a:latin typeface="Calibri" panose="020F0502020204030204" pitchFamily="34" charset="0"/>
                <a:ea typeface="Calibri" panose="020F0502020204030204" pitchFamily="34" charset="0"/>
                <a:cs typeface="Times New Roman" panose="02020603050405020304" pitchFamily="18" charset="0"/>
              </a:rPr>
              <a:t>. Performing a two-group mean comparison in PROC GLM gives you access to different graphical and assessment tools than performing the same comparison in PROC TTEST</a:t>
            </a:r>
            <a:endParaRPr lang="en-US" sz="2400" dirty="0"/>
          </a:p>
        </p:txBody>
      </p:sp>
    </p:spTree>
    <p:extLst>
      <p:ext uri="{BB962C8B-B14F-4D97-AF65-F5344CB8AC3E}">
        <p14:creationId xmlns:p14="http://schemas.microsoft.com/office/powerpoint/2010/main" val="2396025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249E41DD-B8BD-4046-9D42-F536C947AD31}"/>
              </a:ext>
            </a:extLst>
          </p:cNvPr>
          <p:cNvPicPr>
            <a:picLocks noChangeAspect="1"/>
          </p:cNvPicPr>
          <p:nvPr/>
        </p:nvPicPr>
        <p:blipFill>
          <a:blip r:embed="rId3"/>
          <a:stretch>
            <a:fillRect/>
          </a:stretch>
        </p:blipFill>
        <p:spPr>
          <a:xfrm>
            <a:off x="612775" y="1690688"/>
            <a:ext cx="5055334" cy="2862194"/>
          </a:xfrm>
          <a:prstGeom prst="rect">
            <a:avLst/>
          </a:prstGeom>
        </p:spPr>
      </p:pic>
      <p:sp>
        <p:nvSpPr>
          <p:cNvPr id="8" name="Rectangle 7">
            <a:extLst>
              <a:ext uri="{FF2B5EF4-FFF2-40B4-BE49-F238E27FC236}">
                <a16:creationId xmlns:a16="http://schemas.microsoft.com/office/drawing/2014/main" id="{9B95C8A0-170F-4538-83FC-307B39AAD243}"/>
              </a:ext>
            </a:extLst>
          </p:cNvPr>
          <p:cNvSpPr/>
          <p:nvPr/>
        </p:nvSpPr>
        <p:spPr>
          <a:xfrm>
            <a:off x="5668109" y="1693253"/>
            <a:ext cx="6289430" cy="4919488"/>
          </a:xfrm>
          <a:prstGeom prst="rect">
            <a:avLst/>
          </a:prstGeom>
        </p:spPr>
        <p:txBody>
          <a:bodyPr wrap="square">
            <a:spAutoFit/>
          </a:bodyPr>
          <a:lstStyle/>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When there are three or more levels for grouping variable, a simple approach is to run a series of t-tests between all the pairs of levels. For Example, you might be interested in T-cell counts in patients taking three medications (including one placebo). </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You could simply run a t-test for each pair of medications. A more powerful approach is to analyze all data simultaneously. The mathematical model is called “</a:t>
            </a:r>
            <a:r>
              <a:rPr lang="en-US" sz="2400" i="1" dirty="0">
                <a:latin typeface="Calibri" panose="020F0502020204030204" pitchFamily="34" charset="0"/>
                <a:ea typeface="Calibri" panose="020F0502020204030204" pitchFamily="34" charset="0"/>
                <a:cs typeface="Times New Roman" panose="02020603050405020304" pitchFamily="18" charset="0"/>
              </a:rPr>
              <a:t>one way analysis of variance (</a:t>
            </a:r>
            <a:r>
              <a:rPr lang="en-US" sz="2400" dirty="0">
                <a:latin typeface="Calibri" panose="020F0502020204030204" pitchFamily="34" charset="0"/>
                <a:ea typeface="Calibri" panose="020F0502020204030204" pitchFamily="34" charset="0"/>
                <a:cs typeface="Times New Roman" panose="02020603050405020304" pitchFamily="18" charset="0"/>
              </a:rPr>
              <a:t>ANOVA</a:t>
            </a:r>
            <a:r>
              <a:rPr lang="en-US" sz="2400" i="1" dirty="0">
                <a:latin typeface="Calibri" panose="020F0502020204030204" pitchFamily="34" charset="0"/>
                <a:ea typeface="Calibri" panose="020F0502020204030204" pitchFamily="34" charset="0"/>
                <a:cs typeface="Times New Roman" panose="02020603050405020304" pitchFamily="18" charset="0"/>
              </a:rPr>
              <a:t>)</a:t>
            </a:r>
            <a:r>
              <a:rPr lang="en-US" sz="2400" dirty="0">
                <a:latin typeface="Calibri" panose="020F0502020204030204" pitchFamily="34" charset="0"/>
                <a:ea typeface="Calibri" panose="020F0502020204030204" pitchFamily="34" charset="0"/>
                <a:cs typeface="Times New Roman" panose="02020603050405020304" pitchFamily="18" charset="0"/>
              </a:rPr>
              <a:t>”, and the test statistics F ratio, rather than student’s t-test. </a:t>
            </a:r>
          </a:p>
        </p:txBody>
      </p:sp>
    </p:spTree>
    <p:extLst>
      <p:ext uri="{BB962C8B-B14F-4D97-AF65-F5344CB8AC3E}">
        <p14:creationId xmlns:p14="http://schemas.microsoft.com/office/powerpoint/2010/main" val="271193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9B219DE7-9D66-4AEB-AB07-BAFFEF4D8C81}"/>
              </a:ext>
            </a:extLst>
          </p:cNvPr>
          <p:cNvPicPr>
            <a:picLocks noChangeAspect="1"/>
          </p:cNvPicPr>
          <p:nvPr/>
        </p:nvPicPr>
        <p:blipFill>
          <a:blip r:embed="rId3"/>
          <a:stretch>
            <a:fillRect/>
          </a:stretch>
        </p:blipFill>
        <p:spPr>
          <a:xfrm>
            <a:off x="838200" y="1690688"/>
            <a:ext cx="10515600" cy="4850789"/>
          </a:xfrm>
          <a:prstGeom prst="rect">
            <a:avLst/>
          </a:prstGeom>
        </p:spPr>
      </p:pic>
    </p:spTree>
    <p:extLst>
      <p:ext uri="{BB962C8B-B14F-4D97-AF65-F5344CB8AC3E}">
        <p14:creationId xmlns:p14="http://schemas.microsoft.com/office/powerpoint/2010/main" val="3245155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620C249D-229B-4112-84CC-297D44397188}"/>
              </a:ext>
            </a:extLst>
          </p:cNvPr>
          <p:cNvSpPr/>
          <p:nvPr/>
        </p:nvSpPr>
        <p:spPr>
          <a:xfrm>
            <a:off x="838200" y="1551345"/>
            <a:ext cx="11353800" cy="4747005"/>
          </a:xfrm>
          <a:prstGeom prst="rect">
            <a:avLst/>
          </a:prstGeom>
        </p:spPr>
        <p:txBody>
          <a:bodyPr wrap="square">
            <a:spAutoFit/>
          </a:bodyPr>
          <a:lstStyle/>
          <a:p>
            <a:pPr marL="342900" indent="-342900">
              <a:lnSpc>
                <a:spcPct val="107000"/>
              </a:lnSpc>
              <a:spcAft>
                <a:spcPts val="80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Times New Roman" panose="02020603050405020304" pitchFamily="18" charset="0"/>
              </a:rPr>
              <a:t>Montana Gourmet Garlic is a company that grows garlic using organic methods. Knowing a little about experimental methods, the owners design an experiment to test </a:t>
            </a:r>
            <a:r>
              <a:rPr lang="en-US" sz="2400" b="1"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whether growth of garlic is affected by the type of fertilizer used.</a:t>
            </a:r>
            <a:r>
              <a:rPr lang="en-US" sz="2400" b="1" dirty="0">
                <a:latin typeface="Calibri" panose="020F0502020204030204" pitchFamily="34" charset="0"/>
                <a:ea typeface="Calibri" panose="020F0502020204030204" pitchFamily="34" charset="0"/>
                <a:cs typeface="Times New Roman" panose="02020603050405020304" pitchFamily="18" charset="0"/>
              </a:rPr>
              <a:t>  </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Times New Roman" panose="02020603050405020304" pitchFamily="18" charset="0"/>
              </a:rPr>
              <a:t>They limit the experimentation to a Rocambole variety named Spanish </a:t>
            </a:r>
            <a:r>
              <a:rPr lang="en-US" sz="2400" dirty="0" err="1">
                <a:latin typeface="Calibri" panose="020F0502020204030204" pitchFamily="34" charset="0"/>
                <a:ea typeface="Calibri" panose="020F0502020204030204" pitchFamily="34" charset="0"/>
                <a:cs typeface="Times New Roman" panose="02020603050405020304" pitchFamily="18" charset="0"/>
              </a:rPr>
              <a:t>Roja</a:t>
            </a:r>
            <a:r>
              <a:rPr lang="en-US" sz="2400" dirty="0">
                <a:latin typeface="Calibri" panose="020F0502020204030204" pitchFamily="34" charset="0"/>
                <a:ea typeface="Calibri" panose="020F0502020204030204" pitchFamily="34" charset="0"/>
                <a:cs typeface="Times New Roman" panose="02020603050405020304" pitchFamily="18" charset="0"/>
              </a:rPr>
              <a:t>, and test three organic fertilizers and one chemical fertilizer (as a control). </a:t>
            </a:r>
          </a:p>
          <a:p>
            <a:pPr marL="342900" indent="-342900">
              <a:lnSpc>
                <a:spcPct val="107000"/>
              </a:lnSpc>
              <a:spcAft>
                <a:spcPts val="80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Times New Roman" panose="02020603050405020304" pitchFamily="18" charset="0"/>
              </a:rPr>
              <a:t>They blind themselves to the fertilizer by using containers with numbers 1 through 4. (In other words, they design an experiment in such a way that they do not know which fertilizer is in which container.)</a:t>
            </a:r>
          </a:p>
          <a:p>
            <a:pPr marL="342900" indent="-342900">
              <a:lnSpc>
                <a:spcPct val="107000"/>
              </a:lnSpc>
              <a:spcAft>
                <a:spcPts val="800"/>
              </a:spcAft>
              <a:buFont typeface="Arial" panose="020B0604020202020204" pitchFamily="34" charset="0"/>
              <a:buChar char="•"/>
            </a:pPr>
            <a:r>
              <a:rPr lang="en-US" sz="2400" b="1"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One acre </a:t>
            </a:r>
            <a:r>
              <a:rPr lang="en-US" sz="2400" b="1" i="1">
                <a:solidFill>
                  <a:srgbClr val="FF0000"/>
                </a:solidFill>
                <a:latin typeface="Calibri" panose="020F0502020204030204" pitchFamily="34" charset="0"/>
                <a:ea typeface="Calibri" panose="020F0502020204030204" pitchFamily="34" charset="0"/>
                <a:cs typeface="Times New Roman" panose="02020603050405020304" pitchFamily="18" charset="0"/>
              </a:rPr>
              <a:t>of farmland </a:t>
            </a:r>
            <a:r>
              <a:rPr lang="en-US" sz="2400" b="1"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is set aside for the experiment. It is divided into 32 beds. They randomly assign fertilizers to beds.</a:t>
            </a:r>
            <a:r>
              <a:rPr lang="en-US" sz="2400" dirty="0">
                <a:latin typeface="Calibri" panose="020F0502020204030204" pitchFamily="34" charset="0"/>
                <a:ea typeface="Calibri" panose="020F0502020204030204" pitchFamily="34" charset="0"/>
                <a:cs typeface="Times New Roman" panose="02020603050405020304" pitchFamily="18" charset="0"/>
              </a:rPr>
              <a:t> At harvest, they calculate the average weight of garlic bulbs in each of the beds. </a:t>
            </a:r>
          </a:p>
        </p:txBody>
      </p:sp>
    </p:spTree>
    <p:extLst>
      <p:ext uri="{BB962C8B-B14F-4D97-AF65-F5344CB8AC3E}">
        <p14:creationId xmlns:p14="http://schemas.microsoft.com/office/powerpoint/2010/main" val="3880737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Content Placeholder 3"/>
          <p:cNvPicPr>
            <a:picLocks noGrp="1" noChangeAspect="1"/>
          </p:cNvPicPr>
          <p:nvPr>
            <p:ph idx="1"/>
          </p:nvPr>
        </p:nvPicPr>
        <p:blipFill>
          <a:blip r:embed="rId3"/>
          <a:stretch>
            <a:fillRect/>
          </a:stretch>
        </p:blipFill>
        <p:spPr>
          <a:xfrm>
            <a:off x="980902" y="1528935"/>
            <a:ext cx="9410007" cy="5329065"/>
          </a:xfrm>
          <a:prstGeom prst="rect">
            <a:avLst/>
          </a:prstGeom>
        </p:spPr>
      </p:pic>
    </p:spTree>
    <p:extLst>
      <p:ext uri="{BB962C8B-B14F-4D97-AF65-F5344CB8AC3E}">
        <p14:creationId xmlns:p14="http://schemas.microsoft.com/office/powerpoint/2010/main" val="2620717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Content Placeholder 6"/>
          <p:cNvPicPr>
            <a:picLocks noGrp="1" noChangeAspect="1"/>
          </p:cNvPicPr>
          <p:nvPr>
            <p:ph idx="1"/>
          </p:nvPr>
        </p:nvPicPr>
        <p:blipFill>
          <a:blip r:embed="rId3"/>
          <a:stretch>
            <a:fillRect/>
          </a:stretch>
        </p:blipFill>
        <p:spPr>
          <a:xfrm>
            <a:off x="1012507" y="1523581"/>
            <a:ext cx="10608686" cy="4777466"/>
          </a:xfrm>
          <a:prstGeom prst="rect">
            <a:avLst/>
          </a:prstGeom>
        </p:spPr>
      </p:pic>
    </p:spTree>
    <p:extLst>
      <p:ext uri="{BB962C8B-B14F-4D97-AF65-F5344CB8AC3E}">
        <p14:creationId xmlns:p14="http://schemas.microsoft.com/office/powerpoint/2010/main" val="1451194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Content Placeholder 4"/>
          <p:cNvSpPr>
            <a:spLocks noGrp="1"/>
          </p:cNvSpPr>
          <p:nvPr>
            <p:ph idx="1"/>
          </p:nvPr>
        </p:nvSpPr>
        <p:spPr/>
        <p:txBody>
          <a:bodyPr/>
          <a:lstStyle/>
          <a:p>
            <a:r>
              <a:rPr lang="en-US" dirty="0"/>
              <a:t>As its name implies, Analysis of Variance analyzes or breaks apart, the variance of the response variable to determine whether the between the group variation is the significant portion in total variation. </a:t>
            </a:r>
          </a:p>
          <a:p>
            <a:r>
              <a:rPr lang="en-US" dirty="0"/>
              <a:t>We can check this by using </a:t>
            </a:r>
            <a:r>
              <a:rPr lang="en-US" i="1" dirty="0"/>
              <a:t>F-</a:t>
            </a:r>
            <a:r>
              <a:rPr lang="en-US" dirty="0"/>
              <a:t>Test. </a:t>
            </a:r>
          </a:p>
          <a:p>
            <a:r>
              <a:rPr lang="en-US" i="1" dirty="0"/>
              <a:t>F-</a:t>
            </a:r>
            <a:r>
              <a:rPr lang="en-US" dirty="0"/>
              <a:t>Test is the ratio of the Model Variance and Error Variance.</a:t>
            </a:r>
            <a:endParaRPr lang="en-US" i="1" dirty="0"/>
          </a:p>
          <a:p>
            <a:r>
              <a:rPr lang="en-US" dirty="0"/>
              <a:t>The whole process explained in previous slides starts with Sum Of Squares. There are three sum of squares – Model Sum of Square (Between the Group Variation), Error Sum of Squares (within the group variation) and Total Variation. </a:t>
            </a:r>
          </a:p>
        </p:txBody>
      </p:sp>
    </p:spTree>
    <p:extLst>
      <p:ext uri="{BB962C8B-B14F-4D97-AF65-F5344CB8AC3E}">
        <p14:creationId xmlns:p14="http://schemas.microsoft.com/office/powerpoint/2010/main" val="3508332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Content Placeholder 5"/>
          <p:cNvPicPr>
            <a:picLocks noGrp="1" noChangeAspect="1"/>
          </p:cNvPicPr>
          <p:nvPr>
            <p:ph idx="1"/>
          </p:nvPr>
        </p:nvPicPr>
        <p:blipFill>
          <a:blip r:embed="rId3"/>
          <a:stretch>
            <a:fillRect/>
          </a:stretch>
        </p:blipFill>
        <p:spPr>
          <a:xfrm>
            <a:off x="965402" y="1500807"/>
            <a:ext cx="10388398" cy="4866741"/>
          </a:xfrm>
          <a:prstGeom prst="rect">
            <a:avLst/>
          </a:prstGeom>
        </p:spPr>
      </p:pic>
    </p:spTree>
    <p:extLst>
      <p:ext uri="{BB962C8B-B14F-4D97-AF65-F5344CB8AC3E}">
        <p14:creationId xmlns:p14="http://schemas.microsoft.com/office/powerpoint/2010/main" val="2847532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stretch>
            <a:fillRect/>
          </a:stretch>
        </p:blipFill>
        <p:spPr>
          <a:xfrm>
            <a:off x="988868" y="1690688"/>
            <a:ext cx="6941474" cy="4710112"/>
          </a:xfrm>
          <a:prstGeom prst="rect">
            <a:avLst/>
          </a:prstGeom>
        </p:spPr>
      </p:pic>
      <p:pic>
        <p:nvPicPr>
          <p:cNvPr id="5" name="Picture 4">
            <a:extLst>
              <a:ext uri="{FF2B5EF4-FFF2-40B4-BE49-F238E27FC236}">
                <a16:creationId xmlns:a16="http://schemas.microsoft.com/office/drawing/2014/main" id="{8F37E7C5-6082-448B-BF6D-AE8C3CA8252C}"/>
              </a:ext>
            </a:extLst>
          </p:cNvPr>
          <p:cNvPicPr>
            <a:picLocks noChangeAspect="1"/>
          </p:cNvPicPr>
          <p:nvPr/>
        </p:nvPicPr>
        <p:blipFill>
          <a:blip r:embed="rId4"/>
          <a:stretch>
            <a:fillRect/>
          </a:stretch>
        </p:blipFill>
        <p:spPr>
          <a:xfrm>
            <a:off x="8423031" y="3077308"/>
            <a:ext cx="2930769" cy="1424354"/>
          </a:xfrm>
          <a:prstGeom prst="rect">
            <a:avLst/>
          </a:prstGeom>
        </p:spPr>
      </p:pic>
    </p:spTree>
    <p:extLst>
      <p:ext uri="{BB962C8B-B14F-4D97-AF65-F5344CB8AC3E}">
        <p14:creationId xmlns:p14="http://schemas.microsoft.com/office/powerpoint/2010/main" val="1085069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stretch>
            <a:fillRect/>
          </a:stretch>
        </p:blipFill>
        <p:spPr>
          <a:xfrm>
            <a:off x="1003155" y="1807412"/>
            <a:ext cx="6794183" cy="4876021"/>
          </a:xfrm>
          <a:prstGeom prst="rect">
            <a:avLst/>
          </a:prstGeom>
        </p:spPr>
      </p:pic>
      <p:pic>
        <p:nvPicPr>
          <p:cNvPr id="6" name="Picture 5">
            <a:extLst>
              <a:ext uri="{FF2B5EF4-FFF2-40B4-BE49-F238E27FC236}">
                <a16:creationId xmlns:a16="http://schemas.microsoft.com/office/drawing/2014/main" id="{5E6BF443-EB5D-4C1C-AAA2-9B3D6150BEB6}"/>
              </a:ext>
            </a:extLst>
          </p:cNvPr>
          <p:cNvPicPr>
            <a:picLocks noChangeAspect="1"/>
          </p:cNvPicPr>
          <p:nvPr/>
        </p:nvPicPr>
        <p:blipFill>
          <a:blip r:embed="rId4"/>
          <a:stretch>
            <a:fillRect/>
          </a:stretch>
        </p:blipFill>
        <p:spPr>
          <a:xfrm>
            <a:off x="8335108" y="3338878"/>
            <a:ext cx="3358662" cy="1180368"/>
          </a:xfrm>
          <a:prstGeom prst="rect">
            <a:avLst/>
          </a:prstGeom>
        </p:spPr>
      </p:pic>
    </p:spTree>
    <p:extLst>
      <p:ext uri="{BB962C8B-B14F-4D97-AF65-F5344CB8AC3E}">
        <p14:creationId xmlns:p14="http://schemas.microsoft.com/office/powerpoint/2010/main" val="3676323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960553" y="1555691"/>
            <a:ext cx="7634807" cy="4928235"/>
          </a:xfrm>
          <a:prstGeom prst="rect">
            <a:avLst/>
          </a:prstGeom>
        </p:spPr>
      </p:pic>
      <p:pic>
        <p:nvPicPr>
          <p:cNvPr id="8" name="Picture 7"/>
          <p:cNvPicPr>
            <a:picLocks noChangeAspect="1"/>
          </p:cNvPicPr>
          <p:nvPr/>
        </p:nvPicPr>
        <p:blipFill>
          <a:blip r:embed="rId4"/>
          <a:stretch>
            <a:fillRect/>
          </a:stretch>
        </p:blipFill>
        <p:spPr>
          <a:xfrm>
            <a:off x="9127375" y="2676698"/>
            <a:ext cx="2709949" cy="1778923"/>
          </a:xfrm>
          <a:prstGeom prst="rect">
            <a:avLst/>
          </a:prstGeom>
        </p:spPr>
      </p:pic>
    </p:spTree>
    <p:extLst>
      <p:ext uri="{BB962C8B-B14F-4D97-AF65-F5344CB8AC3E}">
        <p14:creationId xmlns:p14="http://schemas.microsoft.com/office/powerpoint/2010/main" val="475436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5" name="Content Placeholder 4"/>
          <p:cNvSpPr>
            <a:spLocks noGrp="1"/>
          </p:cNvSpPr>
          <p:nvPr>
            <p:ph idx="1"/>
          </p:nvPr>
        </p:nvSpPr>
        <p:spPr>
          <a:xfrm>
            <a:off x="838200" y="1479665"/>
            <a:ext cx="10515600" cy="4697298"/>
          </a:xfrm>
        </p:spPr>
        <p:txBody>
          <a:bodyPr/>
          <a:lstStyle/>
          <a:p>
            <a:r>
              <a:rPr lang="en-US" dirty="0"/>
              <a:t>The null hypothesis of ANOVA is tested using </a:t>
            </a:r>
            <a:r>
              <a:rPr lang="en-US" i="1" dirty="0"/>
              <a:t>F</a:t>
            </a:r>
            <a:r>
              <a:rPr lang="en-US" dirty="0"/>
              <a:t> statistics as follow:</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3"/>
          <a:stretch>
            <a:fillRect/>
          </a:stretch>
        </p:blipFill>
        <p:spPr>
          <a:xfrm>
            <a:off x="1064029" y="2128058"/>
            <a:ext cx="10806546" cy="4339244"/>
          </a:xfrm>
          <a:prstGeom prst="rect">
            <a:avLst/>
          </a:prstGeom>
        </p:spPr>
      </p:pic>
    </p:spTree>
    <p:extLst>
      <p:ext uri="{BB962C8B-B14F-4D97-AF65-F5344CB8AC3E}">
        <p14:creationId xmlns:p14="http://schemas.microsoft.com/office/powerpoint/2010/main" val="1585367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EA4D51D1-B617-416A-8CA2-DBC288909D5D}"/>
              </a:ext>
            </a:extLst>
          </p:cNvPr>
          <p:cNvPicPr>
            <a:picLocks noChangeAspect="1"/>
          </p:cNvPicPr>
          <p:nvPr/>
        </p:nvPicPr>
        <p:blipFill>
          <a:blip r:embed="rId3"/>
          <a:stretch>
            <a:fillRect/>
          </a:stretch>
        </p:blipFill>
        <p:spPr>
          <a:xfrm>
            <a:off x="838199" y="1690688"/>
            <a:ext cx="9642231" cy="4762866"/>
          </a:xfrm>
          <a:prstGeom prst="rect">
            <a:avLst/>
          </a:prstGeom>
        </p:spPr>
      </p:pic>
    </p:spTree>
    <p:extLst>
      <p:ext uri="{BB962C8B-B14F-4D97-AF65-F5344CB8AC3E}">
        <p14:creationId xmlns:p14="http://schemas.microsoft.com/office/powerpoint/2010/main" val="667225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5" name="Content Placeholder 4"/>
          <p:cNvSpPr>
            <a:spLocks noGrp="1"/>
          </p:cNvSpPr>
          <p:nvPr>
            <p:ph idx="1"/>
          </p:nvPr>
        </p:nvSpPr>
        <p:spPr>
          <a:xfrm>
            <a:off x="838200" y="1479665"/>
            <a:ext cx="10515600" cy="4697298"/>
          </a:xfrm>
        </p:spPr>
        <p:txBody>
          <a:bodyPr/>
          <a:lstStyle/>
          <a:p>
            <a:r>
              <a:rPr lang="en-US" dirty="0"/>
              <a:t>The </a:t>
            </a:r>
            <a:r>
              <a:rPr lang="en-US" i="1" dirty="0"/>
              <a:t>coefficient of determination, </a:t>
            </a:r>
            <a:r>
              <a:rPr lang="en-US" dirty="0"/>
              <a:t>is a measure of the proportion of variability explained by the independent variables in the analysis. </a:t>
            </a:r>
          </a:p>
          <a:p>
            <a:endParaRPr lang="en-US" dirty="0"/>
          </a:p>
          <a:p>
            <a:r>
              <a:rPr lang="en-US" dirty="0"/>
              <a:t>The value of R-square is between 0 to 1. The value is </a:t>
            </a:r>
          </a:p>
          <a:p>
            <a:pPr marL="0" indent="0">
              <a:buNone/>
            </a:pPr>
            <a:r>
              <a:rPr lang="en-US" dirty="0"/>
              <a:t>            close to 0 if independent variables do not explained variability in the data. </a:t>
            </a:r>
          </a:p>
          <a:p>
            <a:pPr marL="0" indent="0">
              <a:buNone/>
            </a:pPr>
            <a:r>
              <a:rPr lang="en-US" dirty="0"/>
              <a:t>            close to 1 independent variables explain a relatively large proportion of variability in the data.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00977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B2E18A6D-C27D-4CB8-B05B-0F983A49DDA4}"/>
              </a:ext>
            </a:extLst>
          </p:cNvPr>
          <p:cNvPicPr>
            <a:picLocks noChangeAspect="1"/>
          </p:cNvPicPr>
          <p:nvPr/>
        </p:nvPicPr>
        <p:blipFill>
          <a:blip r:embed="rId3"/>
          <a:stretch>
            <a:fillRect/>
          </a:stretch>
        </p:blipFill>
        <p:spPr>
          <a:xfrm>
            <a:off x="909454" y="1690688"/>
            <a:ext cx="10373092" cy="4921127"/>
          </a:xfrm>
          <a:prstGeom prst="rect">
            <a:avLst/>
          </a:prstGeom>
        </p:spPr>
      </p:pic>
    </p:spTree>
    <p:extLst>
      <p:ext uri="{BB962C8B-B14F-4D97-AF65-F5344CB8AC3E}">
        <p14:creationId xmlns:p14="http://schemas.microsoft.com/office/powerpoint/2010/main" val="2733528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E85C8118-6F69-4212-A0D2-D90ACE211444}"/>
              </a:ext>
            </a:extLst>
          </p:cNvPr>
          <p:cNvPicPr>
            <a:picLocks noChangeAspect="1"/>
          </p:cNvPicPr>
          <p:nvPr/>
        </p:nvPicPr>
        <p:blipFill>
          <a:blip r:embed="rId3"/>
          <a:stretch>
            <a:fillRect/>
          </a:stretch>
        </p:blipFill>
        <p:spPr>
          <a:xfrm>
            <a:off x="838201" y="2760786"/>
            <a:ext cx="10662138" cy="2092568"/>
          </a:xfrm>
          <a:prstGeom prst="rect">
            <a:avLst/>
          </a:prstGeom>
        </p:spPr>
      </p:pic>
    </p:spTree>
    <p:extLst>
      <p:ext uri="{BB962C8B-B14F-4D97-AF65-F5344CB8AC3E}">
        <p14:creationId xmlns:p14="http://schemas.microsoft.com/office/powerpoint/2010/main" val="1544306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56FDFBAD-C103-4E98-8FE8-BD2C5C16493E}"/>
              </a:ext>
            </a:extLst>
          </p:cNvPr>
          <p:cNvPicPr>
            <a:picLocks noChangeAspect="1"/>
          </p:cNvPicPr>
          <p:nvPr/>
        </p:nvPicPr>
        <p:blipFill>
          <a:blip r:embed="rId3"/>
          <a:stretch>
            <a:fillRect/>
          </a:stretch>
        </p:blipFill>
        <p:spPr>
          <a:xfrm>
            <a:off x="612775" y="1690687"/>
            <a:ext cx="9498379" cy="4973881"/>
          </a:xfrm>
          <a:prstGeom prst="rect">
            <a:avLst/>
          </a:prstGeom>
        </p:spPr>
      </p:pic>
    </p:spTree>
    <p:extLst>
      <p:ext uri="{BB962C8B-B14F-4D97-AF65-F5344CB8AC3E}">
        <p14:creationId xmlns:p14="http://schemas.microsoft.com/office/powerpoint/2010/main" val="3172390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5" name="Content Placeholder 4"/>
          <p:cNvSpPr>
            <a:spLocks noGrp="1"/>
          </p:cNvSpPr>
          <p:nvPr>
            <p:ph idx="1"/>
          </p:nvPr>
        </p:nvSpPr>
        <p:spPr>
          <a:xfrm>
            <a:off x="838200" y="1479665"/>
            <a:ext cx="10515600" cy="4697298"/>
          </a:xfrm>
        </p:spPr>
        <p:txBody>
          <a:bodyPr/>
          <a:lstStyle/>
          <a:p>
            <a:r>
              <a:rPr lang="en-US" dirty="0"/>
              <a:t>The validity of </a:t>
            </a:r>
            <a:r>
              <a:rPr lang="en-US" i="1" dirty="0"/>
              <a:t>p-</a:t>
            </a:r>
            <a:r>
              <a:rPr lang="en-US" dirty="0"/>
              <a:t>value depends on the data meeting assumptions of ANOVA. Therefore, it is good practice to verify those assumptions in the process of analyzing the group differences.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838200" y="3679637"/>
            <a:ext cx="4871345" cy="1970982"/>
          </a:xfrm>
          <a:prstGeom prst="rect">
            <a:avLst/>
          </a:prstGeom>
        </p:spPr>
      </p:pic>
      <p:pic>
        <p:nvPicPr>
          <p:cNvPr id="8" name="Picture 7"/>
          <p:cNvPicPr>
            <a:picLocks noChangeAspect="1"/>
          </p:cNvPicPr>
          <p:nvPr/>
        </p:nvPicPr>
        <p:blipFill>
          <a:blip r:embed="rId4"/>
          <a:stretch>
            <a:fillRect/>
          </a:stretch>
        </p:blipFill>
        <p:spPr>
          <a:xfrm>
            <a:off x="6327282" y="3016654"/>
            <a:ext cx="5709547" cy="3296948"/>
          </a:xfrm>
          <a:prstGeom prst="rect">
            <a:avLst/>
          </a:prstGeom>
        </p:spPr>
      </p:pic>
    </p:spTree>
    <p:extLst>
      <p:ext uri="{BB962C8B-B14F-4D97-AF65-F5344CB8AC3E}">
        <p14:creationId xmlns:p14="http://schemas.microsoft.com/office/powerpoint/2010/main" val="3010082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CD6EFD9-1A6C-44C3-948F-0F238C1E2034}"/>
              </a:ext>
            </a:extLst>
          </p:cNvPr>
          <p:cNvPicPr>
            <a:picLocks noChangeAspect="1"/>
          </p:cNvPicPr>
          <p:nvPr/>
        </p:nvPicPr>
        <p:blipFill>
          <a:blip r:embed="rId3"/>
          <a:stretch>
            <a:fillRect/>
          </a:stretch>
        </p:blipFill>
        <p:spPr>
          <a:xfrm>
            <a:off x="838199" y="1690688"/>
            <a:ext cx="7408985" cy="2529620"/>
          </a:xfrm>
          <a:prstGeom prst="rect">
            <a:avLst/>
          </a:prstGeom>
        </p:spPr>
      </p:pic>
      <p:pic>
        <p:nvPicPr>
          <p:cNvPr id="11" name="Picture 10">
            <a:extLst>
              <a:ext uri="{FF2B5EF4-FFF2-40B4-BE49-F238E27FC236}">
                <a16:creationId xmlns:a16="http://schemas.microsoft.com/office/drawing/2014/main" id="{9FD75AD8-F9B6-4E23-BF20-C2701FB3EB95}"/>
              </a:ext>
            </a:extLst>
          </p:cNvPr>
          <p:cNvPicPr>
            <a:picLocks noChangeAspect="1"/>
          </p:cNvPicPr>
          <p:nvPr/>
        </p:nvPicPr>
        <p:blipFill>
          <a:blip r:embed="rId4"/>
          <a:stretch>
            <a:fillRect/>
          </a:stretch>
        </p:blipFill>
        <p:spPr>
          <a:xfrm>
            <a:off x="838198" y="4461729"/>
            <a:ext cx="7408985" cy="2396271"/>
          </a:xfrm>
          <a:prstGeom prst="rect">
            <a:avLst/>
          </a:prstGeom>
        </p:spPr>
      </p:pic>
    </p:spTree>
    <p:extLst>
      <p:ext uri="{BB962C8B-B14F-4D97-AF65-F5344CB8AC3E}">
        <p14:creationId xmlns:p14="http://schemas.microsoft.com/office/powerpoint/2010/main" val="3706539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Way ANOVA Modelling</a:t>
            </a:r>
          </a:p>
        </p:txBody>
      </p:sp>
      <p:sp>
        <p:nvSpPr>
          <p:cNvPr id="5" name="Content Placeholder 4"/>
          <p:cNvSpPr>
            <a:spLocks noGrp="1"/>
          </p:cNvSpPr>
          <p:nvPr>
            <p:ph idx="1"/>
          </p:nvPr>
        </p:nvSpPr>
        <p:spPr>
          <a:xfrm>
            <a:off x="838200" y="1479665"/>
            <a:ext cx="10515600" cy="4697298"/>
          </a:xfrm>
        </p:spPr>
        <p:txBody>
          <a:bodyPr/>
          <a:lstStyle/>
          <a:p>
            <a:r>
              <a:rPr lang="en-US" dirty="0"/>
              <a:t>As a marketing manager of Sobeys Inc., you are responsible to examine the sales volume across different categories. Suppose, out of the different categories available, you pick up the sales of electronic items and measure its sales volume across the regions. </a:t>
            </a:r>
          </a:p>
          <a:p>
            <a:r>
              <a:rPr lang="en-US" dirty="0"/>
              <a:t>Based on the data collected from sample, you need to check whether sales volume across the regions are same or different. </a:t>
            </a:r>
          </a:p>
          <a:p>
            <a:r>
              <a:rPr lang="en-US" dirty="0"/>
              <a:t>How will you use the above information to frame the different marketing strategies. </a:t>
            </a:r>
          </a:p>
          <a:p>
            <a:r>
              <a:rPr lang="en-US" dirty="0"/>
              <a:t> Do you think, you will perform the multiple </a:t>
            </a:r>
            <a:r>
              <a:rPr lang="en-US" i="1" dirty="0"/>
              <a:t>t-</a:t>
            </a:r>
            <a:r>
              <a:rPr lang="en-US" dirty="0"/>
              <a:t>tests to analyze the difference or you use the ANOVA?</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97551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6910971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ANOVA Post Hoc Studies</a:t>
            </a:r>
          </a:p>
        </p:txBody>
      </p:sp>
      <p:sp>
        <p:nvSpPr>
          <p:cNvPr id="5" name="Content Placeholder 4"/>
          <p:cNvSpPr>
            <a:spLocks noGrp="1"/>
          </p:cNvSpPr>
          <p:nvPr>
            <p:ph idx="1"/>
          </p:nvPr>
        </p:nvSpPr>
        <p:spPr>
          <a:xfrm>
            <a:off x="838200" y="1479665"/>
            <a:ext cx="10515600" cy="4697298"/>
          </a:xfrm>
        </p:spPr>
        <p:txBody>
          <a:bodyPr/>
          <a:lstStyle/>
          <a:p>
            <a:r>
              <a:rPr lang="en-US" dirty="0"/>
              <a:t>Once we know, there is a significant effect of independent variable, the next step is to perform </a:t>
            </a:r>
            <a:r>
              <a:rPr lang="en-US" b="1" i="1" dirty="0"/>
              <a:t>all pairwise comparison</a:t>
            </a:r>
            <a:r>
              <a:rPr lang="en-US" dirty="0"/>
              <a:t> of difference in the treatment means. </a:t>
            </a:r>
          </a:p>
          <a:p>
            <a:r>
              <a:rPr lang="en-US" dirty="0"/>
              <a:t>We can perform such kind of </a:t>
            </a:r>
            <a:r>
              <a:rPr lang="en-US" b="1" i="1" dirty="0"/>
              <a:t>Post Hoc Studies </a:t>
            </a:r>
            <a:r>
              <a:rPr lang="en-US" dirty="0"/>
              <a:t>by using graphical features of PROC GLM.</a:t>
            </a:r>
          </a:p>
          <a:p>
            <a:r>
              <a:rPr lang="en-US" dirty="0"/>
              <a:t>A pairwise comparison examines the difference between the two treatment means. “All Pairwise comparisons” means all possible combinations of two treatment means.</a:t>
            </a:r>
          </a:p>
          <a:p>
            <a:r>
              <a:rPr lang="en-US" b="1" i="1" dirty="0"/>
              <a:t>Tukey’s multiple comparison adjustment </a:t>
            </a:r>
            <a:r>
              <a:rPr lang="en-US" dirty="0"/>
              <a:t>is based on conducting all pairwise comparisons and guarantees that TYPE I experimentwise error rate is equal to alpha for this situation. </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827901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27959058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Two-Way ANOVA Modelling</a:t>
            </a:r>
          </a:p>
        </p:txBody>
      </p:sp>
      <p:sp>
        <p:nvSpPr>
          <p:cNvPr id="5" name="Content Placeholder 4"/>
          <p:cNvSpPr>
            <a:spLocks noGrp="1"/>
          </p:cNvSpPr>
          <p:nvPr>
            <p:ph idx="1"/>
          </p:nvPr>
        </p:nvSpPr>
        <p:spPr>
          <a:xfrm>
            <a:off x="838200" y="1479665"/>
            <a:ext cx="10515600" cy="4697298"/>
          </a:xfrm>
        </p:spPr>
        <p:txBody>
          <a:bodyPr/>
          <a:lstStyle/>
          <a:p>
            <a:r>
              <a:rPr lang="en-US" dirty="0"/>
              <a:t>We have seen earlier that most of the variation in response variable to be explained by only one predictor variable. However, there can be more than one predictor variable explaining the variations in response variable. </a:t>
            </a:r>
          </a:p>
          <a:p>
            <a:endParaRPr lang="en-US" dirty="0"/>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113905" y="3042458"/>
            <a:ext cx="10573790" cy="3815541"/>
          </a:xfrm>
          <a:prstGeom prst="rect">
            <a:avLst/>
          </a:prstGeom>
        </p:spPr>
      </p:pic>
    </p:spTree>
    <p:extLst>
      <p:ext uri="{BB962C8B-B14F-4D97-AF65-F5344CB8AC3E}">
        <p14:creationId xmlns:p14="http://schemas.microsoft.com/office/powerpoint/2010/main" val="24958801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Two-Way ANOVA Modelling</a:t>
            </a:r>
          </a:p>
        </p:txBody>
      </p:sp>
      <p:pic>
        <p:nvPicPr>
          <p:cNvPr id="7" name="Content Placeholder 6"/>
          <p:cNvPicPr>
            <a:picLocks noGrp="1" noChangeAspect="1"/>
          </p:cNvPicPr>
          <p:nvPr>
            <p:ph idx="1"/>
          </p:nvPr>
        </p:nvPicPr>
        <p:blipFill>
          <a:blip r:embed="rId3"/>
          <a:stretch>
            <a:fillRect/>
          </a:stretch>
        </p:blipFill>
        <p:spPr>
          <a:xfrm>
            <a:off x="972156" y="1489523"/>
            <a:ext cx="10381644" cy="5227161"/>
          </a:xfrm>
          <a:prstGeom prst="rect">
            <a:avLst/>
          </a:prstGeom>
        </p:spPr>
      </p:pic>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45117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Two-Way ANOVA Modelling</a:t>
            </a:r>
          </a:p>
        </p:txBody>
      </p:sp>
      <p:sp>
        <p:nvSpPr>
          <p:cNvPr id="2" name="AutoShape 6"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png;base64,iVBORw0KGgoAAAANSUhEUgAAAMUAAAEACAMAAAA0tEJxAAAAclBMVEX///8DAwOenp6UlJSMjIx/f3/8/PycnJw2NjaRkZGhoaGLi4uZmZk6Ojr39/crKyt5eXlUVFTt7e2+vr7e3t6ysrLS0tJbW1tycnLY2Njm5uampqa4uLgdHR1BQUFJSUnHx8cvLy9paWkeHh4SEhJNTU0KX/qYAAAC/ElEQVR4nO3ci07bQBCF4dRxcOzcgACBQMDc3v8VGxGiPSpqWkZI4xn9nwCp4EpntGHD7K49GgEAAAAAAAAAAAAAAAAAAAAAMABde1Rfe2cx2/4qeu8wZpNSxKN3FrOlDMW9dxizSqrwzmL3VopovbOYrWUott5hzC5KEbfeWczuZCiuvMOY3WaYZi9TvOONSxGrM+8wVstdqaLxDmN2LS+osEMxWpUiJt5ZzG5STLObUsSLdxazdI3Fs3cWM33Hi9up3pcidkvvMGbTUkXtncVMG4u4Q/GUYZrVxuLOO4yZNBbv3lnMdJpde4cxa2Sa9c5ilmMpTRuLS+8wZjLNxm0sehmKFEtpG+8sZjnWb85LEXGX0nJMs9pYeGdRD7O63n/8afb1H/uv7Wup4qnVnx6vn81dqpAX+o/wWe2c/DvYt0xTVLGgisFUwStqOFUwFsOpIsdY5KgixyvKp4ocf0etm+o/dK0EnXQnrhx019GVInYpNoZn3lnMcuxYPJYichyFuvEOYybTcY4di947jNm8FPHmncVsKSdOB/2mdpLuWMSdZheliHPvLGZ6FCrFjkXcPXo9ChV3YzjdPRZxj0JJYxH4xOlzKWLsncXsQYYi7h59io3hKxmKuId/X4IMxbod/10tQ7GZn7iw6FyqyLGqlmOFkzXzvFXwiqIKqviK34vhVMFY2OX4O6qfd1XVVNX846NpDp+dFlfvf374/uHSzy/dx/84XP/5za5qBrWQm2L9JseOhbRHK+8sZmdy4tSnefsJOXYsUty8neMZGSl2LHQprfcOYzYrRUy9s5jl2LGQuwoD71jIzdtxnwqVY8cixc3bOXYs5ObtC+8sZjn26GWaffXOYnYmQzGoDvpbcjQWchQq7uHfHDdvy1Oh4k6zun4T9/Bviucg5mgs5ChU3MO/IxmKuI2F3mMRt7FI8bjZHM9BlGl24Z3FTKfZ3juMmSylxX0Oog5F5R3GbNvOj8ZxGwsAAAAAAAAAAAAAAAAAAAAAAAAAgJff2oQjl6KJsA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Content Placeholder 4"/>
          <p:cNvSpPr>
            <a:spLocks noGrp="1"/>
          </p:cNvSpPr>
          <p:nvPr>
            <p:ph idx="1"/>
          </p:nvPr>
        </p:nvSpPr>
        <p:spPr/>
        <p:txBody>
          <a:bodyPr>
            <a:normAutofit fontScale="92500"/>
          </a:bodyPr>
          <a:lstStyle/>
          <a:p>
            <a:r>
              <a:rPr lang="en-US" dirty="0"/>
              <a:t>The Dataset contains the following variables:</a:t>
            </a:r>
          </a:p>
          <a:p>
            <a:pPr marL="0" indent="0">
              <a:buNone/>
            </a:pPr>
            <a:r>
              <a:rPr lang="en-US" dirty="0"/>
              <a:t>        - </a:t>
            </a:r>
            <a:r>
              <a:rPr lang="en-US" b="1" dirty="0" err="1"/>
              <a:t>Drugdose</a:t>
            </a:r>
            <a:r>
              <a:rPr lang="en-US" b="1" dirty="0"/>
              <a:t>:</a:t>
            </a:r>
            <a:r>
              <a:rPr lang="en-US" dirty="0"/>
              <a:t> Dose level of drugs (1, 2, 3, 4) corresponding to (Placebo, 50mg, 100mg, 200mg)</a:t>
            </a:r>
          </a:p>
          <a:p>
            <a:pPr marL="0" indent="0">
              <a:buNone/>
            </a:pPr>
            <a:r>
              <a:rPr lang="en-US" dirty="0"/>
              <a:t>        - </a:t>
            </a:r>
            <a:r>
              <a:rPr lang="en-US" b="1" dirty="0"/>
              <a:t>Disease:</a:t>
            </a:r>
            <a:r>
              <a:rPr lang="en-US" dirty="0"/>
              <a:t> Heart disease category</a:t>
            </a:r>
          </a:p>
          <a:p>
            <a:pPr marL="0" indent="0">
              <a:buNone/>
            </a:pPr>
            <a:r>
              <a:rPr lang="en-US" dirty="0"/>
              <a:t>        - </a:t>
            </a:r>
            <a:r>
              <a:rPr lang="en-US" b="1" dirty="0" err="1"/>
              <a:t>BloodBP</a:t>
            </a:r>
            <a:r>
              <a:rPr lang="en-US" b="1" dirty="0"/>
              <a:t>:</a:t>
            </a:r>
            <a:r>
              <a:rPr lang="en-US" dirty="0"/>
              <a:t> Change in diastolic blood pressure after 2 weeks treatment.  </a:t>
            </a:r>
          </a:p>
          <a:p>
            <a:pPr marL="0" indent="0">
              <a:buNone/>
            </a:pPr>
            <a:endParaRPr lang="en-US" dirty="0"/>
          </a:p>
          <a:p>
            <a:r>
              <a:rPr lang="en-US" dirty="0"/>
              <a:t>Data were collected in an effort to determine whether different dose levels of a given drug have an effect on blood pressure for a people with different heart diseases. In other words, is there any difference in blood pressure change across the levels of drug dose and diseases. </a:t>
            </a:r>
          </a:p>
        </p:txBody>
      </p:sp>
    </p:spTree>
    <p:extLst>
      <p:ext uri="{BB962C8B-B14F-4D97-AF65-F5344CB8AC3E}">
        <p14:creationId xmlns:p14="http://schemas.microsoft.com/office/powerpoint/2010/main" val="3637522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4062985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1508</TotalTime>
  <Words>2688</Words>
  <Application>Microsoft Office PowerPoint</Application>
  <PresentationFormat>Widescreen</PresentationFormat>
  <Paragraphs>202</Paragraphs>
  <Slides>50</Slides>
  <Notes>43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50</vt:i4>
      </vt:variant>
    </vt:vector>
  </HeadingPairs>
  <TitlesOfParts>
    <vt:vector size="55" baseType="lpstr">
      <vt:lpstr>Arial</vt:lpstr>
      <vt:lpstr>Calibri</vt:lpstr>
      <vt:lpstr>Calibri Light</vt:lpstr>
      <vt:lpstr>Office Theme</vt:lpstr>
      <vt:lpstr>1_Office Theme</vt:lpstr>
      <vt:lpstr>Hypothesis Testing and ANOVA </vt:lpstr>
      <vt:lpstr>Hypothesis Testing – One Sample t-test</vt:lpstr>
      <vt:lpstr>Hypothesis Testing – One Sample t-test</vt:lpstr>
      <vt:lpstr>Hypothesis Testing – One Sample t-test</vt:lpstr>
      <vt:lpstr>Hypothesis Testing – One Sample t-test</vt:lpstr>
      <vt:lpstr>Hypothesis Testing – One Sample t-test</vt:lpstr>
      <vt:lpstr>Hypothesis Testing – One Sample t-test</vt:lpstr>
      <vt:lpstr>Hypothesis Testing – One Sample t-test</vt:lpstr>
      <vt:lpstr>PowerPoint Presentation</vt:lpstr>
      <vt:lpstr>Hypothesis Testing – Two Sample t-test</vt:lpstr>
      <vt:lpstr>Hypothesis Testing – Two Sample t-test</vt:lpstr>
      <vt:lpstr>Hypothesis Testing – Two Sample t-test</vt:lpstr>
      <vt:lpstr>PowerPoint Presentation</vt:lpstr>
      <vt:lpstr>Hypothesis Testing – Paired t-test</vt:lpstr>
      <vt:lpstr>Hypothesis Testing – Paired t-test</vt:lpstr>
      <vt:lpstr>Hypothesis Testing – Paired t-test</vt:lpstr>
      <vt:lpstr>Hypothesis Testing – Paired t-test</vt:lpstr>
      <vt:lpstr>Hypothesis Testing – Paired t-test</vt:lpstr>
      <vt:lpstr>Hypothesis Testing – Paired t-test</vt:lpstr>
      <vt:lpstr>PowerPoint Presentation</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One Way ANOVA Modelling</vt:lpstr>
      <vt:lpstr>PowerPoint Presentation</vt:lpstr>
      <vt:lpstr>ANOVA Post Hoc Studies</vt:lpstr>
      <vt:lpstr>PowerPoint Presentation</vt:lpstr>
      <vt:lpstr>Two-Way ANOVA Modelling</vt:lpstr>
      <vt:lpstr>Two-Way ANOVA Modelling</vt:lpstr>
      <vt:lpstr>Two-Way ANOVA Modelling</vt:lpstr>
      <vt:lpstr>PowerPoint Presentation</vt:lpstr>
    </vt:vector>
  </TitlesOfParts>
  <Company>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838</cp:revision>
  <dcterms:created xsi:type="dcterms:W3CDTF">2015-11-18T16:05:43Z</dcterms:created>
  <dcterms:modified xsi:type="dcterms:W3CDTF">2020-07-10T08:18:01Z</dcterms:modified>
</cp:coreProperties>
</file>