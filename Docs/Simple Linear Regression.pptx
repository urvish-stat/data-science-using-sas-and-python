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60" r:id="rId2"/>
  </p:sldMasterIdLst>
  <p:notesMasterIdLst>
    <p:notesMasterId r:id="rId17"/>
  </p:notesMasterIdLst>
  <p:sldIdLst>
    <p:sldId id="297" r:id="rId3"/>
    <p:sldId id="257" r:id="rId4"/>
    <p:sldId id="298" r:id="rId5"/>
    <p:sldId id="299" r:id="rId6"/>
    <p:sldId id="300" r:id="rId7"/>
    <p:sldId id="301" r:id="rId8"/>
    <p:sldId id="302" r:id="rId9"/>
    <p:sldId id="303" r:id="rId10"/>
    <p:sldId id="304" r:id="rId11"/>
    <p:sldId id="305" r:id="rId12"/>
    <p:sldId id="306" r:id="rId13"/>
    <p:sldId id="307" r:id="rId14"/>
    <p:sldId id="294"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0" autoAdjust="0"/>
    <p:restoredTop sz="91499" autoAdjust="0"/>
  </p:normalViewPr>
  <p:slideViewPr>
    <p:cSldViewPr snapToGrid="0">
      <p:cViewPr varScale="1">
        <p:scale>
          <a:sx n="79" d="100"/>
          <a:sy n="79" d="100"/>
        </p:scale>
        <p:origin x="821"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C100F-DE61-4D54-8450-A9B8CE5023B1}" type="datetimeFigureOut">
              <a:rPr lang="en-US" smtClean="0"/>
              <a:t>7/23/2020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39B35-E5C0-4422-AAF8-BFFA2F238F42}" type="slidenum">
              <a:rPr lang="en-US" smtClean="0"/>
              <a:t>‹#›</a:t>
            </a:fld>
            <a:endParaRPr lang="en-US"/>
          </a:p>
        </p:txBody>
      </p:sp>
    </p:spTree>
    <p:extLst>
      <p:ext uri="{BB962C8B-B14F-4D97-AF65-F5344CB8AC3E}">
        <p14:creationId xmlns:p14="http://schemas.microsoft.com/office/powerpoint/2010/main" val="4084085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468DF-067B-4708-BF4E-888660123DFC}" type="datetimeFigureOut">
              <a:rPr lang="en-US" smtClean="0"/>
              <a:t>7/23/2020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692150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11106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7/23/2020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749100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468DF-067B-4708-BF4E-888660123DFC}" type="datetimeFigureOut">
              <a:rPr lang="en-US" smtClean="0"/>
              <a:t>7/23/2020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83615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468DF-067B-4708-BF4E-888660123DFC}" type="datetimeFigureOut">
              <a:rPr lang="en-US" smtClean="0"/>
              <a:t>7/23/2020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474361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468DF-067B-4708-BF4E-888660123DFC}" type="datetimeFigureOut">
              <a:rPr lang="en-US" smtClean="0"/>
              <a:t>7/23/2020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732868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7/23/2020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322055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7/23/2020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123073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7/23/2020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535642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90941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21248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468DF-067B-4708-BF4E-888660123DFC}" type="datetimeFigureOut">
              <a:rPr lang="en-US" smtClean="0"/>
              <a:t>7/23/2020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438714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021680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7/23/2020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84661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468DF-067B-4708-BF4E-888660123DFC}" type="datetimeFigureOut">
              <a:rPr lang="en-US" smtClean="0"/>
              <a:t>7/23/2020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661528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468DF-067B-4708-BF4E-888660123DFC}" type="datetimeFigureOut">
              <a:rPr lang="en-US" smtClean="0"/>
              <a:t>7/23/2020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539051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468DF-067B-4708-BF4E-888660123DFC}" type="datetimeFigureOut">
              <a:rPr lang="en-US" smtClean="0"/>
              <a:t>7/23/2020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4185988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7/23/2020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0757741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7/23/2020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1016792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7/23/2020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9157014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5000533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517509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7/23/2020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421790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7/23/2020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3291980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42647" y="2356163"/>
            <a:ext cx="9144000" cy="2092745"/>
          </a:xfrm>
        </p:spPr>
        <p:txBody>
          <a:bodyPr>
            <a:noAutofit/>
          </a:bodyPr>
          <a:lstStyle/>
          <a:p>
            <a:r>
              <a:rPr lang="en-US" sz="8000" dirty="0"/>
              <a:t>Simple Linear Regression</a:t>
            </a:r>
          </a:p>
        </p:txBody>
      </p:sp>
    </p:spTree>
    <p:extLst>
      <p:ext uri="{BB962C8B-B14F-4D97-AF65-F5344CB8AC3E}">
        <p14:creationId xmlns:p14="http://schemas.microsoft.com/office/powerpoint/2010/main" val="1428881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Simple Linear Regression</a:t>
            </a:r>
          </a:p>
        </p:txBody>
      </p:sp>
      <p:pic>
        <p:nvPicPr>
          <p:cNvPr id="7" name="Picture 6">
            <a:extLst>
              <a:ext uri="{FF2B5EF4-FFF2-40B4-BE49-F238E27FC236}">
                <a16:creationId xmlns:a16="http://schemas.microsoft.com/office/drawing/2014/main" id="{ACB3B26E-1B1B-4D3E-9778-3A2FC7B41571}"/>
              </a:ext>
            </a:extLst>
          </p:cNvPr>
          <p:cNvPicPr>
            <a:picLocks noChangeAspect="1"/>
          </p:cNvPicPr>
          <p:nvPr/>
        </p:nvPicPr>
        <p:blipFill>
          <a:blip r:embed="rId2"/>
          <a:stretch>
            <a:fillRect/>
          </a:stretch>
        </p:blipFill>
        <p:spPr>
          <a:xfrm>
            <a:off x="838199" y="1941072"/>
            <a:ext cx="10436157" cy="4148443"/>
          </a:xfrm>
          <a:prstGeom prst="rect">
            <a:avLst/>
          </a:prstGeom>
        </p:spPr>
      </p:pic>
    </p:spTree>
    <p:extLst>
      <p:ext uri="{BB962C8B-B14F-4D97-AF65-F5344CB8AC3E}">
        <p14:creationId xmlns:p14="http://schemas.microsoft.com/office/powerpoint/2010/main" val="816414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Simple Linear Regression</a:t>
            </a:r>
          </a:p>
        </p:txBody>
      </p:sp>
      <p:pic>
        <p:nvPicPr>
          <p:cNvPr id="3" name="Picture 2">
            <a:extLst>
              <a:ext uri="{FF2B5EF4-FFF2-40B4-BE49-F238E27FC236}">
                <a16:creationId xmlns:a16="http://schemas.microsoft.com/office/drawing/2014/main" id="{D33C0CD4-E70D-49FF-A73A-BA79A1CF2FA3}"/>
              </a:ext>
            </a:extLst>
          </p:cNvPr>
          <p:cNvPicPr>
            <a:picLocks noChangeAspect="1"/>
          </p:cNvPicPr>
          <p:nvPr/>
        </p:nvPicPr>
        <p:blipFill>
          <a:blip r:embed="rId2"/>
          <a:stretch>
            <a:fillRect/>
          </a:stretch>
        </p:blipFill>
        <p:spPr>
          <a:xfrm>
            <a:off x="920885" y="1577603"/>
            <a:ext cx="7649184" cy="3461325"/>
          </a:xfrm>
          <a:prstGeom prst="rect">
            <a:avLst/>
          </a:prstGeom>
        </p:spPr>
      </p:pic>
      <p:pic>
        <p:nvPicPr>
          <p:cNvPr id="6" name="Picture 5">
            <a:extLst>
              <a:ext uri="{FF2B5EF4-FFF2-40B4-BE49-F238E27FC236}">
                <a16:creationId xmlns:a16="http://schemas.microsoft.com/office/drawing/2014/main" id="{F83A0B01-FB69-40E4-B96F-E29B375C5260}"/>
              </a:ext>
            </a:extLst>
          </p:cNvPr>
          <p:cNvPicPr>
            <a:picLocks noChangeAspect="1"/>
          </p:cNvPicPr>
          <p:nvPr/>
        </p:nvPicPr>
        <p:blipFill>
          <a:blip r:embed="rId3"/>
          <a:stretch>
            <a:fillRect/>
          </a:stretch>
        </p:blipFill>
        <p:spPr>
          <a:xfrm>
            <a:off x="920885" y="5321300"/>
            <a:ext cx="7515225" cy="1171575"/>
          </a:xfrm>
          <a:prstGeom prst="rect">
            <a:avLst/>
          </a:prstGeom>
        </p:spPr>
      </p:pic>
    </p:spTree>
    <p:extLst>
      <p:ext uri="{BB962C8B-B14F-4D97-AF65-F5344CB8AC3E}">
        <p14:creationId xmlns:p14="http://schemas.microsoft.com/office/powerpoint/2010/main" val="3611507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Simple Linear Regression</a:t>
            </a:r>
          </a:p>
        </p:txBody>
      </p:sp>
      <p:pic>
        <p:nvPicPr>
          <p:cNvPr id="5" name="Picture 4">
            <a:extLst>
              <a:ext uri="{FF2B5EF4-FFF2-40B4-BE49-F238E27FC236}">
                <a16:creationId xmlns:a16="http://schemas.microsoft.com/office/drawing/2014/main" id="{3F219FC2-CB97-4C26-9CDB-F43F480CC9A4}"/>
              </a:ext>
            </a:extLst>
          </p:cNvPr>
          <p:cNvPicPr>
            <a:picLocks noChangeAspect="1"/>
          </p:cNvPicPr>
          <p:nvPr/>
        </p:nvPicPr>
        <p:blipFill>
          <a:blip r:embed="rId2"/>
          <a:stretch>
            <a:fillRect/>
          </a:stretch>
        </p:blipFill>
        <p:spPr>
          <a:xfrm>
            <a:off x="920884" y="1536970"/>
            <a:ext cx="7590817" cy="3552521"/>
          </a:xfrm>
          <a:prstGeom prst="rect">
            <a:avLst/>
          </a:prstGeom>
        </p:spPr>
      </p:pic>
      <p:pic>
        <p:nvPicPr>
          <p:cNvPr id="8" name="Picture 7">
            <a:extLst>
              <a:ext uri="{FF2B5EF4-FFF2-40B4-BE49-F238E27FC236}">
                <a16:creationId xmlns:a16="http://schemas.microsoft.com/office/drawing/2014/main" id="{D5283B14-C2AD-4884-A784-A63BFC1CB450}"/>
              </a:ext>
            </a:extLst>
          </p:cNvPr>
          <p:cNvPicPr>
            <a:picLocks noChangeAspect="1"/>
          </p:cNvPicPr>
          <p:nvPr/>
        </p:nvPicPr>
        <p:blipFill>
          <a:blip r:embed="rId3"/>
          <a:stretch>
            <a:fillRect/>
          </a:stretch>
        </p:blipFill>
        <p:spPr>
          <a:xfrm>
            <a:off x="920884" y="5491770"/>
            <a:ext cx="10061643" cy="769566"/>
          </a:xfrm>
          <a:prstGeom prst="rect">
            <a:avLst/>
          </a:prstGeom>
        </p:spPr>
      </p:pic>
    </p:spTree>
    <p:extLst>
      <p:ext uri="{BB962C8B-B14F-4D97-AF65-F5344CB8AC3E}">
        <p14:creationId xmlns:p14="http://schemas.microsoft.com/office/powerpoint/2010/main" val="2146961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Simple Linear Regression</a:t>
            </a:r>
          </a:p>
        </p:txBody>
      </p:sp>
      <p:pic>
        <p:nvPicPr>
          <p:cNvPr id="3" name="Picture 2">
            <a:extLst>
              <a:ext uri="{FF2B5EF4-FFF2-40B4-BE49-F238E27FC236}">
                <a16:creationId xmlns:a16="http://schemas.microsoft.com/office/drawing/2014/main" id="{91B7D00C-0E8A-42DE-A211-2EAD81CB23E8}"/>
              </a:ext>
            </a:extLst>
          </p:cNvPr>
          <p:cNvPicPr>
            <a:picLocks noChangeAspect="1"/>
          </p:cNvPicPr>
          <p:nvPr/>
        </p:nvPicPr>
        <p:blipFill>
          <a:blip r:embed="rId2"/>
          <a:stretch>
            <a:fillRect/>
          </a:stretch>
        </p:blipFill>
        <p:spPr>
          <a:xfrm>
            <a:off x="920883" y="1559870"/>
            <a:ext cx="6491593" cy="3524250"/>
          </a:xfrm>
          <a:prstGeom prst="rect">
            <a:avLst/>
          </a:prstGeom>
        </p:spPr>
      </p:pic>
      <p:pic>
        <p:nvPicPr>
          <p:cNvPr id="7" name="Picture 6">
            <a:extLst>
              <a:ext uri="{FF2B5EF4-FFF2-40B4-BE49-F238E27FC236}">
                <a16:creationId xmlns:a16="http://schemas.microsoft.com/office/drawing/2014/main" id="{5A3EB488-4048-4265-9FFA-3F6B3AE230C4}"/>
              </a:ext>
            </a:extLst>
          </p:cNvPr>
          <p:cNvPicPr>
            <a:picLocks noChangeAspect="1"/>
          </p:cNvPicPr>
          <p:nvPr/>
        </p:nvPicPr>
        <p:blipFill>
          <a:blip r:embed="rId3"/>
          <a:stretch>
            <a:fillRect/>
          </a:stretch>
        </p:blipFill>
        <p:spPr>
          <a:xfrm>
            <a:off x="920884" y="5298130"/>
            <a:ext cx="9001329" cy="1559870"/>
          </a:xfrm>
          <a:prstGeom prst="rect">
            <a:avLst/>
          </a:prstGeom>
        </p:spPr>
      </p:pic>
    </p:spTree>
    <p:extLst>
      <p:ext uri="{BB962C8B-B14F-4D97-AF65-F5344CB8AC3E}">
        <p14:creationId xmlns:p14="http://schemas.microsoft.com/office/powerpoint/2010/main" val="893006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Simple Linear Regression</a:t>
            </a:r>
          </a:p>
        </p:txBody>
      </p:sp>
      <p:sp>
        <p:nvSpPr>
          <p:cNvPr id="6" name="TextBox 5">
            <a:extLst>
              <a:ext uri="{FF2B5EF4-FFF2-40B4-BE49-F238E27FC236}">
                <a16:creationId xmlns:a16="http://schemas.microsoft.com/office/drawing/2014/main" id="{468C8FA5-5FAD-4F91-8BA7-A2A834405881}"/>
              </a:ext>
            </a:extLst>
          </p:cNvPr>
          <p:cNvSpPr txBox="1"/>
          <p:nvPr/>
        </p:nvSpPr>
        <p:spPr>
          <a:xfrm>
            <a:off x="838200" y="1780887"/>
            <a:ext cx="10446696" cy="3453189"/>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OLS method provides the parameter estimates by determining the line that minimize the sum of squared distances between the observations and fitted line. In other words, fitted regression line is as close as possible to actual data.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method provides the estimates with certain optimum properties. If the assumptions are valid, the least square estimates are unbiased estimates of population parameter and have minimum variance (efficiency). The least square estimates often called </a:t>
            </a:r>
            <a:r>
              <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BLUE (Best Linear Unbiased Estimates).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With a large and representative sample, fitted regression line is a good approximation of the relationship between response and predictor variables </a:t>
            </a:r>
            <a:r>
              <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in population.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35208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Simple Linear Regression</a:t>
            </a:r>
          </a:p>
        </p:txBody>
      </p:sp>
      <p:pic>
        <p:nvPicPr>
          <p:cNvPr id="3" name="Picture 2">
            <a:extLst>
              <a:ext uri="{FF2B5EF4-FFF2-40B4-BE49-F238E27FC236}">
                <a16:creationId xmlns:a16="http://schemas.microsoft.com/office/drawing/2014/main" id="{29A6383A-1DEF-4210-BB85-BA291576F847}"/>
              </a:ext>
            </a:extLst>
          </p:cNvPr>
          <p:cNvPicPr>
            <a:picLocks noChangeAspect="1"/>
          </p:cNvPicPr>
          <p:nvPr/>
        </p:nvPicPr>
        <p:blipFill>
          <a:blip r:embed="rId2"/>
          <a:stretch>
            <a:fillRect/>
          </a:stretch>
        </p:blipFill>
        <p:spPr>
          <a:xfrm>
            <a:off x="838199" y="1593816"/>
            <a:ext cx="5095673" cy="3834218"/>
          </a:xfrm>
          <a:prstGeom prst="rect">
            <a:avLst/>
          </a:prstGeom>
        </p:spPr>
      </p:pic>
      <p:sp>
        <p:nvSpPr>
          <p:cNvPr id="7" name="TextBox 6">
            <a:extLst>
              <a:ext uri="{FF2B5EF4-FFF2-40B4-BE49-F238E27FC236}">
                <a16:creationId xmlns:a16="http://schemas.microsoft.com/office/drawing/2014/main" id="{E348CD34-A878-4D77-AE4E-98810E432A8C}"/>
              </a:ext>
            </a:extLst>
          </p:cNvPr>
          <p:cNvSpPr txBox="1"/>
          <p:nvPr/>
        </p:nvSpPr>
        <p:spPr>
          <a:xfrm>
            <a:off x="6097622" y="1593816"/>
            <a:ext cx="6094378" cy="3749553"/>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baseline Model is a horizontal line across all the values or predictor variable. The slope of the line is 0 and intercept is sample mean of response variable. </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Simple Linear Regression Model is compared against baseline model to determine whether predictor variable is explaining significant variability in response variable. </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a baseline model, there is no association between response and predictor variable so knowing the value of predictor variable doesn’t improve the prediction.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90459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Simple Linear Regression</a:t>
            </a:r>
          </a:p>
        </p:txBody>
      </p:sp>
      <p:sp>
        <p:nvSpPr>
          <p:cNvPr id="7" name="TextBox 6">
            <a:extLst>
              <a:ext uri="{FF2B5EF4-FFF2-40B4-BE49-F238E27FC236}">
                <a16:creationId xmlns:a16="http://schemas.microsoft.com/office/drawing/2014/main" id="{E348CD34-A878-4D77-AE4E-98810E432A8C}"/>
              </a:ext>
            </a:extLst>
          </p:cNvPr>
          <p:cNvSpPr txBox="1"/>
          <p:nvPr/>
        </p:nvSpPr>
        <p:spPr>
          <a:xfrm>
            <a:off x="6095291" y="1603543"/>
            <a:ext cx="6094378" cy="3852145"/>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To determine Simple Linear model is better than Baseline Model, compare the explained variability to unexplained variability. </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Explained Variability </a:t>
            </a:r>
            <a:r>
              <a:rPr lang="en-US" dirty="0">
                <a:latin typeface="Calibri" panose="020F0502020204030204" pitchFamily="34" charset="0"/>
                <a:ea typeface="Calibri" panose="020F0502020204030204" pitchFamily="34" charset="0"/>
                <a:cs typeface="Times New Roman" panose="02020603050405020304" pitchFamily="18" charset="0"/>
              </a:rPr>
              <a:t>is related to difference between regression line and mean of response variable.</a:t>
            </a:r>
          </a:p>
          <a:p>
            <a:pPr>
              <a:lnSpc>
                <a:spcPct val="107000"/>
              </a:lnSpc>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Une</a:t>
            </a:r>
            <a:r>
              <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xplained Variability </a:t>
            </a:r>
            <a:r>
              <a:rPr lang="en-US" sz="1800" dirty="0">
                <a:effectLst/>
                <a:latin typeface="Calibri" panose="020F0502020204030204" pitchFamily="34" charset="0"/>
                <a:ea typeface="Calibri" panose="020F0502020204030204" pitchFamily="34" charset="0"/>
                <a:cs typeface="Times New Roman" panose="02020603050405020304" pitchFamily="18" charset="0"/>
              </a:rPr>
              <a:t>is related to difference between observed value of response variable and predicted value response variable.</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B921D092-1A74-44AC-83E3-70694EB7283F}"/>
              </a:ext>
            </a:extLst>
          </p:cNvPr>
          <p:cNvPicPr>
            <a:picLocks noChangeAspect="1"/>
          </p:cNvPicPr>
          <p:nvPr/>
        </p:nvPicPr>
        <p:blipFill>
          <a:blip r:embed="rId2"/>
          <a:stretch>
            <a:fillRect/>
          </a:stretch>
        </p:blipFill>
        <p:spPr>
          <a:xfrm>
            <a:off x="926863" y="1690688"/>
            <a:ext cx="4676775" cy="3652681"/>
          </a:xfrm>
          <a:prstGeom prst="rect">
            <a:avLst/>
          </a:prstGeom>
        </p:spPr>
      </p:pic>
      <p:pic>
        <p:nvPicPr>
          <p:cNvPr id="8" name="Picture 7">
            <a:extLst>
              <a:ext uri="{FF2B5EF4-FFF2-40B4-BE49-F238E27FC236}">
                <a16:creationId xmlns:a16="http://schemas.microsoft.com/office/drawing/2014/main" id="{BF6E5895-64C6-4860-A65A-E5C81F16A412}"/>
              </a:ext>
            </a:extLst>
          </p:cNvPr>
          <p:cNvPicPr>
            <a:picLocks noChangeAspect="1"/>
          </p:cNvPicPr>
          <p:nvPr/>
        </p:nvPicPr>
        <p:blipFill>
          <a:blip r:embed="rId3"/>
          <a:stretch>
            <a:fillRect/>
          </a:stretch>
        </p:blipFill>
        <p:spPr>
          <a:xfrm>
            <a:off x="8238315" y="3349198"/>
            <a:ext cx="1520554" cy="661481"/>
          </a:xfrm>
          <a:prstGeom prst="rect">
            <a:avLst/>
          </a:prstGeom>
        </p:spPr>
      </p:pic>
      <p:pic>
        <p:nvPicPr>
          <p:cNvPr id="10" name="Picture 9">
            <a:extLst>
              <a:ext uri="{FF2B5EF4-FFF2-40B4-BE49-F238E27FC236}">
                <a16:creationId xmlns:a16="http://schemas.microsoft.com/office/drawing/2014/main" id="{864012E9-FDE9-405D-834B-96A4625D1BE9}"/>
              </a:ext>
            </a:extLst>
          </p:cNvPr>
          <p:cNvPicPr>
            <a:picLocks noChangeAspect="1"/>
          </p:cNvPicPr>
          <p:nvPr/>
        </p:nvPicPr>
        <p:blipFill>
          <a:blip r:embed="rId4"/>
          <a:stretch>
            <a:fillRect/>
          </a:stretch>
        </p:blipFill>
        <p:spPr>
          <a:xfrm>
            <a:off x="8238315" y="5055441"/>
            <a:ext cx="1520554" cy="575856"/>
          </a:xfrm>
          <a:prstGeom prst="rect">
            <a:avLst/>
          </a:prstGeom>
        </p:spPr>
      </p:pic>
    </p:spTree>
    <p:extLst>
      <p:ext uri="{BB962C8B-B14F-4D97-AF65-F5344CB8AC3E}">
        <p14:creationId xmlns:p14="http://schemas.microsoft.com/office/powerpoint/2010/main" val="2788135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Simple Linear Regression</a:t>
            </a:r>
          </a:p>
        </p:txBody>
      </p:sp>
      <p:sp>
        <p:nvSpPr>
          <p:cNvPr id="7" name="TextBox 6">
            <a:extLst>
              <a:ext uri="{FF2B5EF4-FFF2-40B4-BE49-F238E27FC236}">
                <a16:creationId xmlns:a16="http://schemas.microsoft.com/office/drawing/2014/main" id="{E348CD34-A878-4D77-AE4E-98810E432A8C}"/>
              </a:ext>
            </a:extLst>
          </p:cNvPr>
          <p:cNvSpPr txBox="1"/>
          <p:nvPr/>
        </p:nvSpPr>
        <p:spPr>
          <a:xfrm>
            <a:off x="6095291" y="1603543"/>
            <a:ext cx="6094378" cy="3852145"/>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To determine Simple Linear model is better than Baseline Model, compare the explained variability to unexplained variability. </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Explained Variability </a:t>
            </a:r>
            <a:r>
              <a:rPr lang="en-US" dirty="0">
                <a:latin typeface="Calibri" panose="020F0502020204030204" pitchFamily="34" charset="0"/>
                <a:ea typeface="Calibri" panose="020F0502020204030204" pitchFamily="34" charset="0"/>
                <a:cs typeface="Times New Roman" panose="02020603050405020304" pitchFamily="18" charset="0"/>
              </a:rPr>
              <a:t>is related to difference between regression line and mean of response variable.</a:t>
            </a:r>
          </a:p>
          <a:p>
            <a:pPr>
              <a:lnSpc>
                <a:spcPct val="107000"/>
              </a:lnSpc>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Une</a:t>
            </a:r>
            <a:r>
              <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xplained Variability </a:t>
            </a:r>
            <a:r>
              <a:rPr lang="en-US" sz="1800" dirty="0">
                <a:effectLst/>
                <a:latin typeface="Calibri" panose="020F0502020204030204" pitchFamily="34" charset="0"/>
                <a:ea typeface="Calibri" panose="020F0502020204030204" pitchFamily="34" charset="0"/>
                <a:cs typeface="Times New Roman" panose="02020603050405020304" pitchFamily="18" charset="0"/>
              </a:rPr>
              <a:t>is related to difference between observed value of response variable and predicted value response variable.</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B921D092-1A74-44AC-83E3-70694EB7283F}"/>
              </a:ext>
            </a:extLst>
          </p:cNvPr>
          <p:cNvPicPr>
            <a:picLocks noChangeAspect="1"/>
          </p:cNvPicPr>
          <p:nvPr/>
        </p:nvPicPr>
        <p:blipFill>
          <a:blip r:embed="rId2"/>
          <a:stretch>
            <a:fillRect/>
          </a:stretch>
        </p:blipFill>
        <p:spPr>
          <a:xfrm>
            <a:off x="926863" y="1690688"/>
            <a:ext cx="4676775" cy="3652681"/>
          </a:xfrm>
          <a:prstGeom prst="rect">
            <a:avLst/>
          </a:prstGeom>
        </p:spPr>
      </p:pic>
      <p:pic>
        <p:nvPicPr>
          <p:cNvPr id="8" name="Picture 7">
            <a:extLst>
              <a:ext uri="{FF2B5EF4-FFF2-40B4-BE49-F238E27FC236}">
                <a16:creationId xmlns:a16="http://schemas.microsoft.com/office/drawing/2014/main" id="{BF6E5895-64C6-4860-A65A-E5C81F16A412}"/>
              </a:ext>
            </a:extLst>
          </p:cNvPr>
          <p:cNvPicPr>
            <a:picLocks noChangeAspect="1"/>
          </p:cNvPicPr>
          <p:nvPr/>
        </p:nvPicPr>
        <p:blipFill>
          <a:blip r:embed="rId3"/>
          <a:stretch>
            <a:fillRect/>
          </a:stretch>
        </p:blipFill>
        <p:spPr>
          <a:xfrm>
            <a:off x="8238315" y="3349198"/>
            <a:ext cx="1520554" cy="661481"/>
          </a:xfrm>
          <a:prstGeom prst="rect">
            <a:avLst/>
          </a:prstGeom>
        </p:spPr>
      </p:pic>
      <p:pic>
        <p:nvPicPr>
          <p:cNvPr id="10" name="Picture 9">
            <a:extLst>
              <a:ext uri="{FF2B5EF4-FFF2-40B4-BE49-F238E27FC236}">
                <a16:creationId xmlns:a16="http://schemas.microsoft.com/office/drawing/2014/main" id="{864012E9-FDE9-405D-834B-96A4625D1BE9}"/>
              </a:ext>
            </a:extLst>
          </p:cNvPr>
          <p:cNvPicPr>
            <a:picLocks noChangeAspect="1"/>
          </p:cNvPicPr>
          <p:nvPr/>
        </p:nvPicPr>
        <p:blipFill>
          <a:blip r:embed="rId4"/>
          <a:stretch>
            <a:fillRect/>
          </a:stretch>
        </p:blipFill>
        <p:spPr>
          <a:xfrm>
            <a:off x="8238315" y="5055441"/>
            <a:ext cx="1520554" cy="575856"/>
          </a:xfrm>
          <a:prstGeom prst="rect">
            <a:avLst/>
          </a:prstGeom>
        </p:spPr>
      </p:pic>
      <p:sp>
        <p:nvSpPr>
          <p:cNvPr id="9" name="TextBox 8">
            <a:extLst>
              <a:ext uri="{FF2B5EF4-FFF2-40B4-BE49-F238E27FC236}">
                <a16:creationId xmlns:a16="http://schemas.microsoft.com/office/drawing/2014/main" id="{B0798698-89D0-4900-86AF-B129CD933B2D}"/>
              </a:ext>
            </a:extLst>
          </p:cNvPr>
          <p:cNvSpPr txBox="1"/>
          <p:nvPr/>
        </p:nvSpPr>
        <p:spPr>
          <a:xfrm>
            <a:off x="926863" y="5820960"/>
            <a:ext cx="7215188" cy="671915"/>
          </a:xfrm>
          <a:prstGeom prst="rect">
            <a:avLst/>
          </a:prstGeom>
          <a:noFill/>
        </p:spPr>
        <p:txBody>
          <a:bodyPr wrap="square">
            <a:spAutoFit/>
          </a:bodyPr>
          <a:lstStyle/>
          <a:p>
            <a:pPr>
              <a:lnSpc>
                <a:spcPct val="107000"/>
              </a:lnSpc>
              <a:spcAft>
                <a:spcPts val="800"/>
              </a:spcAft>
            </a:pPr>
            <a:r>
              <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Total Variability </a:t>
            </a:r>
            <a:r>
              <a:rPr lang="en-US" sz="1800" dirty="0">
                <a:effectLst/>
                <a:latin typeface="Calibri" panose="020F0502020204030204" pitchFamily="34" charset="0"/>
                <a:ea typeface="Calibri" panose="020F0502020204030204" pitchFamily="34" charset="0"/>
                <a:cs typeface="Times New Roman" panose="02020603050405020304" pitchFamily="18" charset="0"/>
              </a:rPr>
              <a:t>is related the observed value of response variable and mean of response variable.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A9461A6B-7397-4C4F-98E9-D65F69E42DD1}"/>
              </a:ext>
            </a:extLst>
          </p:cNvPr>
          <p:cNvPicPr>
            <a:picLocks noChangeAspect="1"/>
          </p:cNvPicPr>
          <p:nvPr/>
        </p:nvPicPr>
        <p:blipFill>
          <a:blip r:embed="rId5"/>
          <a:stretch>
            <a:fillRect/>
          </a:stretch>
        </p:blipFill>
        <p:spPr>
          <a:xfrm>
            <a:off x="3754878" y="6169024"/>
            <a:ext cx="1566152" cy="499907"/>
          </a:xfrm>
          <a:prstGeom prst="rect">
            <a:avLst/>
          </a:prstGeom>
        </p:spPr>
      </p:pic>
    </p:spTree>
    <p:extLst>
      <p:ext uri="{BB962C8B-B14F-4D97-AF65-F5344CB8AC3E}">
        <p14:creationId xmlns:p14="http://schemas.microsoft.com/office/powerpoint/2010/main" val="979659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Simple Linear Regression</a:t>
            </a:r>
          </a:p>
        </p:txBody>
      </p:sp>
      <p:sp>
        <p:nvSpPr>
          <p:cNvPr id="7" name="TextBox 6">
            <a:extLst>
              <a:ext uri="{FF2B5EF4-FFF2-40B4-BE49-F238E27FC236}">
                <a16:creationId xmlns:a16="http://schemas.microsoft.com/office/drawing/2014/main" id="{E348CD34-A878-4D77-AE4E-98810E432A8C}"/>
              </a:ext>
            </a:extLst>
          </p:cNvPr>
          <p:cNvSpPr txBox="1"/>
          <p:nvPr/>
        </p:nvSpPr>
        <p:spPr>
          <a:xfrm>
            <a:off x="6095291" y="1603543"/>
            <a:ext cx="6094378" cy="4239687"/>
          </a:xfrm>
          <a:prstGeom prst="rect">
            <a:avLst/>
          </a:prstGeom>
          <a:noFill/>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If the estimated simple linear regression model </a:t>
            </a:r>
            <a:r>
              <a:rPr lang="en-US" b="1" i="1" dirty="0">
                <a:solidFill>
                  <a:srgbClr val="FF0000"/>
                </a:solidFill>
                <a:latin typeface="Calibri" panose="020F0502020204030204" pitchFamily="34" charset="0"/>
                <a:ea typeface="Calibri" panose="020F0502020204030204" pitchFamily="34" charset="0"/>
                <a:cs typeface="Times New Roman" panose="02020603050405020304" pitchFamily="18" charset="0"/>
              </a:rPr>
              <a:t>does not fit</a:t>
            </a:r>
            <a:r>
              <a:rPr lang="en-US" dirty="0">
                <a:latin typeface="Calibri" panose="020F0502020204030204" pitchFamily="34" charset="0"/>
                <a:ea typeface="Calibri" panose="020F0502020204030204" pitchFamily="34" charset="0"/>
                <a:cs typeface="Times New Roman" panose="02020603050405020304" pitchFamily="18" charset="0"/>
              </a:rPr>
              <a:t> the data better than baseline model, you fail to reject the null hypothesis. Thus, you do not have enough evidence to say that the slope of the regression line in the population is different from zero.</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If the estimated simple linear regression model </a:t>
            </a:r>
            <a:r>
              <a:rPr lang="en-US" b="1" i="1" dirty="0">
                <a:solidFill>
                  <a:srgbClr val="FF0000"/>
                </a:solidFill>
                <a:latin typeface="Calibri" panose="020F0502020204030204" pitchFamily="34" charset="0"/>
                <a:ea typeface="Calibri" panose="020F0502020204030204" pitchFamily="34" charset="0"/>
                <a:cs typeface="Times New Roman" panose="02020603050405020304" pitchFamily="18" charset="0"/>
              </a:rPr>
              <a:t>does fit </a:t>
            </a:r>
            <a:r>
              <a:rPr lang="en-US" dirty="0">
                <a:latin typeface="Calibri" panose="020F0502020204030204" pitchFamily="34" charset="0"/>
                <a:ea typeface="Calibri" panose="020F0502020204030204" pitchFamily="34" charset="0"/>
                <a:cs typeface="Times New Roman" panose="02020603050405020304" pitchFamily="18" charset="0"/>
              </a:rPr>
              <a:t>the data better than baseline model, you reject the null hypothesis. Thus, you do have have enough evidence to say that the slope of the regression line in the population is different from zero and that the predictor variable explains the significant amount of variability in the response variable.</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1467D5CF-F1F8-4DC7-8A9F-C10E807034F7}"/>
              </a:ext>
            </a:extLst>
          </p:cNvPr>
          <p:cNvPicPr>
            <a:picLocks noChangeAspect="1"/>
          </p:cNvPicPr>
          <p:nvPr/>
        </p:nvPicPr>
        <p:blipFill>
          <a:blip r:embed="rId2"/>
          <a:stretch>
            <a:fillRect/>
          </a:stretch>
        </p:blipFill>
        <p:spPr>
          <a:xfrm>
            <a:off x="457201" y="1690688"/>
            <a:ext cx="5535038" cy="3852145"/>
          </a:xfrm>
          <a:prstGeom prst="rect">
            <a:avLst/>
          </a:prstGeom>
        </p:spPr>
      </p:pic>
    </p:spTree>
    <p:extLst>
      <p:ext uri="{BB962C8B-B14F-4D97-AF65-F5344CB8AC3E}">
        <p14:creationId xmlns:p14="http://schemas.microsoft.com/office/powerpoint/2010/main" val="1136471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Simple Linear Regression</a:t>
            </a:r>
          </a:p>
        </p:txBody>
      </p:sp>
      <p:sp>
        <p:nvSpPr>
          <p:cNvPr id="7" name="TextBox 6">
            <a:extLst>
              <a:ext uri="{FF2B5EF4-FFF2-40B4-BE49-F238E27FC236}">
                <a16:creationId xmlns:a16="http://schemas.microsoft.com/office/drawing/2014/main" id="{E348CD34-A878-4D77-AE4E-98810E432A8C}"/>
              </a:ext>
            </a:extLst>
          </p:cNvPr>
          <p:cNvSpPr txBox="1"/>
          <p:nvPr/>
        </p:nvSpPr>
        <p:spPr>
          <a:xfrm>
            <a:off x="5959104" y="2274751"/>
            <a:ext cx="6094378" cy="3054234"/>
          </a:xfrm>
          <a:prstGeom prst="rect">
            <a:avLst/>
          </a:prstGeom>
          <a:noFill/>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One of the assumption of simple linear regression is that mean of the response variable is </a:t>
            </a:r>
            <a:r>
              <a:rPr lang="en-US" b="1" i="1" dirty="0">
                <a:solidFill>
                  <a:srgbClr val="FF0000"/>
                </a:solidFill>
                <a:latin typeface="Calibri" panose="020F0502020204030204" pitchFamily="34" charset="0"/>
                <a:ea typeface="Calibri" panose="020F0502020204030204" pitchFamily="34" charset="0"/>
                <a:cs typeface="Times New Roman" panose="02020603050405020304" pitchFamily="18" charset="0"/>
              </a:rPr>
              <a:t>linearly</a:t>
            </a:r>
            <a:r>
              <a:rPr lang="en-US" dirty="0">
                <a:latin typeface="Calibri" panose="020F0502020204030204" pitchFamily="34" charset="0"/>
                <a:ea typeface="Calibri" panose="020F0502020204030204" pitchFamily="34" charset="0"/>
                <a:cs typeface="Times New Roman" panose="02020603050405020304" pitchFamily="18" charset="0"/>
              </a:rPr>
              <a:t> related to predictor variable. In other words, a straight line connects the means of the response variable at each value of predictor variable.</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The other assumptions are exactly same as ANOVA that is error term is normally distributed and has a constant variance and observations are independent. </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B42F7AA7-D33E-48DF-AD86-833D36D44065}"/>
              </a:ext>
            </a:extLst>
          </p:cNvPr>
          <p:cNvPicPr>
            <a:picLocks noChangeAspect="1"/>
          </p:cNvPicPr>
          <p:nvPr/>
        </p:nvPicPr>
        <p:blipFill>
          <a:blip r:embed="rId2"/>
          <a:stretch>
            <a:fillRect/>
          </a:stretch>
        </p:blipFill>
        <p:spPr>
          <a:xfrm>
            <a:off x="506447" y="1603543"/>
            <a:ext cx="5155051" cy="3873129"/>
          </a:xfrm>
          <a:prstGeom prst="rect">
            <a:avLst/>
          </a:prstGeom>
        </p:spPr>
      </p:pic>
    </p:spTree>
    <p:extLst>
      <p:ext uri="{BB962C8B-B14F-4D97-AF65-F5344CB8AC3E}">
        <p14:creationId xmlns:p14="http://schemas.microsoft.com/office/powerpoint/2010/main" val="1212120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Simple Linear Regression</a:t>
            </a:r>
          </a:p>
        </p:txBody>
      </p:sp>
      <p:pic>
        <p:nvPicPr>
          <p:cNvPr id="3" name="Picture 2">
            <a:extLst>
              <a:ext uri="{FF2B5EF4-FFF2-40B4-BE49-F238E27FC236}">
                <a16:creationId xmlns:a16="http://schemas.microsoft.com/office/drawing/2014/main" id="{4EC130E4-1A62-4416-A743-5B8FA56ACD4D}"/>
              </a:ext>
            </a:extLst>
          </p:cNvPr>
          <p:cNvPicPr>
            <a:picLocks noChangeAspect="1"/>
          </p:cNvPicPr>
          <p:nvPr/>
        </p:nvPicPr>
        <p:blipFill>
          <a:blip r:embed="rId2"/>
          <a:stretch>
            <a:fillRect/>
          </a:stretch>
        </p:blipFill>
        <p:spPr>
          <a:xfrm>
            <a:off x="573933" y="2244488"/>
            <a:ext cx="11322995" cy="3579777"/>
          </a:xfrm>
          <a:prstGeom prst="rect">
            <a:avLst/>
          </a:prstGeom>
        </p:spPr>
      </p:pic>
    </p:spTree>
    <p:extLst>
      <p:ext uri="{BB962C8B-B14F-4D97-AF65-F5344CB8AC3E}">
        <p14:creationId xmlns:p14="http://schemas.microsoft.com/office/powerpoint/2010/main" val="1319430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3654464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Q&amp;A</a:t>
            </a:r>
          </a:p>
        </p:txBody>
      </p:sp>
    </p:spTree>
    <p:extLst>
      <p:ext uri="{BB962C8B-B14F-4D97-AF65-F5344CB8AC3E}">
        <p14:creationId xmlns:p14="http://schemas.microsoft.com/office/powerpoint/2010/main" val="3295833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810</TotalTime>
  <Words>531</Words>
  <Application>Microsoft Office PowerPoint</Application>
  <PresentationFormat>Widescreen</PresentationFormat>
  <Paragraphs>41</Paragraphs>
  <Slides>14</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Arial</vt:lpstr>
      <vt:lpstr>Calibri</vt:lpstr>
      <vt:lpstr>Calibri Light</vt:lpstr>
      <vt:lpstr>Office Theme</vt:lpstr>
      <vt:lpstr>1_Office Theme</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PowerPoint Presentation</vt:lpstr>
      <vt:lpstr>Q&amp;A</vt:lpstr>
    </vt:vector>
  </TitlesOfParts>
  <Company>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by using SAS (Demo)</dc:title>
  <dc:creator>Urvish Shah</dc:creator>
  <cp:lastModifiedBy>Urvish Shah</cp:lastModifiedBy>
  <cp:revision>381</cp:revision>
  <dcterms:created xsi:type="dcterms:W3CDTF">2015-11-18T16:05:43Z</dcterms:created>
  <dcterms:modified xsi:type="dcterms:W3CDTF">2020-07-23T06:38:54Z</dcterms:modified>
</cp:coreProperties>
</file>