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 id="2147483660" r:id="rId2"/>
  </p:sldMasterIdLst>
  <p:notesMasterIdLst>
    <p:notesMasterId r:id="rId13"/>
  </p:notesMasterIdLst>
  <p:sldIdLst>
    <p:sldId id="297" r:id="rId3"/>
    <p:sldId id="257" r:id="rId4"/>
    <p:sldId id="314" r:id="rId5"/>
    <p:sldId id="315" r:id="rId6"/>
    <p:sldId id="316" r:id="rId7"/>
    <p:sldId id="317" r:id="rId8"/>
    <p:sldId id="318" r:id="rId9"/>
    <p:sldId id="319" r:id="rId10"/>
    <p:sldId id="313" r:id="rId11"/>
    <p:sldId id="27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0" autoAdjust="0"/>
    <p:restoredTop sz="91499" autoAdjust="0"/>
  </p:normalViewPr>
  <p:slideViewPr>
    <p:cSldViewPr snapToGrid="0">
      <p:cViewPr varScale="1">
        <p:scale>
          <a:sx n="79" d="100"/>
          <a:sy n="79" d="100"/>
        </p:scale>
        <p:origin x="821" y="6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C100F-DE61-4D54-8450-A9B8CE5023B1}" type="datetimeFigureOut">
              <a:rPr lang="en-US" smtClean="0"/>
              <a:t>8/6/2020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039B35-E5C0-4422-AAF8-BFFA2F238F42}" type="slidenum">
              <a:rPr lang="en-US" smtClean="0"/>
              <a:t>‹#›</a:t>
            </a:fld>
            <a:endParaRPr lang="en-US"/>
          </a:p>
        </p:txBody>
      </p:sp>
    </p:spTree>
    <p:extLst>
      <p:ext uri="{BB962C8B-B14F-4D97-AF65-F5344CB8AC3E}">
        <p14:creationId xmlns:p14="http://schemas.microsoft.com/office/powerpoint/2010/main" val="4084085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D8468DF-067B-4708-BF4E-888660123DF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692150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211106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468DF-067B-4708-BF4E-888660123DF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749100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D8468DF-067B-4708-BF4E-888660123DFC}" type="datetimeFigureOut">
              <a:rPr lang="en-US" smtClean="0"/>
              <a:t>8/6/2020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283615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8468DF-067B-4708-BF4E-888660123DFC}" type="datetimeFigureOut">
              <a:rPr lang="en-US" smtClean="0"/>
              <a:t>8/6/2020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474361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D8468DF-067B-4708-BF4E-888660123DFC}" type="datetimeFigureOut">
              <a:rPr lang="en-US" smtClean="0"/>
              <a:t>8/6/2020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732868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8468DF-067B-4708-BF4E-888660123DFC}" type="datetimeFigureOut">
              <a:rPr lang="en-US" smtClean="0"/>
              <a:t>8/6/2020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322055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8/6/2020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123073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8/6/2020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535642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90941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21248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D8468DF-067B-4708-BF4E-888660123DF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438714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021680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468DF-067B-4708-BF4E-888660123DF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846619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D8468DF-067B-4708-BF4E-888660123DFC}" type="datetimeFigureOut">
              <a:rPr lang="en-US" smtClean="0"/>
              <a:t>8/6/2020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6615289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8468DF-067B-4708-BF4E-888660123DFC}" type="datetimeFigureOut">
              <a:rPr lang="en-US" smtClean="0"/>
              <a:t>8/6/2020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539051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D8468DF-067B-4708-BF4E-888660123DFC}" type="datetimeFigureOut">
              <a:rPr lang="en-US" smtClean="0"/>
              <a:t>8/6/2020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4185988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8468DF-067B-4708-BF4E-888660123DFC}" type="datetimeFigureOut">
              <a:rPr lang="en-US" smtClean="0"/>
              <a:t>8/6/2020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0757741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8/6/2020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1016792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8/6/2020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9157014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5000533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517509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8468DF-067B-4708-BF4E-888660123DFC}" type="datetimeFigureOut">
              <a:rPr lang="en-US" smtClean="0"/>
              <a:t>8/6/2020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3308E4-E9C4-4172-8EDE-CEB6C8BD43E6}" type="slidenum">
              <a:rPr lang="en-US" smtClean="0"/>
              <a:t>‹#›</a:t>
            </a:fld>
            <a:endParaRPr lang="en-US"/>
          </a:p>
        </p:txBody>
      </p:sp>
    </p:spTree>
    <p:extLst>
      <p:ext uri="{BB962C8B-B14F-4D97-AF65-F5344CB8AC3E}">
        <p14:creationId xmlns:p14="http://schemas.microsoft.com/office/powerpoint/2010/main" val="4217903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8468DF-067B-4708-BF4E-888660123DFC}" type="datetimeFigureOut">
              <a:rPr lang="en-US" smtClean="0"/>
              <a:t>8/6/2020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3308E4-E9C4-4172-8EDE-CEB6C8BD43E6}" type="slidenum">
              <a:rPr lang="en-US" smtClean="0"/>
              <a:t>‹#›</a:t>
            </a:fld>
            <a:endParaRPr lang="en-US"/>
          </a:p>
        </p:txBody>
      </p:sp>
    </p:spTree>
    <p:extLst>
      <p:ext uri="{BB962C8B-B14F-4D97-AF65-F5344CB8AC3E}">
        <p14:creationId xmlns:p14="http://schemas.microsoft.com/office/powerpoint/2010/main" val="3291980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30197" y="2025423"/>
            <a:ext cx="9144000" cy="2092745"/>
          </a:xfrm>
        </p:spPr>
        <p:txBody>
          <a:bodyPr>
            <a:noAutofit/>
          </a:bodyPr>
          <a:lstStyle/>
          <a:p>
            <a:r>
              <a:rPr lang="en-US" sz="8000" dirty="0"/>
              <a:t>Collinearity Diagnostics</a:t>
            </a:r>
          </a:p>
        </p:txBody>
      </p:sp>
    </p:spTree>
    <p:extLst>
      <p:ext uri="{BB962C8B-B14F-4D97-AF65-F5344CB8AC3E}">
        <p14:creationId xmlns:p14="http://schemas.microsoft.com/office/powerpoint/2010/main" val="1428881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Collinearity Diagnostics</a:t>
            </a:r>
          </a:p>
        </p:txBody>
      </p:sp>
      <p:pic>
        <p:nvPicPr>
          <p:cNvPr id="5" name="Picture 4">
            <a:extLst>
              <a:ext uri="{FF2B5EF4-FFF2-40B4-BE49-F238E27FC236}">
                <a16:creationId xmlns:a16="http://schemas.microsoft.com/office/drawing/2014/main" id="{371D8D21-AE20-4E00-B0FA-E9236C795252}"/>
              </a:ext>
            </a:extLst>
          </p:cNvPr>
          <p:cNvPicPr>
            <a:picLocks noChangeAspect="1"/>
          </p:cNvPicPr>
          <p:nvPr/>
        </p:nvPicPr>
        <p:blipFill>
          <a:blip r:embed="rId2"/>
          <a:stretch>
            <a:fillRect/>
          </a:stretch>
        </p:blipFill>
        <p:spPr>
          <a:xfrm>
            <a:off x="950068" y="1906620"/>
            <a:ext cx="10291864" cy="4027251"/>
          </a:xfrm>
          <a:prstGeom prst="rect">
            <a:avLst/>
          </a:prstGeom>
        </p:spPr>
      </p:pic>
    </p:spTree>
    <p:extLst>
      <p:ext uri="{BB962C8B-B14F-4D97-AF65-F5344CB8AC3E}">
        <p14:creationId xmlns:p14="http://schemas.microsoft.com/office/powerpoint/2010/main" val="816414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Collinearity Diagnostics</a:t>
            </a:r>
          </a:p>
        </p:txBody>
      </p:sp>
      <p:pic>
        <p:nvPicPr>
          <p:cNvPr id="3" name="Picture 2">
            <a:extLst>
              <a:ext uri="{FF2B5EF4-FFF2-40B4-BE49-F238E27FC236}">
                <a16:creationId xmlns:a16="http://schemas.microsoft.com/office/drawing/2014/main" id="{82F6BD82-B94F-497F-AC56-983C88860843}"/>
              </a:ext>
            </a:extLst>
          </p:cNvPr>
          <p:cNvPicPr>
            <a:picLocks noChangeAspect="1"/>
          </p:cNvPicPr>
          <p:nvPr/>
        </p:nvPicPr>
        <p:blipFill>
          <a:blip r:embed="rId2"/>
          <a:stretch>
            <a:fillRect/>
          </a:stretch>
        </p:blipFill>
        <p:spPr>
          <a:xfrm>
            <a:off x="3427480" y="1443595"/>
            <a:ext cx="4967490" cy="3776257"/>
          </a:xfrm>
          <a:prstGeom prst="rect">
            <a:avLst/>
          </a:prstGeom>
        </p:spPr>
      </p:pic>
      <p:pic>
        <p:nvPicPr>
          <p:cNvPr id="7" name="Picture 6">
            <a:extLst>
              <a:ext uri="{FF2B5EF4-FFF2-40B4-BE49-F238E27FC236}">
                <a16:creationId xmlns:a16="http://schemas.microsoft.com/office/drawing/2014/main" id="{7B94E865-DEDF-4AAE-995B-7F67CB32FD38}"/>
              </a:ext>
            </a:extLst>
          </p:cNvPr>
          <p:cNvPicPr>
            <a:picLocks noChangeAspect="1"/>
          </p:cNvPicPr>
          <p:nvPr/>
        </p:nvPicPr>
        <p:blipFill>
          <a:blip r:embed="rId3"/>
          <a:stretch>
            <a:fillRect/>
          </a:stretch>
        </p:blipFill>
        <p:spPr>
          <a:xfrm>
            <a:off x="1665051" y="5307400"/>
            <a:ext cx="9688749" cy="1819275"/>
          </a:xfrm>
          <a:prstGeom prst="rect">
            <a:avLst/>
          </a:prstGeom>
        </p:spPr>
      </p:pic>
    </p:spTree>
    <p:extLst>
      <p:ext uri="{BB962C8B-B14F-4D97-AF65-F5344CB8AC3E}">
        <p14:creationId xmlns:p14="http://schemas.microsoft.com/office/powerpoint/2010/main" val="1032695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Collinearity Diagnostics</a:t>
            </a:r>
          </a:p>
        </p:txBody>
      </p:sp>
      <p:sp>
        <p:nvSpPr>
          <p:cNvPr id="6" name="TextBox 5">
            <a:extLst>
              <a:ext uri="{FF2B5EF4-FFF2-40B4-BE49-F238E27FC236}">
                <a16:creationId xmlns:a16="http://schemas.microsoft.com/office/drawing/2014/main" id="{8F805B75-74DC-47F8-80DA-386C63F4F3CA}"/>
              </a:ext>
            </a:extLst>
          </p:cNvPr>
          <p:cNvSpPr txBox="1"/>
          <p:nvPr/>
        </p:nvSpPr>
        <p:spPr>
          <a:xfrm>
            <a:off x="926558" y="1856293"/>
            <a:ext cx="9637679" cy="3544368"/>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Why is this a problem? Two reasons exist.</a:t>
            </a: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en-US" sz="1800" dirty="0">
                <a:effectLst/>
                <a:latin typeface="Calibri" panose="020F0502020204030204" pitchFamily="34" charset="0"/>
                <a:ea typeface="Calibri" panose="020F0502020204030204" pitchFamily="34" charset="0"/>
                <a:cs typeface="Times New Roman" panose="02020603050405020304" pitchFamily="18" charset="0"/>
              </a:rPr>
              <a:t>Neither might appear to be significant when both are in the model. However, either might be significant when only one is in the model. Thus, collinearity can hide significant effects. (The reverse can be true as well. Collinearity can increase the apparent statistical significance of effects.</a:t>
            </a:r>
          </a:p>
          <a:p>
            <a:pPr marL="342900" lvl="0" indent="-342900">
              <a:lnSpc>
                <a:spcPct val="107000"/>
              </a:lnSpc>
              <a:spcAft>
                <a:spcPts val="0"/>
              </a:spcAft>
              <a:buFont typeface="+mj-lt"/>
              <a:buAutoNum type="arabicPeriod"/>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pPr>
            <a:r>
              <a:rPr lang="en-US" sz="1800" dirty="0">
                <a:effectLst/>
                <a:latin typeface="Calibri" panose="020F0502020204030204" pitchFamily="34" charset="0"/>
                <a:ea typeface="Calibri" panose="020F0502020204030204" pitchFamily="34" charset="0"/>
                <a:cs typeface="Times New Roman" panose="02020603050405020304" pitchFamily="18" charset="0"/>
              </a:rPr>
              <a:t>Collinearity tends to increases the variance of parameter estimates and consequently increase the prediction error. </a:t>
            </a:r>
            <a:r>
              <a:rPr lang="en-US"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In the presence of collinearity, parameter estimates are not BLUE</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91824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Collinearity Diagnostics</a:t>
            </a:r>
          </a:p>
        </p:txBody>
      </p:sp>
      <p:sp>
        <p:nvSpPr>
          <p:cNvPr id="5" name="TextBox 4">
            <a:extLst>
              <a:ext uri="{FF2B5EF4-FFF2-40B4-BE49-F238E27FC236}">
                <a16:creationId xmlns:a16="http://schemas.microsoft.com/office/drawing/2014/main" id="{B33B0381-30BC-4BB5-8F98-853F4C414C9E}"/>
              </a:ext>
            </a:extLst>
          </p:cNvPr>
          <p:cNvSpPr txBox="1"/>
          <p:nvPr/>
        </p:nvSpPr>
        <p:spPr>
          <a:xfrm>
            <a:off x="1964987" y="2563094"/>
            <a:ext cx="7918720" cy="2062552"/>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When collinearity is a problem, the estimates of coefficients are unstable. This means that they have a large variance. Consequently, the true relationships between Y and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Xs</a:t>
            </a:r>
            <a:r>
              <a:rPr lang="en-US" sz="1800" dirty="0">
                <a:effectLst/>
                <a:latin typeface="Calibri" panose="020F0502020204030204" pitchFamily="34" charset="0"/>
                <a:ea typeface="Calibri" panose="020F0502020204030204" pitchFamily="34" charset="0"/>
                <a:cs typeface="Times New Roman" panose="02020603050405020304" pitchFamily="18" charset="0"/>
              </a:rPr>
              <a:t> might quite different from that suggested by the magnitude and sign of the coefficients.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Collinearity is not a violation of assumption of linear regression.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9048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Collinearity Diagnostics</a:t>
            </a:r>
          </a:p>
        </p:txBody>
      </p:sp>
      <p:pic>
        <p:nvPicPr>
          <p:cNvPr id="7" name="Picture 6">
            <a:extLst>
              <a:ext uri="{FF2B5EF4-FFF2-40B4-BE49-F238E27FC236}">
                <a16:creationId xmlns:a16="http://schemas.microsoft.com/office/drawing/2014/main" id="{93698646-5F53-4E9E-850F-5017DF502928}"/>
              </a:ext>
            </a:extLst>
          </p:cNvPr>
          <p:cNvPicPr>
            <a:picLocks noChangeAspect="1"/>
          </p:cNvPicPr>
          <p:nvPr/>
        </p:nvPicPr>
        <p:blipFill>
          <a:blip r:embed="rId2"/>
          <a:stretch>
            <a:fillRect/>
          </a:stretch>
        </p:blipFill>
        <p:spPr>
          <a:xfrm>
            <a:off x="992728" y="1865987"/>
            <a:ext cx="8958668" cy="2997843"/>
          </a:xfrm>
          <a:prstGeom prst="rect">
            <a:avLst/>
          </a:prstGeom>
        </p:spPr>
      </p:pic>
    </p:spTree>
    <p:extLst>
      <p:ext uri="{BB962C8B-B14F-4D97-AF65-F5344CB8AC3E}">
        <p14:creationId xmlns:p14="http://schemas.microsoft.com/office/powerpoint/2010/main" val="1225810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Collinearity Diagnostics</a:t>
            </a:r>
          </a:p>
        </p:txBody>
      </p:sp>
      <p:pic>
        <p:nvPicPr>
          <p:cNvPr id="6" name="Picture 5">
            <a:extLst>
              <a:ext uri="{FF2B5EF4-FFF2-40B4-BE49-F238E27FC236}">
                <a16:creationId xmlns:a16="http://schemas.microsoft.com/office/drawing/2014/main" id="{4AAD51E4-208F-4071-B4CC-F482D5E68F88}"/>
              </a:ext>
            </a:extLst>
          </p:cNvPr>
          <p:cNvPicPr>
            <a:picLocks noChangeAspect="1"/>
          </p:cNvPicPr>
          <p:nvPr/>
        </p:nvPicPr>
        <p:blipFill>
          <a:blip r:embed="rId2"/>
          <a:stretch>
            <a:fillRect/>
          </a:stretch>
        </p:blipFill>
        <p:spPr>
          <a:xfrm>
            <a:off x="989688" y="1760503"/>
            <a:ext cx="4788542" cy="2607215"/>
          </a:xfrm>
          <a:prstGeom prst="rect">
            <a:avLst/>
          </a:prstGeom>
        </p:spPr>
      </p:pic>
      <p:sp>
        <p:nvSpPr>
          <p:cNvPr id="9" name="TextBox 8">
            <a:extLst>
              <a:ext uri="{FF2B5EF4-FFF2-40B4-BE49-F238E27FC236}">
                <a16:creationId xmlns:a16="http://schemas.microsoft.com/office/drawing/2014/main" id="{5619E266-C7AA-45C8-BA01-160DDF673D1A}"/>
              </a:ext>
            </a:extLst>
          </p:cNvPr>
          <p:cNvSpPr txBox="1"/>
          <p:nvPr/>
        </p:nvSpPr>
        <p:spPr>
          <a:xfrm>
            <a:off x="6096000" y="2446093"/>
            <a:ext cx="6094378" cy="1070871"/>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You can calculate VIF for each term in the model.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Marquardt (1990) suggests that VIF &gt; 10 indicates the presence of strong collinearity in the model.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631D8D6C-BF92-42D7-89D0-01BBC15DFA3A}"/>
              </a:ext>
            </a:extLst>
          </p:cNvPr>
          <p:cNvPicPr>
            <a:picLocks noChangeAspect="1"/>
          </p:cNvPicPr>
          <p:nvPr/>
        </p:nvPicPr>
        <p:blipFill>
          <a:blip r:embed="rId3"/>
          <a:stretch>
            <a:fillRect/>
          </a:stretch>
        </p:blipFill>
        <p:spPr>
          <a:xfrm>
            <a:off x="989687" y="4902740"/>
            <a:ext cx="10693231" cy="1590135"/>
          </a:xfrm>
          <a:prstGeom prst="rect">
            <a:avLst/>
          </a:prstGeom>
        </p:spPr>
      </p:pic>
    </p:spTree>
    <p:extLst>
      <p:ext uri="{BB962C8B-B14F-4D97-AF65-F5344CB8AC3E}">
        <p14:creationId xmlns:p14="http://schemas.microsoft.com/office/powerpoint/2010/main" val="496466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Collinearity Diagnostics</a:t>
            </a:r>
          </a:p>
        </p:txBody>
      </p:sp>
      <p:pic>
        <p:nvPicPr>
          <p:cNvPr id="3" name="Picture 2">
            <a:extLst>
              <a:ext uri="{FF2B5EF4-FFF2-40B4-BE49-F238E27FC236}">
                <a16:creationId xmlns:a16="http://schemas.microsoft.com/office/drawing/2014/main" id="{551A7711-1AE7-446F-9439-A193B6652B3B}"/>
              </a:ext>
            </a:extLst>
          </p:cNvPr>
          <p:cNvPicPr>
            <a:picLocks noChangeAspect="1"/>
          </p:cNvPicPr>
          <p:nvPr/>
        </p:nvPicPr>
        <p:blipFill>
          <a:blip r:embed="rId2"/>
          <a:stretch>
            <a:fillRect/>
          </a:stretch>
        </p:blipFill>
        <p:spPr>
          <a:xfrm>
            <a:off x="924127" y="2091447"/>
            <a:ext cx="9717932" cy="3472775"/>
          </a:xfrm>
          <a:prstGeom prst="rect">
            <a:avLst/>
          </a:prstGeom>
        </p:spPr>
      </p:pic>
    </p:spTree>
    <p:extLst>
      <p:ext uri="{BB962C8B-B14F-4D97-AF65-F5344CB8AC3E}">
        <p14:creationId xmlns:p14="http://schemas.microsoft.com/office/powerpoint/2010/main" val="3813408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Rectangle 2"/>
          <p:cNvSpPr/>
          <p:nvPr/>
        </p:nvSpPr>
        <p:spPr>
          <a:xfrm>
            <a:off x="8460231" y="2489663"/>
            <a:ext cx="184730"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dirty="0">
                <a:ln w="0"/>
                <a:solidFill>
                  <a:srgbClr val="FFFF00"/>
                </a:solidFill>
                <a:effectLst>
                  <a:outerShdw blurRad="38100" dist="19050" dir="2700000" algn="tl" rotWithShape="0">
                    <a:prstClr val="black">
                      <a:alpha val="40000"/>
                    </a:prstClr>
                  </a:outerShdw>
                </a:effectLst>
                <a:uLnTx/>
                <a:uFillTx/>
                <a:latin typeface="Calibri"/>
                <a:ea typeface="+mn-ea"/>
                <a:cs typeface="+mn-cs"/>
              </a:rPr>
              <a:t>DEMO</a:t>
            </a:r>
          </a:p>
        </p:txBody>
      </p:sp>
    </p:spTree>
    <p:extLst>
      <p:ext uri="{BB962C8B-B14F-4D97-AF65-F5344CB8AC3E}">
        <p14:creationId xmlns:p14="http://schemas.microsoft.com/office/powerpoint/2010/main" val="1142766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Q&amp;A</a:t>
            </a:r>
          </a:p>
        </p:txBody>
      </p:sp>
    </p:spTree>
    <p:extLst>
      <p:ext uri="{BB962C8B-B14F-4D97-AF65-F5344CB8AC3E}">
        <p14:creationId xmlns:p14="http://schemas.microsoft.com/office/powerpoint/2010/main" val="3295833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1652</TotalTime>
  <Words>199</Words>
  <Application>Microsoft Office PowerPoint</Application>
  <PresentationFormat>Widescreen</PresentationFormat>
  <Paragraphs>22</Paragraphs>
  <Slides>10</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10</vt:i4>
      </vt:variant>
    </vt:vector>
  </HeadingPairs>
  <TitlesOfParts>
    <vt:vector size="15" baseType="lpstr">
      <vt:lpstr>Arial</vt:lpstr>
      <vt:lpstr>Calibri</vt:lpstr>
      <vt:lpstr>Calibri Light</vt:lpstr>
      <vt:lpstr>Office Theme</vt:lpstr>
      <vt:lpstr>1_Office Theme</vt:lpstr>
      <vt:lpstr>Collinearity Diagnostics</vt:lpstr>
      <vt:lpstr>Collinearity Diagnostics</vt:lpstr>
      <vt:lpstr>Collinearity Diagnostics</vt:lpstr>
      <vt:lpstr>Collinearity Diagnostics</vt:lpstr>
      <vt:lpstr>Collinearity Diagnostics</vt:lpstr>
      <vt:lpstr>Collinearity Diagnostics</vt:lpstr>
      <vt:lpstr>Collinearity Diagnostics</vt:lpstr>
      <vt:lpstr>Collinearity Diagnostics</vt:lpstr>
      <vt:lpstr>PowerPoint Presentation</vt:lpstr>
      <vt:lpstr>Q&amp;A</vt:lpstr>
    </vt:vector>
  </TitlesOfParts>
  <Company>SAS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by using SAS (Demo)</dc:title>
  <dc:creator>Urvish Shah</dc:creator>
  <cp:lastModifiedBy>Urvish Shah</cp:lastModifiedBy>
  <cp:revision>531</cp:revision>
  <dcterms:created xsi:type="dcterms:W3CDTF">2015-11-18T16:05:43Z</dcterms:created>
  <dcterms:modified xsi:type="dcterms:W3CDTF">2020-08-06T05:22:15Z</dcterms:modified>
</cp:coreProperties>
</file>