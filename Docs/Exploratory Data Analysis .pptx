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1"/>
  </p:notesMasterIdLst>
  <p:sldIdLst>
    <p:sldId id="256" r:id="rId2"/>
    <p:sldId id="257" r:id="rId3"/>
    <p:sldId id="321" r:id="rId4"/>
    <p:sldId id="322" r:id="rId5"/>
    <p:sldId id="323" r:id="rId6"/>
    <p:sldId id="324" r:id="rId7"/>
    <p:sldId id="325" r:id="rId8"/>
    <p:sldId id="326"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1499" autoAdjust="0"/>
  </p:normalViewPr>
  <p:slideViewPr>
    <p:cSldViewPr snapToGrid="0">
      <p:cViewPr varScale="1">
        <p:scale>
          <a:sx n="46" d="100"/>
          <a:sy n="46" d="100"/>
        </p:scale>
        <p:origin x="773" y="3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12/7/2015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a:t>
            </a:fld>
            <a:endParaRPr lang="en-US"/>
          </a:p>
        </p:txBody>
      </p:sp>
    </p:spTree>
    <p:extLst>
      <p:ext uri="{BB962C8B-B14F-4D97-AF65-F5344CB8AC3E}">
        <p14:creationId xmlns:p14="http://schemas.microsoft.com/office/powerpoint/2010/main" val="48894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a:t>
            </a:fld>
            <a:endParaRPr lang="en-US"/>
          </a:p>
        </p:txBody>
      </p:sp>
    </p:spTree>
    <p:extLst>
      <p:ext uri="{BB962C8B-B14F-4D97-AF65-F5344CB8AC3E}">
        <p14:creationId xmlns:p14="http://schemas.microsoft.com/office/powerpoint/2010/main" val="11558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a:t>
            </a:fld>
            <a:endParaRPr lang="en-US"/>
          </a:p>
        </p:txBody>
      </p:sp>
    </p:spTree>
    <p:extLst>
      <p:ext uri="{BB962C8B-B14F-4D97-AF65-F5344CB8AC3E}">
        <p14:creationId xmlns:p14="http://schemas.microsoft.com/office/powerpoint/2010/main" val="119780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5</a:t>
            </a:fld>
            <a:endParaRPr lang="en-US"/>
          </a:p>
        </p:txBody>
      </p:sp>
    </p:spTree>
    <p:extLst>
      <p:ext uri="{BB962C8B-B14F-4D97-AF65-F5344CB8AC3E}">
        <p14:creationId xmlns:p14="http://schemas.microsoft.com/office/powerpoint/2010/main" val="2241162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6</a:t>
            </a:fld>
            <a:endParaRPr lang="en-US"/>
          </a:p>
        </p:txBody>
      </p:sp>
    </p:spTree>
    <p:extLst>
      <p:ext uri="{BB962C8B-B14F-4D97-AF65-F5344CB8AC3E}">
        <p14:creationId xmlns:p14="http://schemas.microsoft.com/office/powerpoint/2010/main" val="3347785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7</a:t>
            </a:fld>
            <a:endParaRPr lang="en-US"/>
          </a:p>
        </p:txBody>
      </p:sp>
    </p:spTree>
    <p:extLst>
      <p:ext uri="{BB962C8B-B14F-4D97-AF65-F5344CB8AC3E}">
        <p14:creationId xmlns:p14="http://schemas.microsoft.com/office/powerpoint/2010/main" val="361932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8</a:t>
            </a:fld>
            <a:endParaRPr lang="en-US"/>
          </a:p>
        </p:txBody>
      </p:sp>
    </p:spTree>
    <p:extLst>
      <p:ext uri="{BB962C8B-B14F-4D97-AF65-F5344CB8AC3E}">
        <p14:creationId xmlns:p14="http://schemas.microsoft.com/office/powerpoint/2010/main" val="3317165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9</a:t>
            </a:fld>
            <a:endParaRPr lang="en-US"/>
          </a:p>
        </p:txBody>
      </p:sp>
    </p:spTree>
    <p:extLst>
      <p:ext uri="{BB962C8B-B14F-4D97-AF65-F5344CB8AC3E}">
        <p14:creationId xmlns:p14="http://schemas.microsoft.com/office/powerpoint/2010/main" val="2869761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D8468DF-067B-4708-BF4E-888660123DFC}" type="datetimeFigureOut">
              <a:rPr lang="en-US" smtClean="0"/>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8468DF-067B-4708-BF4E-888660123DFC}" type="datetimeFigureOut">
              <a:rPr lang="en-US" smtClean="0"/>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D8468DF-067B-4708-BF4E-888660123DFC}" type="datetimeFigureOut">
              <a:rPr lang="en-US" smtClean="0"/>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8468DF-067B-4708-BF4E-888660123DFC}" type="datetimeFigureOut">
              <a:rPr lang="en-US" smtClean="0"/>
              <a:t>12/7/2015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D8468DF-067B-4708-BF4E-888660123DFC}" type="datetimeFigureOut">
              <a:rPr lang="en-US" smtClean="0"/>
              <a:t>12/7/2015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12/7/2015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8468DF-067B-4708-BF4E-888660123DFC}" type="datetimeFigureOut">
              <a:rPr lang="en-US" smtClean="0"/>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8468DF-067B-4708-BF4E-888660123DFC}" type="datetimeFigureOut">
              <a:rPr lang="en-US" smtClean="0"/>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12/7/2015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7251" y="1105738"/>
            <a:ext cx="9144000" cy="2387600"/>
          </a:xfrm>
        </p:spPr>
        <p:txBody>
          <a:bodyPr/>
          <a:lstStyle/>
          <a:p>
            <a:r>
              <a:rPr lang="en-US" b="1" dirty="0"/>
              <a:t>Exploratory Data Analysis </a:t>
            </a:r>
            <a:endParaRPr lang="en-US" dirty="0"/>
          </a:p>
        </p:txBody>
      </p:sp>
    </p:spTree>
    <p:extLst>
      <p:ext uri="{BB962C8B-B14F-4D97-AF65-F5344CB8AC3E}">
        <p14:creationId xmlns:p14="http://schemas.microsoft.com/office/powerpoint/2010/main" val="15967486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Data Exploration by using Scatter Plots</a:t>
            </a:r>
          </a:p>
        </p:txBody>
      </p:sp>
      <p:sp>
        <p:nvSpPr>
          <p:cNvPr id="5" name="Content Placeholder 4"/>
          <p:cNvSpPr>
            <a:spLocks noGrp="1"/>
          </p:cNvSpPr>
          <p:nvPr>
            <p:ph idx="1"/>
          </p:nvPr>
        </p:nvSpPr>
        <p:spPr>
          <a:xfrm>
            <a:off x="838200" y="1562792"/>
            <a:ext cx="10515600" cy="5295207"/>
          </a:xfrm>
        </p:spPr>
        <p:txBody>
          <a:bodyPr/>
          <a:lstStyle/>
          <a:p>
            <a:r>
              <a:rPr lang="en-US" dirty="0" smtClean="0"/>
              <a:t>Before you start the modelling for two continuous variables, you need to decide the pattern for these two variables. This pattern is called as “</a:t>
            </a:r>
            <a:r>
              <a:rPr lang="en-US" b="1" i="1" dirty="0" smtClean="0"/>
              <a:t>Functional Form</a:t>
            </a:r>
            <a:r>
              <a:rPr lang="en-US" dirty="0" smtClean="0"/>
              <a:t>” of relation between two continuous variables.</a:t>
            </a:r>
          </a:p>
          <a:p>
            <a:r>
              <a:rPr lang="en-US" dirty="0" smtClean="0"/>
              <a:t>We need to check whether two variables are linear or not. </a:t>
            </a:r>
            <a:endParaRPr lang="en-US" dirty="0"/>
          </a:p>
          <a:p>
            <a:r>
              <a:rPr lang="en-US" dirty="0" smtClean="0"/>
              <a:t>Check the relationships between two variables.</a:t>
            </a:r>
          </a:p>
          <a:p>
            <a:r>
              <a:rPr lang="en-US" dirty="0" smtClean="0"/>
              <a:t>We can achieve the above tasks either by using scatter plots or by using correlation statistics between two variables. </a:t>
            </a:r>
          </a:p>
          <a:p>
            <a:r>
              <a:rPr lang="en-US" dirty="0" smtClean="0"/>
              <a:t>We already seen the scatter plot in picturing the distribution.</a:t>
            </a:r>
          </a:p>
          <a:p>
            <a:r>
              <a:rPr lang="en-US" dirty="0" smtClean="0"/>
              <a:t>Correlation measures the </a:t>
            </a:r>
            <a:r>
              <a:rPr lang="en-US" i="1" dirty="0" smtClean="0"/>
              <a:t>degree of linearity between two continuous variables. </a:t>
            </a:r>
          </a:p>
          <a:p>
            <a:endParaRPr lang="en-US" i="1" dirty="0" smtClean="0"/>
          </a:p>
          <a:p>
            <a:pPr marL="0" indent="0">
              <a:buNone/>
            </a:pPr>
            <a:endParaRPr lang="en-US" i="1" dirty="0"/>
          </a:p>
        </p:txBody>
      </p:sp>
    </p:spTree>
    <p:extLst>
      <p:ext uri="{BB962C8B-B14F-4D97-AF65-F5344CB8AC3E}">
        <p14:creationId xmlns:p14="http://schemas.microsoft.com/office/powerpoint/2010/main" val="8164141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Data Exploration by using Scatter Plots</a:t>
            </a:r>
          </a:p>
        </p:txBody>
      </p:sp>
      <p:sp>
        <p:nvSpPr>
          <p:cNvPr id="5" name="Content Placeholder 4"/>
          <p:cNvSpPr>
            <a:spLocks noGrp="1"/>
          </p:cNvSpPr>
          <p:nvPr>
            <p:ph idx="1"/>
          </p:nvPr>
        </p:nvSpPr>
        <p:spPr>
          <a:xfrm>
            <a:off x="838200" y="1562792"/>
            <a:ext cx="10515600" cy="5295207"/>
          </a:xfrm>
        </p:spPr>
        <p:txBody>
          <a:bodyPr/>
          <a:lstStyle/>
          <a:p>
            <a:r>
              <a:rPr lang="en-US" dirty="0" smtClean="0"/>
              <a:t>Scatter Plots are useful to accomplish the following:</a:t>
            </a:r>
          </a:p>
          <a:p>
            <a:pPr marL="0" indent="0">
              <a:buNone/>
            </a:pPr>
            <a:r>
              <a:rPr lang="en-US" i="1" dirty="0" smtClean="0"/>
              <a:t>         - </a:t>
            </a:r>
            <a:r>
              <a:rPr lang="en-US" dirty="0" smtClean="0"/>
              <a:t>explore the relationship between two variables</a:t>
            </a:r>
          </a:p>
          <a:p>
            <a:pPr marL="0" indent="0">
              <a:buNone/>
            </a:pPr>
            <a:r>
              <a:rPr lang="en-US" i="1" dirty="0"/>
              <a:t> </a:t>
            </a:r>
            <a:r>
              <a:rPr lang="en-US" i="1" dirty="0" smtClean="0"/>
              <a:t>        - </a:t>
            </a:r>
            <a:r>
              <a:rPr lang="en-US" dirty="0" smtClean="0"/>
              <a:t>locate unusual observations</a:t>
            </a:r>
          </a:p>
          <a:p>
            <a:pPr marL="0" indent="0">
              <a:buNone/>
            </a:pPr>
            <a:r>
              <a:rPr lang="en-US" i="1" dirty="0"/>
              <a:t> </a:t>
            </a:r>
            <a:r>
              <a:rPr lang="en-US" i="1" dirty="0" smtClean="0"/>
              <a:t>        - </a:t>
            </a:r>
            <a:r>
              <a:rPr lang="en-US" dirty="0" smtClean="0"/>
              <a:t>identify the possible trend</a:t>
            </a:r>
          </a:p>
          <a:p>
            <a:pPr marL="0" indent="0">
              <a:buNone/>
            </a:pPr>
            <a:r>
              <a:rPr lang="en-US" i="1" dirty="0"/>
              <a:t> </a:t>
            </a:r>
            <a:r>
              <a:rPr lang="en-US" i="1" dirty="0" smtClean="0"/>
              <a:t>        - </a:t>
            </a:r>
            <a:r>
              <a:rPr lang="en-US" dirty="0" smtClean="0"/>
              <a:t>identify the basic range of X and Y</a:t>
            </a:r>
          </a:p>
          <a:p>
            <a:pPr marL="0" indent="0">
              <a:buNone/>
            </a:pPr>
            <a:r>
              <a:rPr lang="en-US" i="1" dirty="0" smtClean="0"/>
              <a:t>         - </a:t>
            </a:r>
            <a:r>
              <a:rPr lang="en-US" dirty="0" smtClean="0"/>
              <a:t>communicate the data analysis</a:t>
            </a:r>
          </a:p>
          <a:p>
            <a:pPr marL="0" indent="0">
              <a:buNone/>
            </a:pPr>
            <a:endParaRPr lang="en-US" i="1" dirty="0"/>
          </a:p>
          <a:p>
            <a:pPr marL="0" indent="0">
              <a:buNone/>
            </a:pPr>
            <a:r>
              <a:rPr lang="en-US" i="1" dirty="0" smtClean="0"/>
              <a:t>Through Scatter Plot, we can identify the series of possible trend between two continuous variables and based on that trends, we can use or transform the variable in our modelling work. </a:t>
            </a:r>
          </a:p>
          <a:p>
            <a:pPr marL="0" indent="0">
              <a:buNone/>
            </a:pPr>
            <a:endParaRPr lang="en-US" i="1" dirty="0"/>
          </a:p>
        </p:txBody>
      </p:sp>
    </p:spTree>
    <p:extLst>
      <p:ext uri="{BB962C8B-B14F-4D97-AF65-F5344CB8AC3E}">
        <p14:creationId xmlns:p14="http://schemas.microsoft.com/office/powerpoint/2010/main" val="1169971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Data Exploration by using Scatter Plots</a:t>
            </a:r>
          </a:p>
        </p:txBody>
      </p:sp>
      <p:pic>
        <p:nvPicPr>
          <p:cNvPr id="6" name="Content Placeholder 5"/>
          <p:cNvPicPr>
            <a:picLocks noGrp="1" noChangeAspect="1"/>
          </p:cNvPicPr>
          <p:nvPr>
            <p:ph idx="1"/>
          </p:nvPr>
        </p:nvPicPr>
        <p:blipFill>
          <a:blip r:embed="rId3"/>
          <a:stretch>
            <a:fillRect/>
          </a:stretch>
        </p:blipFill>
        <p:spPr>
          <a:xfrm>
            <a:off x="838199" y="1690688"/>
            <a:ext cx="10649989" cy="4976119"/>
          </a:xfrm>
          <a:prstGeom prst="rect">
            <a:avLst/>
          </a:prstGeom>
        </p:spPr>
      </p:pic>
    </p:spTree>
    <p:extLst>
      <p:ext uri="{BB962C8B-B14F-4D97-AF65-F5344CB8AC3E}">
        <p14:creationId xmlns:p14="http://schemas.microsoft.com/office/powerpoint/2010/main" val="15191315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smtClean="0"/>
              <a:t>Correlation Analysis</a:t>
            </a:r>
            <a:endParaRPr lang="en-US" dirty="0"/>
          </a:p>
        </p:txBody>
      </p:sp>
      <p:pic>
        <p:nvPicPr>
          <p:cNvPr id="3" name="Content Placeholder 2"/>
          <p:cNvPicPr>
            <a:picLocks noGrp="1" noChangeAspect="1"/>
          </p:cNvPicPr>
          <p:nvPr>
            <p:ph idx="1"/>
          </p:nvPr>
        </p:nvPicPr>
        <p:blipFill>
          <a:blip r:embed="rId3"/>
          <a:stretch>
            <a:fillRect/>
          </a:stretch>
        </p:blipFill>
        <p:spPr>
          <a:xfrm>
            <a:off x="980903" y="1878676"/>
            <a:ext cx="9975272" cy="4771506"/>
          </a:xfrm>
          <a:prstGeom prst="rect">
            <a:avLst/>
          </a:prstGeom>
        </p:spPr>
      </p:pic>
    </p:spTree>
    <p:extLst>
      <p:ext uri="{BB962C8B-B14F-4D97-AF65-F5344CB8AC3E}">
        <p14:creationId xmlns:p14="http://schemas.microsoft.com/office/powerpoint/2010/main" val="6410491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Correlation Analysis</a:t>
            </a:r>
            <a:endParaRPr lang="en-US" dirty="0"/>
          </a:p>
        </p:txBody>
      </p:sp>
      <p:sp>
        <p:nvSpPr>
          <p:cNvPr id="2" name="Content Placeholder 1"/>
          <p:cNvSpPr>
            <a:spLocks noGrp="1"/>
          </p:cNvSpPr>
          <p:nvPr>
            <p:ph idx="1"/>
          </p:nvPr>
        </p:nvSpPr>
        <p:spPr/>
        <p:txBody>
          <a:bodyPr/>
          <a:lstStyle/>
          <a:p>
            <a:r>
              <a:rPr lang="en-US" dirty="0" smtClean="0"/>
              <a:t>Correlation measures the degree of linear association between two variables. A common correlation statistics used for continuous variables is “Pearson Correlation” Its value are as follow:</a:t>
            </a:r>
          </a:p>
          <a:p>
            <a:pPr marL="0" indent="0">
              <a:buNone/>
            </a:pPr>
            <a:r>
              <a:rPr lang="en-US" dirty="0"/>
              <a:t> </a:t>
            </a:r>
            <a:r>
              <a:rPr lang="en-US" dirty="0" smtClean="0"/>
              <a:t>        - between -1 to 1</a:t>
            </a:r>
          </a:p>
          <a:p>
            <a:pPr marL="0" indent="0">
              <a:buNone/>
            </a:pPr>
            <a:r>
              <a:rPr lang="en-US" dirty="0"/>
              <a:t> </a:t>
            </a:r>
            <a:r>
              <a:rPr lang="en-US" dirty="0" smtClean="0"/>
              <a:t>        - closer to either extreme if there is high degree of linearity </a:t>
            </a:r>
          </a:p>
          <a:p>
            <a:pPr marL="0" indent="0">
              <a:buNone/>
            </a:pPr>
            <a:r>
              <a:rPr lang="en-US" dirty="0"/>
              <a:t> </a:t>
            </a:r>
            <a:r>
              <a:rPr lang="en-US" dirty="0" smtClean="0"/>
              <a:t>        - close to 0 if there is no linear association </a:t>
            </a:r>
          </a:p>
          <a:p>
            <a:pPr marL="0" indent="0">
              <a:buNone/>
            </a:pPr>
            <a:r>
              <a:rPr lang="en-US" dirty="0"/>
              <a:t> </a:t>
            </a:r>
            <a:r>
              <a:rPr lang="en-US" dirty="0" smtClean="0"/>
              <a:t>        - greater than 0 if there is positive linear association</a:t>
            </a:r>
          </a:p>
          <a:p>
            <a:pPr marL="0" indent="0">
              <a:buNone/>
            </a:pPr>
            <a:r>
              <a:rPr lang="en-US" dirty="0"/>
              <a:t> </a:t>
            </a:r>
            <a:r>
              <a:rPr lang="en-US" dirty="0" smtClean="0"/>
              <a:t>        - less than 0 if there is negative linear association </a:t>
            </a:r>
            <a:endParaRPr lang="en-US" dirty="0"/>
          </a:p>
        </p:txBody>
      </p:sp>
    </p:spTree>
    <p:extLst>
      <p:ext uri="{BB962C8B-B14F-4D97-AF65-F5344CB8AC3E}">
        <p14:creationId xmlns:p14="http://schemas.microsoft.com/office/powerpoint/2010/main" val="33173069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Correlation Analysis</a:t>
            </a:r>
            <a:endParaRPr lang="en-US" dirty="0"/>
          </a:p>
        </p:txBody>
      </p:sp>
      <p:sp>
        <p:nvSpPr>
          <p:cNvPr id="5" name="Content Placeholder 4"/>
          <p:cNvSpPr>
            <a:spLocks noGrp="1"/>
          </p:cNvSpPr>
          <p:nvPr>
            <p:ph idx="1"/>
          </p:nvPr>
        </p:nvSpPr>
        <p:spPr>
          <a:xfrm>
            <a:off x="838200" y="1825624"/>
            <a:ext cx="10515600" cy="4874433"/>
          </a:xfrm>
        </p:spPr>
        <p:txBody>
          <a:bodyPr>
            <a:normAutofit/>
          </a:bodyPr>
          <a:lstStyle/>
          <a:p>
            <a:pPr marL="0" indent="0">
              <a:buNone/>
            </a:pPr>
            <a:r>
              <a:rPr lang="en-US" sz="2400" dirty="0" smtClean="0"/>
              <a:t>                                                                  The null hypothesis for a test of correlation </a:t>
            </a:r>
          </a:p>
          <a:p>
            <a:pPr marL="0" indent="0">
              <a:buNone/>
            </a:pPr>
            <a:r>
              <a:rPr lang="en-US" sz="2400" dirty="0"/>
              <a:t> </a:t>
            </a:r>
            <a:r>
              <a:rPr lang="en-US" sz="2400" dirty="0" smtClean="0"/>
              <a:t>                                                                  coefficient is </a:t>
            </a:r>
            <a:r>
              <a:rPr lang="en-US" sz="2400" i="1" dirty="0" smtClean="0"/>
              <a:t>p=</a:t>
            </a:r>
            <a:r>
              <a:rPr lang="en-US" sz="2400" dirty="0" smtClean="0"/>
              <a:t>0. Rejecting the null </a:t>
            </a:r>
          </a:p>
          <a:p>
            <a:pPr marL="0" indent="0">
              <a:buNone/>
            </a:pPr>
            <a:r>
              <a:rPr lang="en-US" sz="2400" dirty="0"/>
              <a:t> </a:t>
            </a:r>
            <a:r>
              <a:rPr lang="en-US" sz="2400" dirty="0" smtClean="0"/>
              <a:t>                                                                  hypothesis only means that you can confident </a:t>
            </a:r>
          </a:p>
          <a:p>
            <a:pPr marL="0" indent="0">
              <a:buNone/>
            </a:pPr>
            <a:r>
              <a:rPr lang="en-US" sz="2400" dirty="0"/>
              <a:t> </a:t>
            </a:r>
            <a:r>
              <a:rPr lang="en-US" sz="2400" dirty="0" smtClean="0"/>
              <a:t>                                                                  that true population correlation is not 0                                                                   </a:t>
            </a:r>
          </a:p>
          <a:p>
            <a:pPr marL="0" indent="0">
              <a:buNone/>
            </a:pPr>
            <a:r>
              <a:rPr lang="en-US" sz="2400" dirty="0"/>
              <a:t> </a:t>
            </a:r>
            <a:r>
              <a:rPr lang="en-US" sz="2400" dirty="0" smtClean="0"/>
              <a:t>                                                                  Small </a:t>
            </a:r>
            <a:r>
              <a:rPr lang="en-US" sz="2400" i="1" dirty="0" smtClean="0"/>
              <a:t>p-</a:t>
            </a:r>
            <a:r>
              <a:rPr lang="en-US" sz="2400" dirty="0" smtClean="0"/>
              <a:t>values can occur because of very large</a:t>
            </a:r>
          </a:p>
          <a:p>
            <a:pPr marL="0" indent="0">
              <a:buNone/>
            </a:pPr>
            <a:r>
              <a:rPr lang="en-US" sz="2400" dirty="0"/>
              <a:t> </a:t>
            </a:r>
            <a:r>
              <a:rPr lang="en-US" sz="2400" dirty="0" smtClean="0"/>
              <a:t>                                                                  sizes. </a:t>
            </a:r>
          </a:p>
          <a:p>
            <a:pPr marL="0" indent="0">
              <a:buNone/>
            </a:pPr>
            <a:endParaRPr lang="en-US" dirty="0" smtClean="0"/>
          </a:p>
          <a:p>
            <a:pPr marL="0" indent="0">
              <a:buNone/>
            </a:pPr>
            <a:r>
              <a:rPr lang="en-US" i="1" dirty="0" smtClean="0"/>
              <a:t>Even correlation coefficient of 0.01 can be statistically significant with large sample sizes. Therefore, it is important to look at the value of r itself to see whether it is meaningfully large or not… </a:t>
            </a:r>
            <a:r>
              <a:rPr lang="en-US" dirty="0" smtClean="0"/>
              <a:t>                                            </a:t>
            </a:r>
          </a:p>
        </p:txBody>
      </p:sp>
      <p:pic>
        <p:nvPicPr>
          <p:cNvPr id="7" name="Content Placeholder 2"/>
          <p:cNvPicPr>
            <a:picLocks noChangeAspect="1"/>
          </p:cNvPicPr>
          <p:nvPr/>
        </p:nvPicPr>
        <p:blipFill>
          <a:blip r:embed="rId3"/>
          <a:stretch>
            <a:fillRect/>
          </a:stretch>
        </p:blipFill>
        <p:spPr>
          <a:xfrm>
            <a:off x="838200" y="1825625"/>
            <a:ext cx="4615988" cy="2696499"/>
          </a:xfrm>
          <a:prstGeom prst="rect">
            <a:avLst/>
          </a:prstGeom>
        </p:spPr>
      </p:pic>
    </p:spTree>
    <p:extLst>
      <p:ext uri="{BB962C8B-B14F-4D97-AF65-F5344CB8AC3E}">
        <p14:creationId xmlns:p14="http://schemas.microsoft.com/office/powerpoint/2010/main" val="20653381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Correlation Analysis</a:t>
            </a:r>
            <a:endParaRPr lang="en-US" dirty="0"/>
          </a:p>
        </p:txBody>
      </p:sp>
      <p:sp>
        <p:nvSpPr>
          <p:cNvPr id="5" name="Content Placeholder 4"/>
          <p:cNvSpPr>
            <a:spLocks noGrp="1"/>
          </p:cNvSpPr>
          <p:nvPr>
            <p:ph idx="1"/>
          </p:nvPr>
        </p:nvSpPr>
        <p:spPr>
          <a:xfrm>
            <a:off x="838200" y="1825624"/>
            <a:ext cx="10515600" cy="4874433"/>
          </a:xfrm>
        </p:spPr>
        <p:txBody>
          <a:bodyPr>
            <a:normAutofit/>
          </a:bodyPr>
          <a:lstStyle/>
          <a:p>
            <a:r>
              <a:rPr lang="en-US" dirty="0" smtClean="0"/>
              <a:t>Common errors can be made while interpreting the correlation between the two variables. </a:t>
            </a:r>
          </a:p>
          <a:p>
            <a:endParaRPr lang="en-US" sz="2400" dirty="0"/>
          </a:p>
          <a:p>
            <a:r>
              <a:rPr lang="en-US" dirty="0" smtClean="0"/>
              <a:t>One of the example is to consider the correlation as </a:t>
            </a:r>
            <a:r>
              <a:rPr lang="en-US" i="1" dirty="0" smtClean="0"/>
              <a:t>“cause and effect relationship”</a:t>
            </a:r>
            <a:endParaRPr lang="en-US" dirty="0" smtClean="0"/>
          </a:p>
          <a:p>
            <a:endParaRPr lang="en-US" sz="2400" dirty="0"/>
          </a:p>
          <a:p>
            <a:r>
              <a:rPr lang="en-US" dirty="0" smtClean="0"/>
              <a:t>A strong correlation between two variables does not mean the change in one variable affect the other variable to change.</a:t>
            </a:r>
          </a:p>
          <a:p>
            <a:endParaRPr lang="en-US" sz="2400" dirty="0"/>
          </a:p>
          <a:p>
            <a:r>
              <a:rPr lang="en-US" b="1" i="1" dirty="0" smtClean="0"/>
              <a:t>“Correlation does not imply causation”</a:t>
            </a:r>
            <a:r>
              <a:rPr lang="en-US" sz="2400" dirty="0" smtClean="0"/>
              <a:t>                                                       </a:t>
            </a:r>
            <a:endParaRPr lang="en-US" dirty="0" smtClean="0"/>
          </a:p>
        </p:txBody>
      </p:sp>
    </p:spTree>
    <p:extLst>
      <p:ext uri="{BB962C8B-B14F-4D97-AF65-F5344CB8AC3E}">
        <p14:creationId xmlns:p14="http://schemas.microsoft.com/office/powerpoint/2010/main" val="4376862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96543" y="2343554"/>
            <a:ext cx="10515600" cy="1325563"/>
          </a:xfrm>
        </p:spPr>
        <p:txBody>
          <a:bodyPr>
            <a:noAutofit/>
          </a:bodyPr>
          <a:lstStyle/>
          <a:p>
            <a:r>
              <a:rPr lang="en-US" sz="9600" b="1" u="sng" dirty="0" smtClean="0">
                <a:solidFill>
                  <a:schemeClr val="accent1"/>
                </a:solidFill>
              </a:rPr>
              <a:t>DEMO</a:t>
            </a:r>
            <a:endParaRPr lang="en-US" sz="9600" b="1" u="sng" dirty="0">
              <a:solidFill>
                <a:schemeClr val="accent1"/>
              </a:solidFill>
            </a:endParaRPr>
          </a:p>
        </p:txBody>
      </p:sp>
    </p:spTree>
    <p:extLst>
      <p:ext uri="{BB962C8B-B14F-4D97-AF65-F5344CB8AC3E}">
        <p14:creationId xmlns:p14="http://schemas.microsoft.com/office/powerpoint/2010/main" val="19471098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TotalTime>
  <Words>437</Words>
  <Application>Microsoft Office PowerPoint</Application>
  <PresentationFormat>Widescreen</PresentationFormat>
  <Paragraphs>52</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Exploratory Data Analysis </vt:lpstr>
      <vt:lpstr>Data Exploration by using Scatter Plots</vt:lpstr>
      <vt:lpstr>Data Exploration by using Scatter Plots</vt:lpstr>
      <vt:lpstr>Data Exploration by using Scatter Plots</vt:lpstr>
      <vt:lpstr>Correlation Analysis</vt:lpstr>
      <vt:lpstr>Correlation Analysis</vt:lpstr>
      <vt:lpstr>Correlation Analysis</vt:lpstr>
      <vt:lpstr>Correlation Analysis</vt:lpstr>
      <vt:lpstr>DEMO</vt:lpstr>
    </vt:vector>
  </TitlesOfParts>
  <Company>SAS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796</cp:revision>
  <dcterms:created xsi:type="dcterms:W3CDTF">2015-11-18T16:05:43Z</dcterms:created>
  <dcterms:modified xsi:type="dcterms:W3CDTF">2015-12-07T07:01:11Z</dcterms:modified>
</cp:coreProperties>
</file>