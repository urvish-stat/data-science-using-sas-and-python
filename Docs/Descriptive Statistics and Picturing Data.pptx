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0" r:id="rId2"/>
  </p:sldMasterIdLst>
  <p:notesMasterIdLst>
    <p:notesMasterId r:id="rId36"/>
  </p:notesMasterIdLst>
  <p:sldIdLst>
    <p:sldId id="297" r:id="rId3"/>
    <p:sldId id="298" r:id="rId4"/>
    <p:sldId id="257" r:id="rId5"/>
    <p:sldId id="258" r:id="rId6"/>
    <p:sldId id="259" r:id="rId7"/>
    <p:sldId id="262" r:id="rId8"/>
    <p:sldId id="263" r:id="rId9"/>
    <p:sldId id="264" r:id="rId10"/>
    <p:sldId id="265" r:id="rId11"/>
    <p:sldId id="266" r:id="rId12"/>
    <p:sldId id="273" r:id="rId13"/>
    <p:sldId id="274" r:id="rId14"/>
    <p:sldId id="275" r:id="rId15"/>
    <p:sldId id="276" r:id="rId16"/>
    <p:sldId id="277" r:id="rId17"/>
    <p:sldId id="278" r:id="rId18"/>
    <p:sldId id="279" r:id="rId19"/>
    <p:sldId id="267" r:id="rId20"/>
    <p:sldId id="294" r:id="rId21"/>
    <p:sldId id="281" r:id="rId22"/>
    <p:sldId id="282" r:id="rId23"/>
    <p:sldId id="283" r:id="rId24"/>
    <p:sldId id="284" r:id="rId25"/>
    <p:sldId id="287" r:id="rId26"/>
    <p:sldId id="299" r:id="rId27"/>
    <p:sldId id="285" r:id="rId28"/>
    <p:sldId id="295" r:id="rId29"/>
    <p:sldId id="288" r:id="rId30"/>
    <p:sldId id="289" r:id="rId31"/>
    <p:sldId id="290" r:id="rId32"/>
    <p:sldId id="291" r:id="rId33"/>
    <p:sldId id="296" r:id="rId34"/>
    <p:sldId id="27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0" autoAdjust="0"/>
    <p:restoredTop sz="91499" autoAdjust="0"/>
  </p:normalViewPr>
  <p:slideViewPr>
    <p:cSldViewPr snapToGrid="0">
      <p:cViewPr varScale="1">
        <p:scale>
          <a:sx n="68" d="100"/>
          <a:sy n="68" d="100"/>
        </p:scale>
        <p:origin x="-792" y="-10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C100F-DE61-4D54-8450-A9B8CE5023B1}" type="datetimeFigureOut">
              <a:rPr lang="en-US" smtClean="0"/>
              <a:t>3/22/2020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39B35-E5C0-4422-AAF8-BFFA2F238F42}" type="slidenum">
              <a:rPr lang="en-US" smtClean="0"/>
              <a:t>‹#›</a:t>
            </a:fld>
            <a:endParaRPr lang="en-US"/>
          </a:p>
        </p:txBody>
      </p:sp>
    </p:spTree>
    <p:extLst>
      <p:ext uri="{BB962C8B-B14F-4D97-AF65-F5344CB8AC3E}">
        <p14:creationId xmlns:p14="http://schemas.microsoft.com/office/powerpoint/2010/main" val="4084085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3/22/2020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692150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3/22/2020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11106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3/22/2020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749100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3/22/2020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83615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3/22/2020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474361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3/22/2020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732868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3/22/2020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322055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3/22/2020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123073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3/22/2020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35642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3/22/2020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90941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3/22/2020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21248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3/22/2020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438714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3/22/2020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021680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3/22/2020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84661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3/22/2020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661528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3/22/2020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53905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3/22/2020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4185988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3/22/2020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0757741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3/22/2020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1016792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3/22/2020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9157014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3/22/2020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000533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3/22/2020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517509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3/22/2020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421790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3/22/2020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3291980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42647" y="2356163"/>
            <a:ext cx="9144000" cy="2092745"/>
          </a:xfrm>
        </p:spPr>
        <p:txBody>
          <a:bodyPr>
            <a:noAutofit/>
          </a:bodyPr>
          <a:lstStyle/>
          <a:p>
            <a:r>
              <a:rPr lang="en-US" sz="8000" dirty="0"/>
              <a:t>Introduction to Data </a:t>
            </a:r>
            <a:r>
              <a:rPr lang="en-US" sz="8000" dirty="0" smtClean="0"/>
              <a:t>Science</a:t>
            </a:r>
            <a:endParaRPr lang="en-US" sz="8000" dirty="0"/>
          </a:p>
        </p:txBody>
      </p:sp>
    </p:spTree>
    <p:extLst>
      <p:ext uri="{BB962C8B-B14F-4D97-AF65-F5344CB8AC3E}">
        <p14:creationId xmlns:p14="http://schemas.microsoft.com/office/powerpoint/2010/main" val="14288813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Disclaimer</a:t>
            </a:r>
          </a:p>
        </p:txBody>
      </p:sp>
      <p:sp>
        <p:nvSpPr>
          <p:cNvPr id="5" name="Content Placeholder 4"/>
          <p:cNvSpPr>
            <a:spLocks noGrp="1"/>
          </p:cNvSpPr>
          <p:nvPr>
            <p:ph idx="1"/>
          </p:nvPr>
        </p:nvSpPr>
        <p:spPr/>
        <p:txBody>
          <a:bodyPr/>
          <a:lstStyle/>
          <a:p>
            <a:r>
              <a:rPr lang="en-US" dirty="0"/>
              <a:t>The purpose of this course is cover the Statistical Methods for analyzing data by using SAS software (like SAS/Stat, SAS/Graph, SAS/ODS, SAS/Base and SAS/Advance</a:t>
            </a:r>
            <a:r>
              <a:rPr lang="en-US" dirty="0" smtClean="0"/>
              <a:t>) and </a:t>
            </a:r>
            <a:r>
              <a:rPr lang="en-US" dirty="0" smtClean="0"/>
              <a:t>Python (Pandas, </a:t>
            </a:r>
            <a:r>
              <a:rPr lang="en-US" dirty="0" err="1" smtClean="0"/>
              <a:t>Numpy</a:t>
            </a:r>
            <a:r>
              <a:rPr lang="en-US" dirty="0" smtClean="0"/>
              <a:t>, </a:t>
            </a:r>
            <a:r>
              <a:rPr lang="en-US" dirty="0" err="1" smtClean="0"/>
              <a:t>Matplotlib</a:t>
            </a:r>
            <a:r>
              <a:rPr lang="en-US" dirty="0" smtClean="0"/>
              <a:t>, </a:t>
            </a:r>
            <a:r>
              <a:rPr lang="en-US" dirty="0" err="1" smtClean="0"/>
              <a:t>Statmodels</a:t>
            </a:r>
            <a:r>
              <a:rPr lang="en-US" dirty="0" smtClean="0"/>
              <a:t>, </a:t>
            </a:r>
            <a:r>
              <a:rPr lang="en-US" dirty="0" err="1" smtClean="0"/>
              <a:t>Scipy</a:t>
            </a:r>
            <a:r>
              <a:rPr lang="en-US" dirty="0" smtClean="0"/>
              <a:t> and so on</a:t>
            </a:r>
            <a:r>
              <a:rPr lang="en-US" dirty="0" smtClean="0"/>
              <a:t>). </a:t>
            </a:r>
            <a:endParaRPr lang="en-US" dirty="0"/>
          </a:p>
          <a:p>
            <a:pPr marL="0" indent="0">
              <a:buNone/>
            </a:pPr>
            <a:endParaRPr lang="en-US" dirty="0"/>
          </a:p>
          <a:p>
            <a:r>
              <a:rPr lang="en-US" dirty="0" smtClean="0"/>
              <a:t>Good to have basic </a:t>
            </a:r>
            <a:r>
              <a:rPr lang="en-US" dirty="0"/>
              <a:t>knowledge of </a:t>
            </a:r>
            <a:r>
              <a:rPr lang="en-US" dirty="0" smtClean="0"/>
              <a:t>programming </a:t>
            </a:r>
            <a:r>
              <a:rPr lang="en-US" dirty="0" smtClean="0"/>
              <a:t>in </a:t>
            </a:r>
            <a:r>
              <a:rPr lang="en-US" dirty="0" smtClean="0"/>
              <a:t>any language. </a:t>
            </a:r>
            <a:endParaRPr lang="en-US" dirty="0"/>
          </a:p>
          <a:p>
            <a:pPr marL="0" indent="0">
              <a:buNone/>
            </a:pPr>
            <a:r>
              <a:rPr lang="en-US" dirty="0"/>
              <a:t> </a:t>
            </a:r>
          </a:p>
          <a:p>
            <a:pPr marL="0" indent="0">
              <a:buNone/>
            </a:pPr>
            <a:endParaRPr lang="en-US" i="1" dirty="0"/>
          </a:p>
          <a:p>
            <a:pPr marL="0" indent="0">
              <a:buNone/>
            </a:pPr>
            <a:endParaRPr lang="en-US" i="1" dirty="0"/>
          </a:p>
        </p:txBody>
      </p:sp>
    </p:spTree>
    <p:extLst>
      <p:ext uri="{BB962C8B-B14F-4D97-AF65-F5344CB8AC3E}">
        <p14:creationId xmlns:p14="http://schemas.microsoft.com/office/powerpoint/2010/main" val="25667274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Definition of Data</a:t>
            </a:r>
          </a:p>
        </p:txBody>
      </p:sp>
      <p:sp>
        <p:nvSpPr>
          <p:cNvPr id="5" name="Content Placeholder 4"/>
          <p:cNvSpPr>
            <a:spLocks noGrp="1"/>
          </p:cNvSpPr>
          <p:nvPr>
            <p:ph idx="1"/>
          </p:nvPr>
        </p:nvSpPr>
        <p:spPr/>
        <p:txBody>
          <a:bodyPr/>
          <a:lstStyle/>
          <a:p>
            <a:r>
              <a:rPr lang="en-US" dirty="0"/>
              <a:t>An organization is collecting and maintaining the </a:t>
            </a:r>
            <a:r>
              <a:rPr lang="en-US" i="1" dirty="0"/>
              <a:t>large </a:t>
            </a:r>
            <a:r>
              <a:rPr lang="en-US" dirty="0"/>
              <a:t>amount of data for their decision making process, business growth by </a:t>
            </a:r>
            <a:r>
              <a:rPr lang="en-US" dirty="0">
                <a:solidFill>
                  <a:srgbClr val="FF0000"/>
                </a:solidFill>
                <a:highlight>
                  <a:srgbClr val="FFFF00"/>
                </a:highlight>
              </a:rPr>
              <a:t>analyzing hidden facts and trends</a:t>
            </a:r>
          </a:p>
          <a:p>
            <a:endParaRPr lang="en-US" dirty="0"/>
          </a:p>
          <a:p>
            <a:r>
              <a:rPr lang="en-US" dirty="0"/>
              <a:t>Data is an information on different aspects of business which we need to analyze and manage</a:t>
            </a:r>
          </a:p>
          <a:p>
            <a:endParaRPr lang="en-US" dirty="0"/>
          </a:p>
          <a:p>
            <a:r>
              <a:rPr lang="en-US" dirty="0"/>
              <a:t>For rapid growth of data, the main challenge is to managing and analyzing the </a:t>
            </a:r>
            <a:r>
              <a:rPr lang="en-US" i="1" dirty="0"/>
              <a:t>large </a:t>
            </a:r>
            <a:r>
              <a:rPr lang="en-US" dirty="0"/>
              <a:t>data efficiently </a:t>
            </a:r>
          </a:p>
          <a:p>
            <a:endParaRPr lang="en-US" dirty="0"/>
          </a:p>
          <a:p>
            <a:pPr marL="0" indent="0">
              <a:buNone/>
            </a:pPr>
            <a:endParaRPr lang="en-US" i="1" dirty="0"/>
          </a:p>
          <a:p>
            <a:pPr marL="0" indent="0">
              <a:buNone/>
            </a:pPr>
            <a:endParaRPr lang="en-US" i="1" dirty="0"/>
          </a:p>
        </p:txBody>
      </p:sp>
    </p:spTree>
    <p:extLst>
      <p:ext uri="{BB962C8B-B14F-4D97-AF65-F5344CB8AC3E}">
        <p14:creationId xmlns:p14="http://schemas.microsoft.com/office/powerpoint/2010/main" val="8164141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Difference between data management and Data analytics </a:t>
            </a:r>
          </a:p>
        </p:txBody>
      </p:sp>
      <p:sp>
        <p:nvSpPr>
          <p:cNvPr id="4" name="Content Placeholder 3"/>
          <p:cNvSpPr>
            <a:spLocks noGrp="1"/>
          </p:cNvSpPr>
          <p:nvPr>
            <p:ph idx="1"/>
          </p:nvPr>
        </p:nvSpPr>
        <p:spPr/>
        <p:txBody>
          <a:bodyPr>
            <a:normAutofit/>
          </a:bodyPr>
          <a:lstStyle/>
          <a:p>
            <a:r>
              <a:rPr lang="en-US" dirty="0"/>
              <a:t>Many times we encountered to </a:t>
            </a:r>
            <a:r>
              <a:rPr lang="en-US" dirty="0">
                <a:solidFill>
                  <a:srgbClr val="FF0000"/>
                </a:solidFill>
              </a:rPr>
              <a:t>Data Management and Data Analytics </a:t>
            </a:r>
            <a:r>
              <a:rPr lang="en-US" dirty="0"/>
              <a:t>and we consider both are same. But it is not!!!</a:t>
            </a:r>
          </a:p>
          <a:p>
            <a:pPr marL="0" indent="0">
              <a:buNone/>
            </a:pPr>
            <a:endParaRPr lang="en-US" dirty="0"/>
          </a:p>
          <a:p>
            <a:r>
              <a:rPr lang="en-US" b="1" dirty="0">
                <a:solidFill>
                  <a:srgbClr val="FF0000"/>
                </a:solidFill>
              </a:rPr>
              <a:t>Data management</a:t>
            </a:r>
            <a:r>
              <a:rPr lang="en-US" dirty="0"/>
              <a:t> comprises all the disciplines related to managing, structuring and manipulating data as a valuable resource.</a:t>
            </a:r>
          </a:p>
          <a:p>
            <a:pPr marL="0" indent="0">
              <a:buNone/>
            </a:pPr>
            <a:endParaRPr lang="en-US" dirty="0"/>
          </a:p>
          <a:p>
            <a:r>
              <a:rPr lang="en-US" b="1" dirty="0">
                <a:solidFill>
                  <a:srgbClr val="FF0000"/>
                </a:solidFill>
              </a:rPr>
              <a:t>Data Analytics</a:t>
            </a:r>
            <a:r>
              <a:rPr lang="en-US" dirty="0">
                <a:solidFill>
                  <a:srgbClr val="FF0000"/>
                </a:solidFill>
              </a:rPr>
              <a:t> </a:t>
            </a:r>
            <a:r>
              <a:rPr lang="en-US" dirty="0"/>
              <a:t>on the other hand comprise of techniques which can help to discover hidden facts and patterns from the data</a:t>
            </a:r>
          </a:p>
        </p:txBody>
      </p:sp>
    </p:spTree>
    <p:extLst>
      <p:ext uri="{BB962C8B-B14F-4D97-AF65-F5344CB8AC3E}">
        <p14:creationId xmlns:p14="http://schemas.microsoft.com/office/powerpoint/2010/main" val="14059229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between data management and Data analytics </a:t>
            </a:r>
          </a:p>
        </p:txBody>
      </p:sp>
      <p:sp>
        <p:nvSpPr>
          <p:cNvPr id="3" name="Content Placeholder 2"/>
          <p:cNvSpPr>
            <a:spLocks noGrp="1"/>
          </p:cNvSpPr>
          <p:nvPr>
            <p:ph idx="1"/>
          </p:nvPr>
        </p:nvSpPr>
        <p:spPr/>
        <p:txBody>
          <a:bodyPr>
            <a:normAutofit/>
          </a:bodyPr>
          <a:lstStyle/>
          <a:p>
            <a:r>
              <a:rPr lang="en-US" dirty="0"/>
              <a:t>For Example: </a:t>
            </a:r>
          </a:p>
          <a:p>
            <a:pPr marL="0" indent="0">
              <a:buNone/>
            </a:pPr>
            <a:r>
              <a:rPr lang="en-US" dirty="0"/>
              <a:t>          - Extracting </a:t>
            </a:r>
            <a:r>
              <a:rPr lang="en-US" dirty="0">
                <a:solidFill>
                  <a:srgbClr val="FF0000"/>
                </a:solidFill>
              </a:rPr>
              <a:t>first 10 customers </a:t>
            </a:r>
            <a:r>
              <a:rPr lang="en-US" dirty="0"/>
              <a:t>in terms their visit pattern is a simple query or </a:t>
            </a:r>
            <a:r>
              <a:rPr lang="en-US" b="1" dirty="0">
                <a:solidFill>
                  <a:srgbClr val="FF0000"/>
                </a:solidFill>
              </a:rPr>
              <a:t>data management</a:t>
            </a:r>
            <a:r>
              <a:rPr lang="en-US" dirty="0">
                <a:solidFill>
                  <a:srgbClr val="FF0000"/>
                </a:solidFill>
              </a:rPr>
              <a:t> </a:t>
            </a:r>
          </a:p>
          <a:p>
            <a:pPr marL="0" indent="0">
              <a:buNone/>
            </a:pPr>
            <a:r>
              <a:rPr lang="en-US" dirty="0"/>
              <a:t>          - However, to know which are the most likely customers purchasing the products based on visit pattern is a </a:t>
            </a:r>
            <a:r>
              <a:rPr lang="en-US" b="1" dirty="0">
                <a:solidFill>
                  <a:srgbClr val="FF0000"/>
                </a:solidFill>
              </a:rPr>
              <a:t>data analytics</a:t>
            </a:r>
          </a:p>
          <a:p>
            <a:pPr marL="0" indent="0">
              <a:buNone/>
            </a:pPr>
            <a:r>
              <a:rPr lang="en-US" b="1" dirty="0"/>
              <a:t>          </a:t>
            </a:r>
            <a:r>
              <a:rPr lang="en-US" dirty="0"/>
              <a:t>- Dividing the customers of a company according to their profitability is a </a:t>
            </a:r>
            <a:r>
              <a:rPr lang="en-US" b="1" dirty="0">
                <a:solidFill>
                  <a:srgbClr val="FF0000"/>
                </a:solidFill>
              </a:rPr>
              <a:t>data management</a:t>
            </a:r>
            <a:r>
              <a:rPr lang="en-US" dirty="0">
                <a:solidFill>
                  <a:srgbClr val="FF0000"/>
                </a:solidFill>
              </a:rPr>
              <a:t> </a:t>
            </a:r>
            <a:r>
              <a:rPr lang="en-US" dirty="0"/>
              <a:t>activity. </a:t>
            </a:r>
          </a:p>
          <a:p>
            <a:pPr marL="0" indent="0">
              <a:buNone/>
            </a:pPr>
            <a:r>
              <a:rPr lang="en-US" dirty="0"/>
              <a:t>          - Predicting the future stock price of a company using historical</a:t>
            </a:r>
          </a:p>
          <a:p>
            <a:pPr marL="0" indent="0">
              <a:buNone/>
            </a:pPr>
            <a:r>
              <a:rPr lang="en-US" dirty="0"/>
              <a:t> records is a </a:t>
            </a:r>
            <a:r>
              <a:rPr lang="en-US" b="1" dirty="0">
                <a:solidFill>
                  <a:srgbClr val="FF0000"/>
                </a:solidFill>
              </a:rPr>
              <a:t>data analytics</a:t>
            </a:r>
            <a:r>
              <a:rPr lang="en-US" dirty="0">
                <a:solidFill>
                  <a:srgbClr val="FF0000"/>
                </a:solidFill>
              </a:rPr>
              <a:t> </a:t>
            </a:r>
            <a:r>
              <a:rPr lang="en-US" dirty="0"/>
              <a:t>activity.</a:t>
            </a:r>
            <a:endParaRPr lang="en-US" b="1" dirty="0"/>
          </a:p>
        </p:txBody>
      </p:sp>
    </p:spTree>
    <p:extLst>
      <p:ext uri="{BB962C8B-B14F-4D97-AF65-F5344CB8AC3E}">
        <p14:creationId xmlns:p14="http://schemas.microsoft.com/office/powerpoint/2010/main" val="13015657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Levels of Measurement and Variable types</a:t>
            </a:r>
          </a:p>
        </p:txBody>
      </p:sp>
      <p:sp>
        <p:nvSpPr>
          <p:cNvPr id="3" name="Content Placeholder 2"/>
          <p:cNvSpPr>
            <a:spLocks noGrp="1"/>
          </p:cNvSpPr>
          <p:nvPr>
            <p:ph idx="1"/>
          </p:nvPr>
        </p:nvSpPr>
        <p:spPr/>
        <p:txBody>
          <a:bodyPr>
            <a:normAutofit lnSpcReduction="10000"/>
          </a:bodyPr>
          <a:lstStyle/>
          <a:p>
            <a:r>
              <a:rPr lang="en-US" dirty="0"/>
              <a:t>An analyst must consider level of measurement of variable of interest.</a:t>
            </a:r>
          </a:p>
          <a:p>
            <a:r>
              <a:rPr lang="en-US" dirty="0"/>
              <a:t>Four Level of Measurement as follow:</a:t>
            </a:r>
          </a:p>
          <a:p>
            <a:pPr marL="0" indent="0">
              <a:buNone/>
            </a:pPr>
            <a:r>
              <a:rPr lang="en-US" dirty="0"/>
              <a:t>   - </a:t>
            </a:r>
            <a:r>
              <a:rPr lang="en-US" dirty="0">
                <a:solidFill>
                  <a:srgbClr val="FF0000"/>
                </a:solidFill>
              </a:rPr>
              <a:t>Nominal:</a:t>
            </a:r>
            <a:r>
              <a:rPr lang="en-US" dirty="0"/>
              <a:t> Nominal Variables have values with no logical ordering. For example type of Beverage is nominal variable (even though numeric values are assigned to the categories)</a:t>
            </a:r>
          </a:p>
          <a:p>
            <a:pPr marL="0" indent="0">
              <a:buNone/>
            </a:pPr>
            <a:endParaRPr lang="en-US" dirty="0"/>
          </a:p>
          <a:p>
            <a:pPr marL="0" indent="0">
              <a:buNone/>
            </a:pPr>
            <a:r>
              <a:rPr lang="en-US" dirty="0"/>
              <a:t>   - </a:t>
            </a:r>
            <a:r>
              <a:rPr lang="en-US" dirty="0">
                <a:solidFill>
                  <a:srgbClr val="FF0000"/>
                </a:solidFill>
              </a:rPr>
              <a:t>Ordinal: </a:t>
            </a:r>
            <a:r>
              <a:rPr lang="en-US" dirty="0"/>
              <a:t>Ordinal variables have values with logical ordering. For example size of Beverage (like small, medium, large) is ordinal variable. However you can not measure the relative distance between the values. </a:t>
            </a:r>
          </a:p>
        </p:txBody>
      </p:sp>
    </p:spTree>
    <p:extLst>
      <p:ext uri="{BB962C8B-B14F-4D97-AF65-F5344CB8AC3E}">
        <p14:creationId xmlns:p14="http://schemas.microsoft.com/office/powerpoint/2010/main" val="7718839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Levels of Measurement and Variable types</a:t>
            </a:r>
          </a:p>
        </p:txBody>
      </p:sp>
      <p:sp>
        <p:nvSpPr>
          <p:cNvPr id="3" name="Content Placeholder 2"/>
          <p:cNvSpPr>
            <a:spLocks noGrp="1"/>
          </p:cNvSpPr>
          <p:nvPr>
            <p:ph idx="1"/>
          </p:nvPr>
        </p:nvSpPr>
        <p:spPr/>
        <p:txBody>
          <a:bodyPr>
            <a:normAutofit/>
          </a:bodyPr>
          <a:lstStyle/>
          <a:p>
            <a:r>
              <a:rPr lang="en-US" dirty="0"/>
              <a:t>For a mathematical completion, there are two other types of levels of measurement as follow:</a:t>
            </a:r>
          </a:p>
          <a:p>
            <a:pPr marL="0" indent="0">
              <a:buNone/>
            </a:pPr>
            <a:endParaRPr lang="en-US" dirty="0"/>
          </a:p>
          <a:p>
            <a:pPr marL="0" indent="0">
              <a:buNone/>
            </a:pPr>
            <a:r>
              <a:rPr lang="en-US" dirty="0"/>
              <a:t>        - </a:t>
            </a:r>
            <a:r>
              <a:rPr lang="en-US" dirty="0">
                <a:solidFill>
                  <a:srgbClr val="FF0000"/>
                </a:solidFill>
              </a:rPr>
              <a:t>Interval and Ratio: </a:t>
            </a:r>
            <a:r>
              <a:rPr lang="en-US" dirty="0"/>
              <a:t>Interval and Ratio variables have shared the common property that we are able to calculate distance between the two ranked values. Ratio variables differ from that of interval in the existence of a “true” zero point. This zero point allows us to calculate the ratios. </a:t>
            </a:r>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6060548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Levels of Measurement and Variable types</a:t>
            </a:r>
          </a:p>
        </p:txBody>
      </p:sp>
      <p:sp>
        <p:nvSpPr>
          <p:cNvPr id="3" name="Content Placeholder 2"/>
          <p:cNvSpPr>
            <a:spLocks noGrp="1"/>
          </p:cNvSpPr>
          <p:nvPr>
            <p:ph idx="1"/>
          </p:nvPr>
        </p:nvSpPr>
        <p:spPr>
          <a:xfrm>
            <a:off x="838200" y="1825624"/>
            <a:ext cx="10515600" cy="4791307"/>
          </a:xfrm>
        </p:spPr>
        <p:txBody>
          <a:bodyPr>
            <a:normAutofit fontScale="55000" lnSpcReduction="20000"/>
          </a:bodyPr>
          <a:lstStyle/>
          <a:p>
            <a:r>
              <a:rPr lang="en-US" sz="5100" dirty="0"/>
              <a:t>Before we analyzing the data, we also need to keep in mind the types of variables as follow:</a:t>
            </a:r>
          </a:p>
          <a:p>
            <a:pPr marL="0" indent="0">
              <a:buNone/>
            </a:pPr>
            <a:r>
              <a:rPr lang="en-US" sz="5100" dirty="0"/>
              <a:t>   </a:t>
            </a:r>
          </a:p>
          <a:p>
            <a:pPr marL="0" indent="0">
              <a:buNone/>
            </a:pPr>
            <a:r>
              <a:rPr lang="en-US" sz="5100" dirty="0"/>
              <a:t>       - </a:t>
            </a:r>
            <a:r>
              <a:rPr lang="en-US" sz="5100" dirty="0">
                <a:solidFill>
                  <a:srgbClr val="FF0000"/>
                </a:solidFill>
              </a:rPr>
              <a:t>Continuous: </a:t>
            </a:r>
            <a:r>
              <a:rPr lang="en-US" sz="5100" dirty="0"/>
              <a:t>Continuous Variables, in theory, can take any of an infinite number of possible values between two numbers. An example of Continuous variable would be temperature of beverage. There is no restriction on numbers between 22 degree and 23 degree.</a:t>
            </a:r>
          </a:p>
          <a:p>
            <a:endParaRPr lang="en-US" sz="5100" dirty="0"/>
          </a:p>
          <a:p>
            <a:pPr marL="0" indent="0">
              <a:buNone/>
            </a:pPr>
            <a:r>
              <a:rPr lang="en-US" sz="5100" dirty="0"/>
              <a:t>       - </a:t>
            </a:r>
            <a:r>
              <a:rPr lang="en-US" sz="5100" dirty="0">
                <a:solidFill>
                  <a:srgbClr val="FF0000"/>
                </a:solidFill>
              </a:rPr>
              <a:t>Categorical: </a:t>
            </a:r>
            <a:r>
              <a:rPr lang="en-US" sz="5100" dirty="0"/>
              <a:t>Categorical variables are the variables which represent the grouping and it can be stored as numeric or non-numeric values in SAS. For Example, Gender (Male and Female)</a:t>
            </a:r>
          </a:p>
          <a:p>
            <a:endParaRPr lang="en-US" dirty="0"/>
          </a:p>
          <a:p>
            <a:endParaRPr lang="en-US" dirty="0"/>
          </a:p>
          <a:p>
            <a:pPr marL="0" indent="0">
              <a:buNone/>
            </a:pPr>
            <a:r>
              <a:rPr lang="en-US" dirty="0"/>
              <a:t> </a:t>
            </a:r>
          </a:p>
          <a:p>
            <a:endParaRPr lang="en-US" dirty="0"/>
          </a:p>
          <a:p>
            <a:endParaRPr lang="en-US" dirty="0"/>
          </a:p>
        </p:txBody>
      </p:sp>
    </p:spTree>
    <p:extLst>
      <p:ext uri="{BB962C8B-B14F-4D97-AF65-F5344CB8AC3E}">
        <p14:creationId xmlns:p14="http://schemas.microsoft.com/office/powerpoint/2010/main" val="30828597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Descriptive Statistics and Picturing Distributions</a:t>
            </a:r>
          </a:p>
        </p:txBody>
      </p:sp>
      <p:sp>
        <p:nvSpPr>
          <p:cNvPr id="3" name="Content Placeholder 2"/>
          <p:cNvSpPr>
            <a:spLocks noGrp="1"/>
          </p:cNvSpPr>
          <p:nvPr>
            <p:ph idx="1"/>
          </p:nvPr>
        </p:nvSpPr>
        <p:spPr/>
        <p:txBody>
          <a:bodyPr/>
          <a:lstStyle/>
          <a:p>
            <a:r>
              <a:rPr lang="en-US" sz="2000" dirty="0"/>
              <a:t>Once we are clear about levels of measurement and variable types, the next step is to identify or look in to </a:t>
            </a:r>
            <a:r>
              <a:rPr lang="en-US" sz="2000" b="1" i="1" dirty="0"/>
              <a:t>“what already happened in data”</a:t>
            </a:r>
            <a:r>
              <a:rPr lang="en-US" sz="2000" dirty="0"/>
              <a:t> by using descriptive statistics and picturing the data.</a:t>
            </a:r>
          </a:p>
          <a:p>
            <a:r>
              <a:rPr lang="en-US" sz="2000" dirty="0"/>
              <a:t>The first step to do so is to take sample from population. </a:t>
            </a:r>
          </a:p>
          <a:p>
            <a:endParaRPr lang="en-US" dirty="0"/>
          </a:p>
        </p:txBody>
      </p:sp>
      <p:pic>
        <p:nvPicPr>
          <p:cNvPr id="6" name="Picture 5"/>
          <p:cNvPicPr>
            <a:picLocks noChangeAspect="1"/>
          </p:cNvPicPr>
          <p:nvPr/>
        </p:nvPicPr>
        <p:blipFill>
          <a:blip r:embed="rId2"/>
          <a:stretch>
            <a:fillRect/>
          </a:stretch>
        </p:blipFill>
        <p:spPr>
          <a:xfrm>
            <a:off x="1030778" y="3125585"/>
            <a:ext cx="10124902" cy="3732415"/>
          </a:xfrm>
          <a:prstGeom prst="rect">
            <a:avLst/>
          </a:prstGeom>
          <a:effectLst>
            <a:glow rad="127000">
              <a:srgbClr val="FF0000"/>
            </a:glow>
          </a:effectLst>
        </p:spPr>
      </p:pic>
    </p:spTree>
    <p:extLst>
      <p:ext uri="{BB962C8B-B14F-4D97-AF65-F5344CB8AC3E}">
        <p14:creationId xmlns:p14="http://schemas.microsoft.com/office/powerpoint/2010/main" val="1181681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pic>
        <p:nvPicPr>
          <p:cNvPr id="11" name="Content Placeholder 10"/>
          <p:cNvPicPr>
            <a:picLocks noGrp="1" noChangeAspect="1"/>
          </p:cNvPicPr>
          <p:nvPr>
            <p:ph idx="1"/>
          </p:nvPr>
        </p:nvPicPr>
        <p:blipFill>
          <a:blip r:embed="rId2"/>
          <a:stretch>
            <a:fillRect/>
          </a:stretch>
        </p:blipFill>
        <p:spPr>
          <a:xfrm>
            <a:off x="838199" y="1690688"/>
            <a:ext cx="10515601" cy="3097443"/>
          </a:xfrm>
          <a:prstGeom prst="rect">
            <a:avLst/>
          </a:prstGeom>
        </p:spPr>
      </p:pic>
      <p:pic>
        <p:nvPicPr>
          <p:cNvPr id="12" name="Picture 11"/>
          <p:cNvPicPr>
            <a:picLocks noChangeAspect="1"/>
          </p:cNvPicPr>
          <p:nvPr/>
        </p:nvPicPr>
        <p:blipFill>
          <a:blip r:embed="rId3"/>
          <a:stretch>
            <a:fillRect/>
          </a:stretch>
        </p:blipFill>
        <p:spPr>
          <a:xfrm>
            <a:off x="838198" y="4788131"/>
            <a:ext cx="10515602" cy="1463040"/>
          </a:xfrm>
          <a:prstGeom prst="rect">
            <a:avLst/>
          </a:prstGeom>
        </p:spPr>
      </p:pic>
    </p:spTree>
    <p:extLst>
      <p:ext uri="{BB962C8B-B14F-4D97-AF65-F5344CB8AC3E}">
        <p14:creationId xmlns:p14="http://schemas.microsoft.com/office/powerpoint/2010/main" val="22594236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p:txBody>
          <a:bodyPr/>
          <a:lstStyle/>
          <a:p>
            <a:r>
              <a:rPr lang="en-US" b="1" dirty="0">
                <a:solidFill>
                  <a:srgbClr val="FF0000"/>
                </a:solidFill>
              </a:rPr>
              <a:t>Measure of Central Tendency: </a:t>
            </a:r>
            <a:r>
              <a:rPr lang="en-US" dirty="0"/>
              <a:t>Most of the datasets show distinct tendency to group or cluster about a center point. Thus, for any particular dataset, “one value can be use to describe the entire set”. Such a descriptive value is known as “Central Tendency”. It includes Mean, Median and Mode.</a:t>
            </a:r>
          </a:p>
          <a:p>
            <a:r>
              <a:rPr lang="en-US" b="1" dirty="0">
                <a:solidFill>
                  <a:srgbClr val="FF0000"/>
                </a:solidFill>
              </a:rPr>
              <a:t>Mean: </a:t>
            </a:r>
            <a:r>
              <a:rPr lang="en-US" dirty="0"/>
              <a:t>The mean is a most commonly used measure of central tendency. The mean is calculated by summing all the observed values of variable of interest and then dividing the total by the number of observations. </a:t>
            </a:r>
          </a:p>
        </p:txBody>
      </p:sp>
      <p:pic>
        <p:nvPicPr>
          <p:cNvPr id="1026" name="Picture 2" descr="http://sph.bu.edu/otlt/MPH-Modules/BS/BS704_SummarizingData/SampleMeanFormul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4818" y="5276849"/>
            <a:ext cx="2400300" cy="158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8961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p:txBody>
          <a:bodyPr/>
          <a:lstStyle/>
          <a:p>
            <a:r>
              <a:rPr lang="en-US" b="1" dirty="0">
                <a:solidFill>
                  <a:srgbClr val="FF0000"/>
                </a:solidFill>
              </a:rPr>
              <a:t>Median: </a:t>
            </a:r>
            <a:r>
              <a:rPr lang="en-US" dirty="0"/>
              <a:t>The median is the middle value in an ordered array of data. If there is no ties, half the values are less then median and half the values are more then median.</a:t>
            </a:r>
          </a:p>
          <a:p>
            <a:pPr marL="0" indent="0">
              <a:buNone/>
            </a:pPr>
            <a:r>
              <a:rPr lang="en-US" dirty="0"/>
              <a:t> </a:t>
            </a:r>
          </a:p>
          <a:p>
            <a:pPr marL="0" indent="0">
              <a:buNone/>
            </a:pPr>
            <a:endParaRPr lang="en-US" dirty="0"/>
          </a:p>
          <a:p>
            <a:pPr marL="0" indent="0">
              <a:buNone/>
            </a:pPr>
            <a:endParaRPr lang="en-US" dirty="0"/>
          </a:p>
          <a:p>
            <a:r>
              <a:rPr lang="en-US" b="1" dirty="0">
                <a:solidFill>
                  <a:srgbClr val="FF0000"/>
                </a:solidFill>
              </a:rPr>
              <a:t>Mode: </a:t>
            </a:r>
            <a:r>
              <a:rPr lang="en-US" dirty="0"/>
              <a:t>The mode is the value in set of data which occur most. It is possible sometimes that all the values of variable is unique and hence we can not calculate the mode for that variable.</a:t>
            </a:r>
            <a:endParaRPr lang="en-US" b="1" dirty="0"/>
          </a:p>
        </p:txBody>
      </p:sp>
      <p:pic>
        <p:nvPicPr>
          <p:cNvPr id="1026" name="Picture 2" descr="http://s.wordpress.com/latex.php?latex=%5Cdfrac%7BN%2B1%7D%7B2%7D&amp;bg=ffffff&amp;fg=000000&amp;s=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8750" y="3108960"/>
            <a:ext cx="2144683" cy="964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79271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p:txBody>
          <a:bodyPr/>
          <a:lstStyle/>
          <a:p>
            <a:r>
              <a:rPr lang="en-US" b="1" dirty="0">
                <a:solidFill>
                  <a:srgbClr val="FF0000"/>
                </a:solidFill>
              </a:rPr>
              <a:t>Quartiles:</a:t>
            </a:r>
            <a:r>
              <a:rPr lang="en-US" b="1" dirty="0"/>
              <a:t> </a:t>
            </a:r>
            <a:r>
              <a:rPr lang="en-US" dirty="0"/>
              <a:t>Quartiles are most widely used measure of noncentral location. While median is the value that split the data in to 50%-50%,</a:t>
            </a:r>
            <a:r>
              <a:rPr lang="en-US" b="1" dirty="0"/>
              <a:t> </a:t>
            </a:r>
            <a:r>
              <a:rPr lang="en-US" dirty="0"/>
              <a:t>the quartiles are descriptive measure which splits the data into four quarters.</a:t>
            </a:r>
          </a:p>
          <a:p>
            <a:r>
              <a:rPr lang="en-US" b="1" dirty="0">
                <a:solidFill>
                  <a:srgbClr val="FF0000"/>
                </a:solidFill>
              </a:rPr>
              <a:t>First Quartile (Q1): </a:t>
            </a:r>
            <a:r>
              <a:rPr lang="en-US" dirty="0"/>
              <a:t>The Q1 is the value for which 25% observations are smaller and 75% of the observations are larger.</a:t>
            </a:r>
          </a:p>
          <a:p>
            <a:r>
              <a:rPr lang="en-US" b="1" dirty="0">
                <a:solidFill>
                  <a:srgbClr val="FF0000"/>
                </a:solidFill>
              </a:rPr>
              <a:t>Third Quartile (Q3): </a:t>
            </a:r>
            <a:r>
              <a:rPr lang="en-US" dirty="0"/>
              <a:t>The Q3 is the value for which 75% observations are smaller and 25% of the observations are larger.</a:t>
            </a:r>
          </a:p>
          <a:p>
            <a:pPr marL="0" indent="0">
              <a:buNone/>
            </a:pPr>
            <a:endParaRPr lang="en-US" dirty="0"/>
          </a:p>
        </p:txBody>
      </p:sp>
      <p:pic>
        <p:nvPicPr>
          <p:cNvPr id="4" name="Picture 2" descr="http://s.wordpress.com/latex.php?latex=Q_1%20%3D%20%5Cleft(%20%5Cdfrac%7Bn%2B1%7D%7B4%7D%5Cright)%5E%7Bth%7D&amp;bg=ffffff&amp;fg=000000&amp;s=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7997" y="5419898"/>
            <a:ext cx="2271741" cy="103077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tudy.com/cimages/multimages/16/rollins_q3_formul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419898"/>
            <a:ext cx="3086389" cy="1030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98153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p:txBody>
          <a:bodyPr/>
          <a:lstStyle/>
          <a:p>
            <a:r>
              <a:rPr lang="en-US" b="1" dirty="0">
                <a:solidFill>
                  <a:srgbClr val="FF0000"/>
                </a:solidFill>
              </a:rPr>
              <a:t>Measures of Variation: </a:t>
            </a:r>
            <a:r>
              <a:rPr lang="en-US" dirty="0"/>
              <a:t>A second important property to describe the numerical data is the variation. Variation is the amount of dispersion or spread in the data. Five measures of variation are as follow:</a:t>
            </a:r>
          </a:p>
          <a:p>
            <a:r>
              <a:rPr lang="en-US" b="1" dirty="0">
                <a:solidFill>
                  <a:srgbClr val="FF0000"/>
                </a:solidFill>
              </a:rPr>
              <a:t>Range:</a:t>
            </a:r>
            <a:r>
              <a:rPr lang="en-US" b="1" dirty="0"/>
              <a:t> </a:t>
            </a:r>
            <a:r>
              <a:rPr lang="en-US" dirty="0"/>
              <a:t>The range is the difference between largest and smallest observation in the dataset. It measures the total variation of the variable of interest.</a:t>
            </a:r>
          </a:p>
          <a:p>
            <a:r>
              <a:rPr lang="en-US" b="1" dirty="0">
                <a:solidFill>
                  <a:srgbClr val="FF0000"/>
                </a:solidFill>
              </a:rPr>
              <a:t>Interquartile Range: </a:t>
            </a:r>
            <a:r>
              <a:rPr lang="en-US" dirty="0"/>
              <a:t>Q1 – Q3 also called as mid spread. It measures the spread in the middle 50% of the data. </a:t>
            </a:r>
          </a:p>
          <a:p>
            <a:r>
              <a:rPr lang="en-US" dirty="0">
                <a:solidFill>
                  <a:srgbClr val="FFFF00"/>
                </a:solidFill>
              </a:rPr>
              <a:t>The range and interquartile range does not take in to account </a:t>
            </a:r>
            <a:r>
              <a:rPr lang="en-US" i="1" dirty="0">
                <a:solidFill>
                  <a:srgbClr val="FFFF00"/>
                </a:solidFill>
              </a:rPr>
              <a:t>“how all the observations are cluster or distributed”</a:t>
            </a:r>
          </a:p>
          <a:p>
            <a:endParaRPr lang="en-US" b="1" dirty="0"/>
          </a:p>
        </p:txBody>
      </p:sp>
    </p:spTree>
    <p:extLst>
      <p:ext uri="{BB962C8B-B14F-4D97-AF65-F5344CB8AC3E}">
        <p14:creationId xmlns:p14="http://schemas.microsoft.com/office/powerpoint/2010/main" val="38039956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p:txBody>
          <a:bodyPr/>
          <a:lstStyle/>
          <a:p>
            <a:r>
              <a:rPr lang="en-US" b="1" dirty="0">
                <a:solidFill>
                  <a:srgbClr val="FF0000"/>
                </a:solidFill>
              </a:rPr>
              <a:t>Variance and Standard Deviation: </a:t>
            </a:r>
            <a:r>
              <a:rPr lang="en-US" dirty="0"/>
              <a:t>These measures evaluate how each observations fluctuate </a:t>
            </a:r>
            <a:r>
              <a:rPr lang="en-US" i="1" dirty="0"/>
              <a:t>around the mean</a:t>
            </a:r>
            <a:r>
              <a:rPr lang="en-US" dirty="0"/>
              <a:t>. The sample variance is simply the average of squared difference between each data value and mean. </a:t>
            </a:r>
          </a:p>
          <a:p>
            <a:endParaRPr lang="en-US" b="1" dirty="0"/>
          </a:p>
          <a:p>
            <a:endParaRPr lang="en-US" b="1" dirty="0"/>
          </a:p>
          <a:p>
            <a:r>
              <a:rPr lang="en-US" dirty="0"/>
              <a:t>The sample standard deviation is the square root of variance.</a:t>
            </a:r>
          </a:p>
        </p:txBody>
      </p:sp>
      <p:pic>
        <p:nvPicPr>
          <p:cNvPr id="1026" name="Picture 2" descr="https://explorable.com/images/standard-deviation-samp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4040" y="3208713"/>
            <a:ext cx="2620876" cy="11471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growingknowing.com/Images/StandardDeviationSample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4040" y="5120640"/>
            <a:ext cx="3967538" cy="1191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21676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p:txBody>
          <a:bodyPr/>
          <a:lstStyle/>
          <a:p>
            <a:r>
              <a:rPr lang="en-US" b="1" dirty="0">
                <a:solidFill>
                  <a:srgbClr val="FF0000"/>
                </a:solidFill>
              </a:rPr>
              <a:t>Variance v/s Standard Deviation:</a:t>
            </a:r>
            <a:r>
              <a:rPr lang="en-US" b="1" dirty="0"/>
              <a:t> </a:t>
            </a:r>
            <a:r>
              <a:rPr lang="en-US" dirty="0"/>
              <a:t>Both measures the variation around the mean. Variance’s computation results in squared units – square %, square $, squared inches and so on. So the primary measure is the standard deviation whose calculation results in original units of data as like % of return, dollars, or inches.</a:t>
            </a:r>
            <a:endParaRPr lang="en-US" b="1" dirty="0"/>
          </a:p>
          <a:p>
            <a:r>
              <a:rPr lang="en-US" dirty="0"/>
              <a:t>For almost all the set of data, the majority of the data lies within interval of one standard deviation above the mean and below the mean. So the knowledge of mean and standard deviation helps to know where the majority of the data clustered.</a:t>
            </a:r>
          </a:p>
        </p:txBody>
      </p:sp>
    </p:spTree>
    <p:extLst>
      <p:ext uri="{BB962C8B-B14F-4D97-AF65-F5344CB8AC3E}">
        <p14:creationId xmlns:p14="http://schemas.microsoft.com/office/powerpoint/2010/main" val="22337455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p:txBody>
          <a:bodyPr/>
          <a:lstStyle/>
          <a:p>
            <a:r>
              <a:rPr lang="en-US" b="1" dirty="0">
                <a:solidFill>
                  <a:srgbClr val="FF0000"/>
                </a:solidFill>
              </a:rPr>
              <a:t>Coefficient of Variation: </a:t>
            </a:r>
            <a:r>
              <a:rPr lang="en-US" dirty="0"/>
              <a:t>It is a relative measure of variation. It is always expressed in terms of % rather than in terms of the units of particular data. It measures the scatter in the data relative to mean. This particular measure helps if we have two variables having different units of measurement. </a:t>
            </a:r>
          </a:p>
          <a:p>
            <a:endParaRPr lang="en-US" b="1" dirty="0"/>
          </a:p>
        </p:txBody>
      </p:sp>
      <p:pic>
        <p:nvPicPr>
          <p:cNvPr id="2050" name="Picture 2" descr="http://chem-eng.utoronto.ca/~datamining/SDM/images/cv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1965" y="3923607"/>
            <a:ext cx="6084916" cy="2061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84705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p:txBody>
          <a:bodyPr/>
          <a:lstStyle/>
          <a:p>
            <a:r>
              <a:rPr lang="en-US" dirty="0"/>
              <a:t>As a financial advisor, you are responsible for helping the clients decide which types of mutual funds to invest. For that, the starting step to find out what is the average 3-year annualized return across the risk category. </a:t>
            </a:r>
          </a:p>
          <a:p>
            <a:r>
              <a:rPr lang="en-US" dirty="0"/>
              <a:t>How much variability present in returns?</a:t>
            </a:r>
          </a:p>
          <a:p>
            <a:r>
              <a:rPr lang="en-US" dirty="0"/>
              <a:t>Are the returns for high risk funds more variable than for average-risk funds or low-risk funds?</a:t>
            </a:r>
          </a:p>
          <a:p>
            <a:r>
              <a:rPr lang="en-US" dirty="0"/>
              <a:t>How will you use this information when advising your clients?</a:t>
            </a:r>
          </a:p>
        </p:txBody>
      </p:sp>
    </p:spTree>
    <p:extLst>
      <p:ext uri="{BB962C8B-B14F-4D97-AF65-F5344CB8AC3E}">
        <p14:creationId xmlns:p14="http://schemas.microsoft.com/office/powerpoint/2010/main" val="12832533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36544646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a:xfrm>
            <a:off x="838200" y="1690688"/>
            <a:ext cx="10515600" cy="5042621"/>
          </a:xfrm>
        </p:spPr>
        <p:txBody>
          <a:bodyPr/>
          <a:lstStyle/>
          <a:p>
            <a:endParaRPr lang="en-US" dirty="0"/>
          </a:p>
          <a:p>
            <a:endParaRPr lang="en-US" dirty="0"/>
          </a:p>
          <a:p>
            <a:endParaRPr lang="en-US" dirty="0"/>
          </a:p>
          <a:p>
            <a:endParaRPr lang="en-US" dirty="0"/>
          </a:p>
          <a:p>
            <a:endParaRPr lang="en-US" dirty="0"/>
          </a:p>
          <a:p>
            <a:r>
              <a:rPr lang="en-US" dirty="0"/>
              <a:t>The variability of high risk fund is greater than average risk funds and that average risk fund’s variability is greater than low risk fund’s variability. So we can say that investors in high risk fund is having greater probability of obtaining a high return or less return respective to mean. Returns from low risk funds tend to cluster more closely around their mean.    </a:t>
            </a:r>
          </a:p>
          <a:p>
            <a:endParaRPr lang="en-US" dirty="0"/>
          </a:p>
        </p:txBody>
      </p:sp>
      <p:pic>
        <p:nvPicPr>
          <p:cNvPr id="5" name="Picture 4"/>
          <p:cNvPicPr>
            <a:picLocks noChangeAspect="1"/>
          </p:cNvPicPr>
          <p:nvPr/>
        </p:nvPicPr>
        <p:blipFill>
          <a:blip r:embed="rId2"/>
          <a:stretch>
            <a:fillRect/>
          </a:stretch>
        </p:blipFill>
        <p:spPr>
          <a:xfrm>
            <a:off x="1014153" y="1690688"/>
            <a:ext cx="7961081" cy="2178022"/>
          </a:xfrm>
          <a:prstGeom prst="rect">
            <a:avLst/>
          </a:prstGeom>
        </p:spPr>
      </p:pic>
    </p:spTree>
    <p:extLst>
      <p:ext uri="{BB962C8B-B14F-4D97-AF65-F5344CB8AC3E}">
        <p14:creationId xmlns:p14="http://schemas.microsoft.com/office/powerpoint/2010/main" val="38382014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a:xfrm>
            <a:off x="838200" y="1690688"/>
            <a:ext cx="10515600" cy="5042621"/>
          </a:xfrm>
        </p:spPr>
        <p:txBody>
          <a:bodyPr/>
          <a:lstStyle/>
          <a:p>
            <a:r>
              <a:rPr lang="en-US" sz="2400" b="1" dirty="0">
                <a:solidFill>
                  <a:srgbClr val="FF0000"/>
                </a:solidFill>
              </a:rPr>
              <a:t>Shape: </a:t>
            </a:r>
            <a:r>
              <a:rPr lang="en-US" sz="2400" dirty="0"/>
              <a:t>The third important property is the shape – the manner in which the data is distributed. “</a:t>
            </a:r>
            <a:r>
              <a:rPr lang="en-US" sz="2400" i="1" dirty="0"/>
              <a:t>Distribution is nothing but the collection of data values</a:t>
            </a:r>
            <a:r>
              <a:rPr lang="en-US" sz="2400" dirty="0"/>
              <a:t>”. Either the distribution is </a:t>
            </a:r>
            <a:r>
              <a:rPr lang="en-US" sz="2400" b="1" dirty="0"/>
              <a:t>symmetrical </a:t>
            </a:r>
            <a:r>
              <a:rPr lang="en-US" sz="2400" dirty="0"/>
              <a:t>or it is not. If the distribution is not </a:t>
            </a:r>
            <a:r>
              <a:rPr lang="en-US" sz="2400" b="1" dirty="0"/>
              <a:t>symmetrical </a:t>
            </a:r>
            <a:r>
              <a:rPr lang="en-US" sz="2400" dirty="0"/>
              <a:t>then it is called </a:t>
            </a:r>
            <a:r>
              <a:rPr lang="en-US" sz="2400" b="1" dirty="0"/>
              <a:t> asymmetrical or skewed. </a:t>
            </a:r>
            <a:r>
              <a:rPr lang="en-US" sz="2400" dirty="0"/>
              <a:t>We can measure the shape by using </a:t>
            </a:r>
            <a:r>
              <a:rPr lang="en-US" sz="2400" dirty="0">
                <a:solidFill>
                  <a:srgbClr val="FF0000"/>
                </a:solidFill>
              </a:rPr>
              <a:t>skewness and kurtosis </a:t>
            </a:r>
            <a:r>
              <a:rPr lang="en-US" sz="2400" dirty="0"/>
              <a:t>and also by picturing the data as follow.</a:t>
            </a:r>
          </a:p>
          <a:p>
            <a:endParaRPr lang="en-US" dirty="0"/>
          </a:p>
          <a:p>
            <a:endParaRPr lang="en-US" b="1" dirty="0"/>
          </a:p>
        </p:txBody>
      </p:sp>
      <p:pic>
        <p:nvPicPr>
          <p:cNvPr id="4" name="Picture 3"/>
          <p:cNvPicPr>
            <a:picLocks noChangeAspect="1"/>
          </p:cNvPicPr>
          <p:nvPr/>
        </p:nvPicPr>
        <p:blipFill>
          <a:blip r:embed="rId2"/>
          <a:stretch>
            <a:fillRect/>
          </a:stretch>
        </p:blipFill>
        <p:spPr>
          <a:xfrm>
            <a:off x="838200" y="3424844"/>
            <a:ext cx="10515600" cy="3433156"/>
          </a:xfrm>
          <a:prstGeom prst="rect">
            <a:avLst/>
          </a:prstGeom>
        </p:spPr>
      </p:pic>
    </p:spTree>
    <p:extLst>
      <p:ext uri="{BB962C8B-B14F-4D97-AF65-F5344CB8AC3E}">
        <p14:creationId xmlns:p14="http://schemas.microsoft.com/office/powerpoint/2010/main" val="7881758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a:xfrm>
            <a:off x="838200" y="1690688"/>
            <a:ext cx="10515600" cy="5042621"/>
          </a:xfrm>
        </p:spPr>
        <p:txBody>
          <a:bodyPr/>
          <a:lstStyle/>
          <a:p>
            <a:endParaRPr lang="en-US" dirty="0"/>
          </a:p>
          <a:p>
            <a:endParaRPr lang="en-US" b="1" dirty="0"/>
          </a:p>
        </p:txBody>
      </p:sp>
      <p:pic>
        <p:nvPicPr>
          <p:cNvPr id="6" name="Picture 5"/>
          <p:cNvPicPr>
            <a:picLocks noChangeAspect="1"/>
          </p:cNvPicPr>
          <p:nvPr/>
        </p:nvPicPr>
        <p:blipFill>
          <a:blip r:embed="rId2"/>
          <a:stretch>
            <a:fillRect/>
          </a:stretch>
        </p:blipFill>
        <p:spPr>
          <a:xfrm>
            <a:off x="838199" y="1862137"/>
            <a:ext cx="11032375" cy="4638416"/>
          </a:xfrm>
          <a:prstGeom prst="rect">
            <a:avLst/>
          </a:prstGeom>
        </p:spPr>
      </p:pic>
    </p:spTree>
    <p:extLst>
      <p:ext uri="{BB962C8B-B14F-4D97-AF65-F5344CB8AC3E}">
        <p14:creationId xmlns:p14="http://schemas.microsoft.com/office/powerpoint/2010/main" val="25058375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a:xfrm>
            <a:off x="838200" y="1690688"/>
            <a:ext cx="10515600" cy="5042621"/>
          </a:xfrm>
        </p:spPr>
        <p:txBody>
          <a:bodyPr/>
          <a:lstStyle/>
          <a:p>
            <a:endParaRPr lang="en-US" dirty="0"/>
          </a:p>
          <a:p>
            <a:endParaRPr lang="en-US" b="1" dirty="0"/>
          </a:p>
        </p:txBody>
      </p:sp>
      <p:pic>
        <p:nvPicPr>
          <p:cNvPr id="4" name="Picture 3"/>
          <p:cNvPicPr>
            <a:picLocks noChangeAspect="1"/>
          </p:cNvPicPr>
          <p:nvPr/>
        </p:nvPicPr>
        <p:blipFill>
          <a:blip r:embed="rId2"/>
          <a:stretch>
            <a:fillRect/>
          </a:stretch>
        </p:blipFill>
        <p:spPr>
          <a:xfrm>
            <a:off x="969817" y="1814599"/>
            <a:ext cx="4649587" cy="3073286"/>
          </a:xfrm>
          <a:prstGeom prst="rect">
            <a:avLst/>
          </a:prstGeom>
        </p:spPr>
      </p:pic>
      <p:pic>
        <p:nvPicPr>
          <p:cNvPr id="5" name="Picture 4"/>
          <p:cNvPicPr>
            <a:picLocks noChangeAspect="1"/>
          </p:cNvPicPr>
          <p:nvPr/>
        </p:nvPicPr>
        <p:blipFill>
          <a:blip r:embed="rId3"/>
          <a:stretch>
            <a:fillRect/>
          </a:stretch>
        </p:blipFill>
        <p:spPr>
          <a:xfrm>
            <a:off x="5638800" y="1814599"/>
            <a:ext cx="6553200" cy="3073286"/>
          </a:xfrm>
          <a:prstGeom prst="rect">
            <a:avLst/>
          </a:prstGeom>
        </p:spPr>
      </p:pic>
      <p:pic>
        <p:nvPicPr>
          <p:cNvPr id="8" name="Picture 7"/>
          <p:cNvPicPr>
            <a:picLocks noChangeAspect="1"/>
          </p:cNvPicPr>
          <p:nvPr/>
        </p:nvPicPr>
        <p:blipFill>
          <a:blip r:embed="rId4"/>
          <a:stretch>
            <a:fillRect/>
          </a:stretch>
        </p:blipFill>
        <p:spPr>
          <a:xfrm>
            <a:off x="969816" y="5009284"/>
            <a:ext cx="7376161" cy="1724025"/>
          </a:xfrm>
          <a:prstGeom prst="rect">
            <a:avLst/>
          </a:prstGeom>
        </p:spPr>
      </p:pic>
    </p:spTree>
    <p:extLst>
      <p:ext uri="{BB962C8B-B14F-4D97-AF65-F5344CB8AC3E}">
        <p14:creationId xmlns:p14="http://schemas.microsoft.com/office/powerpoint/2010/main" val="30999508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a:xfrm>
            <a:off x="838200" y="1690688"/>
            <a:ext cx="10515600" cy="5042621"/>
          </a:xfrm>
        </p:spPr>
        <p:txBody>
          <a:bodyPr/>
          <a:lstStyle/>
          <a:p>
            <a:endParaRPr lang="en-US" dirty="0"/>
          </a:p>
          <a:p>
            <a:endParaRPr lang="en-US" b="1" dirty="0"/>
          </a:p>
        </p:txBody>
      </p:sp>
      <p:pic>
        <p:nvPicPr>
          <p:cNvPr id="6" name="Picture 5"/>
          <p:cNvPicPr>
            <a:picLocks noChangeAspect="1"/>
          </p:cNvPicPr>
          <p:nvPr/>
        </p:nvPicPr>
        <p:blipFill>
          <a:blip r:embed="rId2"/>
          <a:stretch>
            <a:fillRect/>
          </a:stretch>
        </p:blipFill>
        <p:spPr>
          <a:xfrm>
            <a:off x="1280160" y="1690688"/>
            <a:ext cx="10557164" cy="5042621"/>
          </a:xfrm>
          <a:prstGeom prst="rect">
            <a:avLst/>
          </a:prstGeom>
        </p:spPr>
      </p:pic>
    </p:spTree>
    <p:extLst>
      <p:ext uri="{BB962C8B-B14F-4D97-AF65-F5344CB8AC3E}">
        <p14:creationId xmlns:p14="http://schemas.microsoft.com/office/powerpoint/2010/main" val="31950292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a:xfrm>
            <a:off x="838200" y="1690688"/>
            <a:ext cx="10515600" cy="5042621"/>
          </a:xfrm>
        </p:spPr>
        <p:txBody>
          <a:bodyPr/>
          <a:lstStyle/>
          <a:p>
            <a:endParaRPr lang="en-US" dirty="0"/>
          </a:p>
          <a:p>
            <a:endParaRPr lang="en-US" b="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225" y="1911228"/>
            <a:ext cx="10372725" cy="4208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79854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p:txBody>
          <a:bodyPr/>
          <a:lstStyle/>
          <a:p>
            <a:r>
              <a:rPr lang="en-US" dirty="0"/>
              <a:t>If we want to compare the two numeric variables, we can use the “</a:t>
            </a:r>
            <a:r>
              <a:rPr lang="en-US" b="1" dirty="0"/>
              <a:t>scatter diagram</a:t>
            </a:r>
            <a:r>
              <a:rPr lang="en-US" dirty="0"/>
              <a:t>”. Based on our case study, two variables can be Return from 1999 and Return from Q1 2000. </a:t>
            </a:r>
          </a:p>
          <a:p>
            <a:r>
              <a:rPr lang="en-US" dirty="0"/>
              <a:t>We can plot these two variables and discover the pattern from them as like whether returns from 1999 is same across the range of returns from Q1 2000, whether Q1 2000 returns is increase across the range of 1999 returns. </a:t>
            </a:r>
          </a:p>
          <a:p>
            <a:r>
              <a:rPr lang="en-US" b="1" dirty="0">
                <a:solidFill>
                  <a:srgbClr val="FF0000"/>
                </a:solidFill>
              </a:rPr>
              <a:t>From the scatter plot, we can not say due to change in one variable affect the other variable. We can not say due to change in 1999 return, Q1 2000 return also changed. </a:t>
            </a:r>
          </a:p>
          <a:p>
            <a:endParaRPr lang="en-US" dirty="0"/>
          </a:p>
        </p:txBody>
      </p:sp>
    </p:spTree>
    <p:extLst>
      <p:ext uri="{BB962C8B-B14F-4D97-AF65-F5344CB8AC3E}">
        <p14:creationId xmlns:p14="http://schemas.microsoft.com/office/powerpoint/2010/main" val="8283722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558850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 and Picturing Distributions</a:t>
            </a:r>
          </a:p>
        </p:txBody>
      </p:sp>
      <p:sp>
        <p:nvSpPr>
          <p:cNvPr id="3" name="Content Placeholder 2"/>
          <p:cNvSpPr>
            <a:spLocks noGrp="1"/>
          </p:cNvSpPr>
          <p:nvPr>
            <p:ph idx="1"/>
          </p:nvPr>
        </p:nvSpPr>
        <p:spPr/>
        <p:txBody>
          <a:bodyPr/>
          <a:lstStyle/>
          <a:p>
            <a:r>
              <a:rPr lang="en-US" dirty="0"/>
              <a:t>Once we are done with the descriptive measures and visual analysis of data, the next step is to measure how well our sample estimate is. We can check it by using “Standard Error of the Mean” and “Confidence Interval of the Mean” </a:t>
            </a:r>
          </a:p>
          <a:p>
            <a:r>
              <a:rPr lang="en-US" dirty="0"/>
              <a:t>There can be n-number of samples. Suppose you select a sample of funds and analyze the returns out of it. Tomorrow’s sample can have different values. So we need to check the precision of our sample.  </a:t>
            </a:r>
          </a:p>
        </p:txBody>
      </p:sp>
    </p:spTree>
    <p:extLst>
      <p:ext uri="{BB962C8B-B14F-4D97-AF65-F5344CB8AC3E}">
        <p14:creationId xmlns:p14="http://schemas.microsoft.com/office/powerpoint/2010/main" val="13437266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Error of the Mean</a:t>
            </a:r>
          </a:p>
        </p:txBody>
      </p:sp>
      <p:pic>
        <p:nvPicPr>
          <p:cNvPr id="4" name="Content Placeholder 3"/>
          <p:cNvPicPr>
            <a:picLocks noGrp="1" noChangeAspect="1"/>
          </p:cNvPicPr>
          <p:nvPr>
            <p:ph idx="1"/>
          </p:nvPr>
        </p:nvPicPr>
        <p:blipFill>
          <a:blip r:embed="rId2"/>
          <a:stretch>
            <a:fillRect/>
          </a:stretch>
        </p:blipFill>
        <p:spPr>
          <a:xfrm>
            <a:off x="955875" y="1822580"/>
            <a:ext cx="9750917" cy="4711224"/>
          </a:xfrm>
          <a:prstGeom prst="rect">
            <a:avLst/>
          </a:prstGeom>
        </p:spPr>
      </p:pic>
    </p:spTree>
    <p:extLst>
      <p:ext uri="{BB962C8B-B14F-4D97-AF65-F5344CB8AC3E}">
        <p14:creationId xmlns:p14="http://schemas.microsoft.com/office/powerpoint/2010/main" val="39991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Confidence Interval (CI)</a:t>
            </a:r>
          </a:p>
        </p:txBody>
      </p:sp>
      <p:pic>
        <p:nvPicPr>
          <p:cNvPr id="5" name="Picture 4"/>
          <p:cNvPicPr>
            <a:picLocks noChangeAspect="1"/>
          </p:cNvPicPr>
          <p:nvPr/>
        </p:nvPicPr>
        <p:blipFill>
          <a:blip r:embed="rId2"/>
          <a:stretch>
            <a:fillRect/>
          </a:stretch>
        </p:blipFill>
        <p:spPr>
          <a:xfrm>
            <a:off x="954579" y="1690688"/>
            <a:ext cx="10399221" cy="4776614"/>
          </a:xfrm>
          <a:prstGeom prst="rect">
            <a:avLst/>
          </a:prstGeom>
        </p:spPr>
      </p:pic>
    </p:spTree>
    <p:extLst>
      <p:ext uri="{BB962C8B-B14F-4D97-AF65-F5344CB8AC3E}">
        <p14:creationId xmlns:p14="http://schemas.microsoft.com/office/powerpoint/2010/main" val="28384221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Confidence Interval (CI)</a:t>
            </a:r>
          </a:p>
        </p:txBody>
      </p:sp>
      <p:pic>
        <p:nvPicPr>
          <p:cNvPr id="3" name="Picture 2"/>
          <p:cNvPicPr>
            <a:picLocks noChangeAspect="1"/>
          </p:cNvPicPr>
          <p:nvPr/>
        </p:nvPicPr>
        <p:blipFill>
          <a:blip r:embed="rId2"/>
          <a:stretch>
            <a:fillRect/>
          </a:stretch>
        </p:blipFill>
        <p:spPr>
          <a:xfrm>
            <a:off x="991292" y="1815205"/>
            <a:ext cx="10962410" cy="4801726"/>
          </a:xfrm>
          <a:prstGeom prst="rect">
            <a:avLst/>
          </a:prstGeom>
        </p:spPr>
      </p:pic>
    </p:spTree>
    <p:extLst>
      <p:ext uri="{BB962C8B-B14F-4D97-AF65-F5344CB8AC3E}">
        <p14:creationId xmlns:p14="http://schemas.microsoft.com/office/powerpoint/2010/main" val="30977323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3229876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Q&amp;A</a:t>
            </a:r>
          </a:p>
        </p:txBody>
      </p:sp>
    </p:spTree>
    <p:extLst>
      <p:ext uri="{BB962C8B-B14F-4D97-AF65-F5344CB8AC3E}">
        <p14:creationId xmlns:p14="http://schemas.microsoft.com/office/powerpoint/2010/main" val="3295833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712</TotalTime>
  <Words>1694</Words>
  <Application>Microsoft Office PowerPoint</Application>
  <PresentationFormat>Custom</PresentationFormat>
  <Paragraphs>114</Paragraphs>
  <Slides>33</Slides>
  <Notes>0</Notes>
  <HiddenSlides>0</HiddenSlides>
  <MMClips>0</MMClips>
  <ScaleCrop>false</ScaleCrop>
  <HeadingPairs>
    <vt:vector size="4" baseType="variant">
      <vt:variant>
        <vt:lpstr>Theme</vt:lpstr>
      </vt:variant>
      <vt:variant>
        <vt:i4>2</vt:i4>
      </vt:variant>
      <vt:variant>
        <vt:lpstr>Slide Titles</vt:lpstr>
      </vt:variant>
      <vt:variant>
        <vt:i4>33</vt:i4>
      </vt:variant>
    </vt:vector>
  </HeadingPairs>
  <TitlesOfParts>
    <vt:vector size="35" baseType="lpstr">
      <vt:lpstr>Office Theme</vt:lpstr>
      <vt:lpstr>1_Office Theme</vt:lpstr>
      <vt:lpstr>Introduction to Data Science</vt:lpstr>
      <vt:lpstr>Disclaimer</vt:lpstr>
      <vt:lpstr>Definition of Data</vt:lpstr>
      <vt:lpstr>Difference between data management and Data analytics </vt:lpstr>
      <vt:lpstr>Difference between data management and Data analytics </vt:lpstr>
      <vt:lpstr>Levels of Measurement and Variable types</vt:lpstr>
      <vt:lpstr>Levels of Measurement and Variable types</vt:lpstr>
      <vt:lpstr>Levels of Measurement and Variable types</vt:lpstr>
      <vt:lpstr>Descriptive Statistics and Picturing Distributions</vt:lpstr>
      <vt:lpstr>Descriptive Statistics and Picturing Distributions</vt:lpstr>
      <vt:lpstr>Descriptive Statistics and Picturing Distributions</vt:lpstr>
      <vt:lpstr>Descriptive Statistics and Picturing Distributions</vt:lpstr>
      <vt:lpstr>Descriptive Statistics and Picturing Distributions</vt:lpstr>
      <vt:lpstr>Descriptive Statistics and Picturing Distributions</vt:lpstr>
      <vt:lpstr>Descriptive Statistics and Picturing Distributions</vt:lpstr>
      <vt:lpstr>Descriptive Statistics and Picturing Distributions</vt:lpstr>
      <vt:lpstr>Descriptive Statistics and Picturing Distributions</vt:lpstr>
      <vt:lpstr>Descriptive Statistics and Picturing Distributions</vt:lpstr>
      <vt:lpstr>PowerPoint Presentation</vt:lpstr>
      <vt:lpstr>Descriptive Statistics and Picturing Distributions</vt:lpstr>
      <vt:lpstr>Descriptive Statistics and Picturing Distributions</vt:lpstr>
      <vt:lpstr>Descriptive Statistics and Picturing Distributions</vt:lpstr>
      <vt:lpstr>Descriptive Statistics and Picturing Distributions</vt:lpstr>
      <vt:lpstr>Descriptive Statistics and Picturing Distributions</vt:lpstr>
      <vt:lpstr>Descriptive Statistics and Picturing Distributions</vt:lpstr>
      <vt:lpstr>Descriptive Statistics and Picturing Distributions</vt:lpstr>
      <vt:lpstr>PowerPoint Presentation</vt:lpstr>
      <vt:lpstr>Descriptive Statistics and Picturing Distributions</vt:lpstr>
      <vt:lpstr>Standard Error of the Mean</vt:lpstr>
      <vt:lpstr>Confidence Interval (CI)</vt:lpstr>
      <vt:lpstr>Confidence Interval (CI)</vt:lpstr>
      <vt:lpstr>PowerPoint Presentation</vt:lpstr>
      <vt:lpstr>Q&amp;A</vt:lpstr>
    </vt:vector>
  </TitlesOfParts>
  <Company>SAS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by using SAS (Demo)</dc:title>
  <dc:creator>Urvish Shah</dc:creator>
  <cp:lastModifiedBy>SONY</cp:lastModifiedBy>
  <cp:revision>326</cp:revision>
  <dcterms:created xsi:type="dcterms:W3CDTF">2015-11-18T16:05:43Z</dcterms:created>
  <dcterms:modified xsi:type="dcterms:W3CDTF">2020-03-22T05:41:38Z</dcterms:modified>
</cp:coreProperties>
</file>