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48" r:id="rId1"/>
    <p:sldMasterId id="2147483660" r:id="rId2"/>
  </p:sldMasterIdLst>
  <p:notesMasterIdLst>
    <p:notesMasterId r:id="rId36"/>
  </p:notesMasterIdLst>
  <p:sldIdLst>
    <p:sldId id="297" r:id="rId3"/>
    <p:sldId id="257" r:id="rId4"/>
    <p:sldId id="358" r:id="rId5"/>
    <p:sldId id="359" r:id="rId6"/>
    <p:sldId id="360" r:id="rId7"/>
    <p:sldId id="361" r:id="rId8"/>
    <p:sldId id="362" r:id="rId9"/>
    <p:sldId id="363" r:id="rId10"/>
    <p:sldId id="364" r:id="rId11"/>
    <p:sldId id="365" r:id="rId12"/>
    <p:sldId id="366" r:id="rId13"/>
    <p:sldId id="367" r:id="rId14"/>
    <p:sldId id="368" r:id="rId15"/>
    <p:sldId id="369" r:id="rId16"/>
    <p:sldId id="370" r:id="rId17"/>
    <p:sldId id="371" r:id="rId18"/>
    <p:sldId id="372" r:id="rId19"/>
    <p:sldId id="373" r:id="rId20"/>
    <p:sldId id="374" r:id="rId21"/>
    <p:sldId id="375" r:id="rId22"/>
    <p:sldId id="376" r:id="rId23"/>
    <p:sldId id="377" r:id="rId24"/>
    <p:sldId id="378" r:id="rId25"/>
    <p:sldId id="379" r:id="rId26"/>
    <p:sldId id="380" r:id="rId27"/>
    <p:sldId id="381" r:id="rId28"/>
    <p:sldId id="382" r:id="rId29"/>
    <p:sldId id="383" r:id="rId30"/>
    <p:sldId id="384" r:id="rId31"/>
    <p:sldId id="385" r:id="rId32"/>
    <p:sldId id="386" r:id="rId33"/>
    <p:sldId id="357" r:id="rId34"/>
    <p:sldId id="270"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30" autoAdjust="0"/>
    <p:restoredTop sz="91499" autoAdjust="0"/>
  </p:normalViewPr>
  <p:slideViewPr>
    <p:cSldViewPr snapToGrid="0">
      <p:cViewPr varScale="1">
        <p:scale>
          <a:sx n="79" d="100"/>
          <a:sy n="79" d="100"/>
        </p:scale>
        <p:origin x="821" y="67"/>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heme" Target="theme/theme1.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6C100F-DE61-4D54-8450-A9B8CE5023B1}" type="datetimeFigureOut">
              <a:rPr lang="en-US" smtClean="0"/>
              <a:t>8/25/2020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039B35-E5C0-4422-AAF8-BFFA2F238F42}" type="slidenum">
              <a:rPr lang="en-US" smtClean="0"/>
              <a:t>‹#›</a:t>
            </a:fld>
            <a:endParaRPr lang="en-US"/>
          </a:p>
        </p:txBody>
      </p:sp>
    </p:spTree>
    <p:extLst>
      <p:ext uri="{BB962C8B-B14F-4D97-AF65-F5344CB8AC3E}">
        <p14:creationId xmlns:p14="http://schemas.microsoft.com/office/powerpoint/2010/main" val="40840851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5D8468DF-067B-4708-BF4E-888660123DFC}" type="datetimeFigureOut">
              <a:rPr lang="en-US" smtClean="0"/>
              <a:t>8/25/2020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26921505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D8468DF-067B-4708-BF4E-888660123DFC}" type="datetimeFigureOut">
              <a:rPr lang="en-US" smtClean="0"/>
              <a:t>8/25/2020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12111062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8468DF-067B-4708-BF4E-888660123DFC}" type="datetimeFigureOut">
              <a:rPr lang="en-US" smtClean="0"/>
              <a:t>8/25/2020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17491000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D8468DF-067B-4708-BF4E-888660123DFC}" type="datetimeFigureOut">
              <a:rPr lang="en-US" smtClean="0"/>
              <a:t>8/25/2020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12836158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D8468DF-067B-4708-BF4E-888660123DFC}" type="datetimeFigureOut">
              <a:rPr lang="en-US" smtClean="0"/>
              <a:t>8/25/2020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24743619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D8468DF-067B-4708-BF4E-888660123DFC}" type="datetimeFigureOut">
              <a:rPr lang="en-US" smtClean="0"/>
              <a:t>8/25/2020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27328681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D8468DF-067B-4708-BF4E-888660123DFC}" type="datetimeFigureOut">
              <a:rPr lang="en-US" smtClean="0"/>
              <a:t>8/25/2020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33220553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D8468DF-067B-4708-BF4E-888660123DFC}" type="datetimeFigureOut">
              <a:rPr lang="en-US" smtClean="0"/>
              <a:t>8/25/2020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31230739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D8468DF-067B-4708-BF4E-888660123DFC}" type="datetimeFigureOut">
              <a:rPr lang="en-US" smtClean="0"/>
              <a:t>8/25/2020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35356427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D8468DF-067B-4708-BF4E-888660123DFC}" type="datetimeFigureOut">
              <a:rPr lang="en-US" smtClean="0"/>
              <a:t>8/25/2020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3909418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D8468DF-067B-4708-BF4E-888660123DFC}" type="datetimeFigureOut">
              <a:rPr lang="en-US" smtClean="0"/>
              <a:t>8/25/2020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3212487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5D8468DF-067B-4708-BF4E-888660123DFC}" type="datetimeFigureOut">
              <a:rPr lang="en-US" smtClean="0"/>
              <a:t>8/25/2020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4387140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D8468DF-067B-4708-BF4E-888660123DFC}" type="datetimeFigureOut">
              <a:rPr lang="en-US" smtClean="0"/>
              <a:t>8/25/2020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20216806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8468DF-067B-4708-BF4E-888660123DFC}" type="datetimeFigureOut">
              <a:rPr lang="en-US" smtClean="0"/>
              <a:t>8/25/2020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8466198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D8468DF-067B-4708-BF4E-888660123DFC}" type="datetimeFigureOut">
              <a:rPr lang="en-US" smtClean="0"/>
              <a:t>8/25/2020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366152897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D8468DF-067B-4708-BF4E-888660123DFC}" type="datetimeFigureOut">
              <a:rPr lang="en-US" smtClean="0"/>
              <a:t>8/25/2020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15390511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D8468DF-067B-4708-BF4E-888660123DFC}" type="datetimeFigureOut">
              <a:rPr lang="en-US" smtClean="0"/>
              <a:t>8/25/2020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141859887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D8468DF-067B-4708-BF4E-888660123DFC}" type="datetimeFigureOut">
              <a:rPr lang="en-US" smtClean="0"/>
              <a:t>8/25/2020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207577413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D8468DF-067B-4708-BF4E-888660123DFC}" type="datetimeFigureOut">
              <a:rPr lang="en-US" smtClean="0"/>
              <a:t>8/25/2020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110167922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D8468DF-067B-4708-BF4E-888660123DFC}" type="datetimeFigureOut">
              <a:rPr lang="en-US" smtClean="0"/>
              <a:t>8/25/2020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19157014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D8468DF-067B-4708-BF4E-888660123DFC}" type="datetimeFigureOut">
              <a:rPr lang="en-US" smtClean="0"/>
              <a:t>8/25/2020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350005334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D8468DF-067B-4708-BF4E-888660123DFC}" type="datetimeFigureOut">
              <a:rPr lang="en-US" smtClean="0"/>
              <a:t>8/25/2020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25175090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8468DF-067B-4708-BF4E-888660123DFC}" type="datetimeFigureOut">
              <a:rPr lang="en-US" smtClean="0"/>
              <a:t>8/25/2020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3308E4-E9C4-4172-8EDE-CEB6C8BD43E6}" type="slidenum">
              <a:rPr lang="en-US" smtClean="0"/>
              <a:t>‹#›</a:t>
            </a:fld>
            <a:endParaRPr lang="en-US"/>
          </a:p>
        </p:txBody>
      </p:sp>
    </p:spTree>
    <p:extLst>
      <p:ext uri="{BB962C8B-B14F-4D97-AF65-F5344CB8AC3E}">
        <p14:creationId xmlns:p14="http://schemas.microsoft.com/office/powerpoint/2010/main" val="42179038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8468DF-067B-4708-BF4E-888660123DFC}" type="datetimeFigureOut">
              <a:rPr lang="en-US" smtClean="0"/>
              <a:t>8/25/2020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3308E4-E9C4-4172-8EDE-CEB6C8BD43E6}" type="slidenum">
              <a:rPr lang="en-US" smtClean="0"/>
              <a:t>‹#›</a:t>
            </a:fld>
            <a:endParaRPr lang="en-US"/>
          </a:p>
        </p:txBody>
      </p:sp>
    </p:spTree>
    <p:extLst>
      <p:ext uri="{BB962C8B-B14F-4D97-AF65-F5344CB8AC3E}">
        <p14:creationId xmlns:p14="http://schemas.microsoft.com/office/powerpoint/2010/main" val="32919806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3183014"/>
            <a:ext cx="9144000" cy="2092745"/>
          </a:xfrm>
        </p:spPr>
        <p:txBody>
          <a:bodyPr>
            <a:noAutofit/>
          </a:bodyPr>
          <a:lstStyle/>
          <a:p>
            <a:r>
              <a:rPr lang="en-US" sz="8000" dirty="0"/>
              <a:t>Gradient Boosting (XGBOOST)</a:t>
            </a:r>
            <a:br>
              <a:rPr lang="en-US" sz="8000" dirty="0"/>
            </a:br>
            <a:r>
              <a:rPr lang="en-US" sz="8000" dirty="0"/>
              <a:t>Tree</a:t>
            </a:r>
          </a:p>
        </p:txBody>
      </p:sp>
    </p:spTree>
    <p:extLst>
      <p:ext uri="{BB962C8B-B14F-4D97-AF65-F5344CB8AC3E}">
        <p14:creationId xmlns:p14="http://schemas.microsoft.com/office/powerpoint/2010/main" val="14288813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Introduction to Gradient Boosting</a:t>
            </a:r>
          </a:p>
        </p:txBody>
      </p:sp>
      <p:sp>
        <p:nvSpPr>
          <p:cNvPr id="2" name="Content Placeholder 1">
            <a:extLst>
              <a:ext uri="{FF2B5EF4-FFF2-40B4-BE49-F238E27FC236}">
                <a16:creationId xmlns:a16="http://schemas.microsoft.com/office/drawing/2014/main" id="{1277C040-5BF8-46E5-85D7-1146E5BA4E33}"/>
              </a:ext>
            </a:extLst>
          </p:cNvPr>
          <p:cNvSpPr>
            <a:spLocks noGrp="1"/>
          </p:cNvSpPr>
          <p:nvPr>
            <p:ph idx="1"/>
          </p:nvPr>
        </p:nvSpPr>
        <p:spPr/>
        <p:txBody>
          <a:bodyPr>
            <a:normAutofit fontScale="92500" lnSpcReduction="10000"/>
          </a:bodyPr>
          <a:lstStyle/>
          <a:p>
            <a:r>
              <a:rPr lang="en-US" dirty="0"/>
              <a:t>Gradient Boosted Tress, which is one of the most commonly used “Boosting” algorithm. This is a type of Supervised Learning algorithm.</a:t>
            </a:r>
          </a:p>
          <a:p>
            <a:pPr marL="0" indent="0">
              <a:buNone/>
            </a:pPr>
            <a:endParaRPr lang="en-US" dirty="0"/>
          </a:p>
          <a:p>
            <a:r>
              <a:rPr lang="en-US" dirty="0"/>
              <a:t>There are different boosting algorithm exists. Here, we will only consider Gradient Boosting algorithm. </a:t>
            </a:r>
          </a:p>
          <a:p>
            <a:pPr marL="0" indent="0">
              <a:buNone/>
            </a:pPr>
            <a:endParaRPr lang="en-US" dirty="0"/>
          </a:p>
          <a:p>
            <a:r>
              <a:rPr lang="en-US" dirty="0"/>
              <a:t>Boosting is collection of </a:t>
            </a:r>
            <a:r>
              <a:rPr lang="en-US" i="1" dirty="0">
                <a:solidFill>
                  <a:srgbClr val="FF0000"/>
                </a:solidFill>
              </a:rPr>
              <a:t>weak learners </a:t>
            </a:r>
            <a:r>
              <a:rPr lang="en-US" dirty="0"/>
              <a:t>combined to form a </a:t>
            </a:r>
            <a:r>
              <a:rPr lang="en-US" i="1" dirty="0">
                <a:solidFill>
                  <a:srgbClr val="FF0000"/>
                </a:solidFill>
              </a:rPr>
              <a:t>stronger learner. </a:t>
            </a:r>
          </a:p>
          <a:p>
            <a:pPr marL="0" indent="0">
              <a:buNone/>
            </a:pPr>
            <a:endParaRPr lang="en-US" i="1" dirty="0"/>
          </a:p>
          <a:p>
            <a:r>
              <a:rPr lang="en-US" dirty="0"/>
              <a:t>Gradient Boosting can be applied for both </a:t>
            </a:r>
            <a:r>
              <a:rPr lang="en-US" dirty="0">
                <a:solidFill>
                  <a:srgbClr val="FF0000"/>
                </a:solidFill>
              </a:rPr>
              <a:t>“Regression and Classification”</a:t>
            </a:r>
          </a:p>
          <a:p>
            <a:endParaRPr lang="en-IN" dirty="0"/>
          </a:p>
        </p:txBody>
      </p:sp>
    </p:spTree>
    <p:extLst>
      <p:ext uri="{BB962C8B-B14F-4D97-AF65-F5344CB8AC3E}">
        <p14:creationId xmlns:p14="http://schemas.microsoft.com/office/powerpoint/2010/main" val="8164141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Introduction to Gradient Boosting</a:t>
            </a:r>
          </a:p>
        </p:txBody>
      </p:sp>
      <p:sp>
        <p:nvSpPr>
          <p:cNvPr id="5" name="Content Placeholder 4">
            <a:extLst>
              <a:ext uri="{FF2B5EF4-FFF2-40B4-BE49-F238E27FC236}">
                <a16:creationId xmlns:a16="http://schemas.microsoft.com/office/drawing/2014/main" id="{8A13740A-9AE5-48F0-95AD-533D4FD7CFE7}"/>
              </a:ext>
            </a:extLst>
          </p:cNvPr>
          <p:cNvSpPr>
            <a:spLocks noGrp="1"/>
          </p:cNvSpPr>
          <p:nvPr>
            <p:ph idx="1"/>
          </p:nvPr>
        </p:nvSpPr>
        <p:spPr/>
        <p:txBody>
          <a:bodyPr/>
          <a:lstStyle/>
          <a:p>
            <a:r>
              <a:rPr lang="en-US" dirty="0"/>
              <a:t>Gradient Boosting is a type of </a:t>
            </a:r>
            <a:r>
              <a:rPr lang="en-US" i="1" dirty="0">
                <a:solidFill>
                  <a:srgbClr val="FF0000"/>
                </a:solidFill>
              </a:rPr>
              <a:t>Ensemble Learning. </a:t>
            </a:r>
          </a:p>
          <a:p>
            <a:pPr marL="0" indent="0">
              <a:buNone/>
            </a:pPr>
            <a:endParaRPr lang="en-US" dirty="0"/>
          </a:p>
          <a:p>
            <a:r>
              <a:rPr lang="en-US" dirty="0"/>
              <a:t>Ensemble Learning is the process by which multiple models, such as classifiers, experts, are generated and combined to solve a particular problem. </a:t>
            </a:r>
          </a:p>
          <a:p>
            <a:pPr marL="0" indent="0">
              <a:buNone/>
            </a:pPr>
            <a:endParaRPr lang="en-US" dirty="0"/>
          </a:p>
          <a:p>
            <a:r>
              <a:rPr lang="en-US" dirty="0"/>
              <a:t>Ensemble Learning is primarily used to improve the classification, prediction, function approximation and so on.</a:t>
            </a:r>
            <a:endParaRPr lang="en-IN" dirty="0"/>
          </a:p>
        </p:txBody>
      </p:sp>
    </p:spTree>
    <p:extLst>
      <p:ext uri="{BB962C8B-B14F-4D97-AF65-F5344CB8AC3E}">
        <p14:creationId xmlns:p14="http://schemas.microsoft.com/office/powerpoint/2010/main" val="13248879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Introduction to Gradient Boosting</a:t>
            </a:r>
          </a:p>
        </p:txBody>
      </p:sp>
      <p:sp>
        <p:nvSpPr>
          <p:cNvPr id="12" name="Content Placeholder 11">
            <a:extLst>
              <a:ext uri="{FF2B5EF4-FFF2-40B4-BE49-F238E27FC236}">
                <a16:creationId xmlns:a16="http://schemas.microsoft.com/office/drawing/2014/main" id="{DA2F98F5-EE91-49C3-8F40-9F4CD6AB8EB4}"/>
              </a:ext>
            </a:extLst>
          </p:cNvPr>
          <p:cNvSpPr>
            <a:spLocks noGrp="1"/>
          </p:cNvSpPr>
          <p:nvPr>
            <p:ph idx="1"/>
          </p:nvPr>
        </p:nvSpPr>
        <p:spPr/>
        <p:txBody>
          <a:bodyPr/>
          <a:lstStyle/>
          <a:p>
            <a:r>
              <a:rPr lang="en-US" dirty="0"/>
              <a:t>Gradient Boosting algorithm can be classified into two key features:</a:t>
            </a:r>
          </a:p>
          <a:p>
            <a:pPr marL="0" indent="0">
              <a:buNone/>
            </a:pPr>
            <a:endParaRPr lang="en-US" dirty="0"/>
          </a:p>
          <a:p>
            <a:pPr marL="971550" lvl="1" indent="-514350">
              <a:buFont typeface="+mj-lt"/>
              <a:buAutoNum type="arabicPeriod"/>
            </a:pPr>
            <a:r>
              <a:rPr lang="en-US" dirty="0"/>
              <a:t>                   Multiple Iterations</a:t>
            </a:r>
          </a:p>
          <a:p>
            <a:pPr marL="971550" lvl="1" indent="-514350">
              <a:buFont typeface="+mj-lt"/>
              <a:buAutoNum type="arabicPeriod"/>
            </a:pPr>
            <a:r>
              <a:rPr lang="en-US" dirty="0"/>
              <a:t>                   Each subsequent iteration focus on the parts of the problem that 	      previous iteration got wrong.</a:t>
            </a:r>
            <a:endParaRPr lang="en-IN" dirty="0"/>
          </a:p>
        </p:txBody>
      </p:sp>
    </p:spTree>
    <p:extLst>
      <p:ext uri="{BB962C8B-B14F-4D97-AF65-F5344CB8AC3E}">
        <p14:creationId xmlns:p14="http://schemas.microsoft.com/office/powerpoint/2010/main" val="240821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Introduction to Gradient Boosting</a:t>
            </a:r>
          </a:p>
        </p:txBody>
      </p:sp>
      <p:pic>
        <p:nvPicPr>
          <p:cNvPr id="9" name="Picture 8">
            <a:extLst>
              <a:ext uri="{FF2B5EF4-FFF2-40B4-BE49-F238E27FC236}">
                <a16:creationId xmlns:a16="http://schemas.microsoft.com/office/drawing/2014/main" id="{BB26F4FC-8BE6-485C-B078-16B19CAC1014}"/>
              </a:ext>
            </a:extLst>
          </p:cNvPr>
          <p:cNvPicPr>
            <a:picLocks noChangeAspect="1"/>
          </p:cNvPicPr>
          <p:nvPr/>
        </p:nvPicPr>
        <p:blipFill>
          <a:blip r:embed="rId2"/>
          <a:stretch>
            <a:fillRect/>
          </a:stretch>
        </p:blipFill>
        <p:spPr>
          <a:xfrm>
            <a:off x="307535" y="1644734"/>
            <a:ext cx="5788465" cy="4894093"/>
          </a:xfrm>
          <a:prstGeom prst="rect">
            <a:avLst/>
          </a:prstGeom>
        </p:spPr>
      </p:pic>
      <p:pic>
        <p:nvPicPr>
          <p:cNvPr id="11" name="Picture 10">
            <a:extLst>
              <a:ext uri="{FF2B5EF4-FFF2-40B4-BE49-F238E27FC236}">
                <a16:creationId xmlns:a16="http://schemas.microsoft.com/office/drawing/2014/main" id="{07D007FF-9BB3-458C-BD4D-527F9FF97521}"/>
              </a:ext>
            </a:extLst>
          </p:cNvPr>
          <p:cNvPicPr>
            <a:picLocks noChangeAspect="1"/>
          </p:cNvPicPr>
          <p:nvPr/>
        </p:nvPicPr>
        <p:blipFill>
          <a:blip r:embed="rId3"/>
          <a:stretch>
            <a:fillRect/>
          </a:stretch>
        </p:blipFill>
        <p:spPr>
          <a:xfrm>
            <a:off x="6352162" y="1644733"/>
            <a:ext cx="5788465" cy="4894093"/>
          </a:xfrm>
          <a:prstGeom prst="rect">
            <a:avLst/>
          </a:prstGeom>
        </p:spPr>
      </p:pic>
    </p:spTree>
    <p:extLst>
      <p:ext uri="{BB962C8B-B14F-4D97-AF65-F5344CB8AC3E}">
        <p14:creationId xmlns:p14="http://schemas.microsoft.com/office/powerpoint/2010/main" val="25325952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Introduction to Gradient Boosting</a:t>
            </a:r>
          </a:p>
        </p:txBody>
      </p:sp>
      <p:sp>
        <p:nvSpPr>
          <p:cNvPr id="12" name="Content Placeholder 11">
            <a:extLst>
              <a:ext uri="{FF2B5EF4-FFF2-40B4-BE49-F238E27FC236}">
                <a16:creationId xmlns:a16="http://schemas.microsoft.com/office/drawing/2014/main" id="{DA2F98F5-EE91-49C3-8F40-9F4CD6AB8EB4}"/>
              </a:ext>
            </a:extLst>
          </p:cNvPr>
          <p:cNvSpPr>
            <a:spLocks noGrp="1"/>
          </p:cNvSpPr>
          <p:nvPr>
            <p:ph idx="1"/>
          </p:nvPr>
        </p:nvSpPr>
        <p:spPr>
          <a:xfrm>
            <a:off x="350196" y="1825625"/>
            <a:ext cx="11760740" cy="4545992"/>
          </a:xfrm>
        </p:spPr>
        <p:txBody>
          <a:bodyPr>
            <a:noAutofit/>
          </a:bodyPr>
          <a:lstStyle/>
          <a:p>
            <a:r>
              <a:rPr lang="en-US" sz="2000" dirty="0"/>
              <a:t>Let’s understand the algorithm by taking very simple example. </a:t>
            </a:r>
          </a:p>
          <a:p>
            <a:pPr marL="0" indent="0">
              <a:buNone/>
            </a:pPr>
            <a:endParaRPr lang="en-US" sz="2000" dirty="0"/>
          </a:p>
          <a:p>
            <a:r>
              <a:rPr lang="en-US" sz="2000" dirty="0"/>
              <a:t>Suppose you are Data Science teacher and teaching a class of 20 students from different educational background. </a:t>
            </a:r>
          </a:p>
          <a:p>
            <a:pPr marL="0" indent="0">
              <a:buNone/>
            </a:pPr>
            <a:endParaRPr lang="en-US" sz="2000" dirty="0"/>
          </a:p>
          <a:p>
            <a:r>
              <a:rPr lang="en-US" sz="2000" dirty="0"/>
              <a:t>On the day 1, you knows nothing about the quality of those 20 students so you starts with standard/basic class (like basic stats)</a:t>
            </a:r>
          </a:p>
          <a:p>
            <a:pPr marL="0" indent="0">
              <a:buNone/>
            </a:pPr>
            <a:endParaRPr lang="en-US" sz="2000" dirty="0"/>
          </a:p>
          <a:p>
            <a:r>
              <a:rPr lang="en-US" sz="2000" dirty="0"/>
              <a:t>On day 2 or subsequent days, you have some background of how well each students are doing. So, you will focus more only on those students who are very weak in Data Science or worst students. Here, your goal is to make the best students perfect but you will bring weak students to average. </a:t>
            </a:r>
          </a:p>
          <a:p>
            <a:pPr marL="0" indent="0">
              <a:buNone/>
            </a:pPr>
            <a:endParaRPr lang="en-US" sz="2000" dirty="0"/>
          </a:p>
          <a:p>
            <a:r>
              <a:rPr lang="en-US" sz="2000" dirty="0"/>
              <a:t>So as a good teacher, you will first concentrate on weak students and will try to make them average. </a:t>
            </a:r>
            <a:endParaRPr lang="en-IN" sz="2000" dirty="0"/>
          </a:p>
        </p:txBody>
      </p:sp>
    </p:spTree>
    <p:extLst>
      <p:ext uri="{BB962C8B-B14F-4D97-AF65-F5344CB8AC3E}">
        <p14:creationId xmlns:p14="http://schemas.microsoft.com/office/powerpoint/2010/main" val="39856451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Introduction to Gradient Boosting</a:t>
            </a:r>
          </a:p>
        </p:txBody>
      </p:sp>
      <p:sp>
        <p:nvSpPr>
          <p:cNvPr id="12" name="Content Placeholder 11">
            <a:extLst>
              <a:ext uri="{FF2B5EF4-FFF2-40B4-BE49-F238E27FC236}">
                <a16:creationId xmlns:a16="http://schemas.microsoft.com/office/drawing/2014/main" id="{DA2F98F5-EE91-49C3-8F40-9F4CD6AB8EB4}"/>
              </a:ext>
            </a:extLst>
          </p:cNvPr>
          <p:cNvSpPr>
            <a:spLocks noGrp="1"/>
          </p:cNvSpPr>
          <p:nvPr>
            <p:ph idx="1"/>
          </p:nvPr>
        </p:nvSpPr>
        <p:spPr>
          <a:xfrm>
            <a:off x="350196" y="1825625"/>
            <a:ext cx="11760740" cy="4545992"/>
          </a:xfrm>
        </p:spPr>
        <p:txBody>
          <a:bodyPr>
            <a:noAutofit/>
          </a:bodyPr>
          <a:lstStyle/>
          <a:p>
            <a:r>
              <a:rPr lang="en-US" sz="2400" dirty="0"/>
              <a:t>Now let’s relate this example to Boosting. </a:t>
            </a:r>
          </a:p>
          <a:p>
            <a:pPr marL="0" indent="0">
              <a:buNone/>
            </a:pPr>
            <a:endParaRPr lang="en-US" sz="2400" dirty="0"/>
          </a:p>
          <a:p>
            <a:r>
              <a:rPr lang="en-US" sz="2400" dirty="0"/>
              <a:t>Simple, the iterations take place at each subsequent day at each new class. </a:t>
            </a:r>
          </a:p>
          <a:p>
            <a:pPr marL="0" indent="0">
              <a:buNone/>
            </a:pPr>
            <a:endParaRPr lang="en-US" sz="2400" dirty="0"/>
          </a:p>
          <a:p>
            <a:r>
              <a:rPr lang="en-US" sz="2400" dirty="0"/>
              <a:t>On each subsequent days, you will find weak students (errors) and will improve them. </a:t>
            </a:r>
          </a:p>
          <a:p>
            <a:endParaRPr lang="en-US" sz="2400" dirty="0"/>
          </a:p>
          <a:p>
            <a:r>
              <a:rPr lang="en-US" sz="2400" dirty="0"/>
              <a:t>Another way to interpret is, a group of daily instructions (the weak learners) can be combined to produce a good quality course (the strong learner)</a:t>
            </a:r>
            <a:endParaRPr lang="en-IN" sz="2400" dirty="0"/>
          </a:p>
        </p:txBody>
      </p:sp>
    </p:spTree>
    <p:extLst>
      <p:ext uri="{BB962C8B-B14F-4D97-AF65-F5344CB8AC3E}">
        <p14:creationId xmlns:p14="http://schemas.microsoft.com/office/powerpoint/2010/main" val="40679720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Weak Learner</a:t>
            </a:r>
          </a:p>
        </p:txBody>
      </p:sp>
      <p:sp>
        <p:nvSpPr>
          <p:cNvPr id="12" name="Content Placeholder 11">
            <a:extLst>
              <a:ext uri="{FF2B5EF4-FFF2-40B4-BE49-F238E27FC236}">
                <a16:creationId xmlns:a16="http://schemas.microsoft.com/office/drawing/2014/main" id="{DA2F98F5-EE91-49C3-8F40-9F4CD6AB8EB4}"/>
              </a:ext>
            </a:extLst>
          </p:cNvPr>
          <p:cNvSpPr>
            <a:spLocks noGrp="1"/>
          </p:cNvSpPr>
          <p:nvPr>
            <p:ph idx="1"/>
          </p:nvPr>
        </p:nvSpPr>
        <p:spPr>
          <a:xfrm>
            <a:off x="350196" y="1825625"/>
            <a:ext cx="11760740" cy="4545992"/>
          </a:xfrm>
        </p:spPr>
        <p:txBody>
          <a:bodyPr>
            <a:noAutofit/>
          </a:bodyPr>
          <a:lstStyle/>
          <a:p>
            <a:r>
              <a:rPr lang="en-US" sz="2000" dirty="0"/>
              <a:t>A weak learner is any machine learning algorithm that give better accuracy than simply guessing. </a:t>
            </a:r>
          </a:p>
          <a:p>
            <a:pPr marL="0" indent="0">
              <a:buNone/>
            </a:pPr>
            <a:endParaRPr lang="en-US" sz="2000" dirty="0"/>
          </a:p>
          <a:p>
            <a:r>
              <a:rPr lang="en-US" sz="2000" dirty="0"/>
              <a:t>For instance, you are trying to classify the animals at zoo and you might have algorithm that can correctly classify the zebras most of the time but it simply guesses for any other animals. </a:t>
            </a:r>
          </a:p>
          <a:p>
            <a:pPr marL="0" indent="0">
              <a:buNone/>
            </a:pPr>
            <a:endParaRPr lang="en-US" sz="2000" dirty="0"/>
          </a:p>
          <a:p>
            <a:r>
              <a:rPr lang="en-US" sz="2000" dirty="0"/>
              <a:t>This algorithm would be a weak learner because it is better than guessing. </a:t>
            </a:r>
          </a:p>
          <a:p>
            <a:pPr marL="0" indent="0">
              <a:buNone/>
            </a:pPr>
            <a:endParaRPr lang="en-US" sz="2000" dirty="0"/>
          </a:p>
          <a:p>
            <a:r>
              <a:rPr lang="en-US" sz="2000" dirty="0"/>
              <a:t>For boosting problem, the best kind of weak learners are the ones that are very accurate, even if it is only over a limited scope of problem. </a:t>
            </a:r>
          </a:p>
          <a:p>
            <a:pPr marL="0" indent="0">
              <a:buNone/>
            </a:pPr>
            <a:endParaRPr lang="en-US" sz="2000" dirty="0"/>
          </a:p>
          <a:p>
            <a:r>
              <a:rPr lang="en-US" sz="2000" dirty="0"/>
              <a:t>Here, we have an algorithm which will at least identify the zebras. So we will concentrate only on remaining animals. </a:t>
            </a:r>
            <a:endParaRPr lang="en-IN" sz="2000" dirty="0"/>
          </a:p>
        </p:txBody>
      </p:sp>
    </p:spTree>
    <p:extLst>
      <p:ext uri="{BB962C8B-B14F-4D97-AF65-F5344CB8AC3E}">
        <p14:creationId xmlns:p14="http://schemas.microsoft.com/office/powerpoint/2010/main" val="35895971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Regression Decision Tree</a:t>
            </a:r>
          </a:p>
        </p:txBody>
      </p:sp>
      <p:sp>
        <p:nvSpPr>
          <p:cNvPr id="12" name="Content Placeholder 11">
            <a:extLst>
              <a:ext uri="{FF2B5EF4-FFF2-40B4-BE49-F238E27FC236}">
                <a16:creationId xmlns:a16="http://schemas.microsoft.com/office/drawing/2014/main" id="{DA2F98F5-EE91-49C3-8F40-9F4CD6AB8EB4}"/>
              </a:ext>
            </a:extLst>
          </p:cNvPr>
          <p:cNvSpPr>
            <a:spLocks noGrp="1"/>
          </p:cNvSpPr>
          <p:nvPr>
            <p:ph idx="1"/>
          </p:nvPr>
        </p:nvSpPr>
        <p:spPr>
          <a:xfrm>
            <a:off x="350196" y="1825625"/>
            <a:ext cx="11760740" cy="4545992"/>
          </a:xfrm>
        </p:spPr>
        <p:txBody>
          <a:bodyPr>
            <a:noAutofit/>
          </a:bodyPr>
          <a:lstStyle/>
          <a:p>
            <a:r>
              <a:rPr lang="en-US" sz="2400" dirty="0"/>
              <a:t>Boosting algorithm uses decision tree regressor as their base. It will split the data which will form series of IF-THEN conditions. </a:t>
            </a:r>
          </a:p>
          <a:p>
            <a:pPr marL="0" indent="0">
              <a:buNone/>
            </a:pPr>
            <a:endParaRPr lang="en-US" sz="2400" dirty="0"/>
          </a:p>
          <a:p>
            <a:r>
              <a:rPr lang="en-US" sz="2400" dirty="0"/>
              <a:t>For a numeric response variable, these splits/partitions are done by minimizing the sum of square error. </a:t>
            </a:r>
          </a:p>
          <a:p>
            <a:pPr marL="0" indent="0">
              <a:buNone/>
            </a:pPr>
            <a:endParaRPr lang="en-US" sz="2400" dirty="0"/>
          </a:p>
          <a:p>
            <a:r>
              <a:rPr lang="en-US" sz="2400" dirty="0"/>
              <a:t>Each value of predictor variables can be potential splits and each split attempts to minimize the sum of squared error. </a:t>
            </a:r>
          </a:p>
          <a:p>
            <a:pPr marL="0" indent="0">
              <a:buNone/>
            </a:pPr>
            <a:endParaRPr lang="en-US" sz="2400" dirty="0"/>
          </a:p>
          <a:p>
            <a:r>
              <a:rPr lang="en-US" sz="2400" dirty="0"/>
              <a:t>It starts with mean of the variable and then calculate the error. If the error is there, it will start splitting into different groups. </a:t>
            </a:r>
            <a:endParaRPr lang="en-IN" sz="2400" dirty="0"/>
          </a:p>
        </p:txBody>
      </p:sp>
    </p:spTree>
    <p:extLst>
      <p:ext uri="{BB962C8B-B14F-4D97-AF65-F5344CB8AC3E}">
        <p14:creationId xmlns:p14="http://schemas.microsoft.com/office/powerpoint/2010/main" val="28546261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Regression Decision Tree</a:t>
            </a:r>
          </a:p>
        </p:txBody>
      </p:sp>
      <p:pic>
        <p:nvPicPr>
          <p:cNvPr id="6" name="Picture 5">
            <a:extLst>
              <a:ext uri="{FF2B5EF4-FFF2-40B4-BE49-F238E27FC236}">
                <a16:creationId xmlns:a16="http://schemas.microsoft.com/office/drawing/2014/main" id="{1458C36B-30AE-4491-BE79-CE9CB317708F}"/>
              </a:ext>
            </a:extLst>
          </p:cNvPr>
          <p:cNvPicPr>
            <a:picLocks noChangeAspect="1"/>
          </p:cNvPicPr>
          <p:nvPr/>
        </p:nvPicPr>
        <p:blipFill>
          <a:blip r:embed="rId2"/>
          <a:stretch>
            <a:fillRect/>
          </a:stretch>
        </p:blipFill>
        <p:spPr>
          <a:xfrm>
            <a:off x="716097" y="1546697"/>
            <a:ext cx="6453189" cy="5087566"/>
          </a:xfrm>
          <a:prstGeom prst="rect">
            <a:avLst/>
          </a:prstGeom>
        </p:spPr>
      </p:pic>
      <p:pic>
        <p:nvPicPr>
          <p:cNvPr id="8" name="Picture 7">
            <a:extLst>
              <a:ext uri="{FF2B5EF4-FFF2-40B4-BE49-F238E27FC236}">
                <a16:creationId xmlns:a16="http://schemas.microsoft.com/office/drawing/2014/main" id="{9826B849-9D3A-405C-A313-4BE0E5509ADB}"/>
              </a:ext>
            </a:extLst>
          </p:cNvPr>
          <p:cNvPicPr>
            <a:picLocks noChangeAspect="1"/>
          </p:cNvPicPr>
          <p:nvPr/>
        </p:nvPicPr>
        <p:blipFill>
          <a:blip r:embed="rId3"/>
          <a:stretch>
            <a:fillRect/>
          </a:stretch>
        </p:blipFill>
        <p:spPr>
          <a:xfrm>
            <a:off x="7256835" y="2633831"/>
            <a:ext cx="4854101" cy="2733675"/>
          </a:xfrm>
          <a:prstGeom prst="rect">
            <a:avLst/>
          </a:prstGeom>
        </p:spPr>
      </p:pic>
    </p:spTree>
    <p:extLst>
      <p:ext uri="{BB962C8B-B14F-4D97-AF65-F5344CB8AC3E}">
        <p14:creationId xmlns:p14="http://schemas.microsoft.com/office/powerpoint/2010/main" val="4012502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Regression Decision Tree</a:t>
            </a:r>
          </a:p>
        </p:txBody>
      </p:sp>
      <p:pic>
        <p:nvPicPr>
          <p:cNvPr id="3" name="Picture 2">
            <a:extLst>
              <a:ext uri="{FF2B5EF4-FFF2-40B4-BE49-F238E27FC236}">
                <a16:creationId xmlns:a16="http://schemas.microsoft.com/office/drawing/2014/main" id="{14FABD7C-CDE8-46AA-B635-2BDE559304FA}"/>
              </a:ext>
            </a:extLst>
          </p:cNvPr>
          <p:cNvPicPr>
            <a:picLocks noChangeAspect="1"/>
          </p:cNvPicPr>
          <p:nvPr/>
        </p:nvPicPr>
        <p:blipFill>
          <a:blip r:embed="rId2"/>
          <a:stretch>
            <a:fillRect/>
          </a:stretch>
        </p:blipFill>
        <p:spPr>
          <a:xfrm>
            <a:off x="244813" y="2673182"/>
            <a:ext cx="6305550" cy="1685925"/>
          </a:xfrm>
          <a:prstGeom prst="rect">
            <a:avLst/>
          </a:prstGeom>
        </p:spPr>
      </p:pic>
      <p:pic>
        <p:nvPicPr>
          <p:cNvPr id="9" name="Picture 8">
            <a:extLst>
              <a:ext uri="{FF2B5EF4-FFF2-40B4-BE49-F238E27FC236}">
                <a16:creationId xmlns:a16="http://schemas.microsoft.com/office/drawing/2014/main" id="{86F8A19D-8190-4A61-88E0-27B96DD28046}"/>
              </a:ext>
            </a:extLst>
          </p:cNvPr>
          <p:cNvPicPr>
            <a:picLocks noChangeAspect="1"/>
          </p:cNvPicPr>
          <p:nvPr/>
        </p:nvPicPr>
        <p:blipFill>
          <a:blip r:embed="rId3"/>
          <a:stretch>
            <a:fillRect/>
          </a:stretch>
        </p:blipFill>
        <p:spPr>
          <a:xfrm>
            <a:off x="6741166" y="1690688"/>
            <a:ext cx="5324475" cy="4362450"/>
          </a:xfrm>
          <a:prstGeom prst="rect">
            <a:avLst/>
          </a:prstGeom>
        </p:spPr>
      </p:pic>
    </p:spTree>
    <p:extLst>
      <p:ext uri="{BB962C8B-B14F-4D97-AF65-F5344CB8AC3E}">
        <p14:creationId xmlns:p14="http://schemas.microsoft.com/office/powerpoint/2010/main" val="10416755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Regression Decision Tree</a:t>
            </a:r>
          </a:p>
        </p:txBody>
      </p:sp>
      <p:pic>
        <p:nvPicPr>
          <p:cNvPr id="5" name="Picture 4">
            <a:extLst>
              <a:ext uri="{FF2B5EF4-FFF2-40B4-BE49-F238E27FC236}">
                <a16:creationId xmlns:a16="http://schemas.microsoft.com/office/drawing/2014/main" id="{DCB4D4AB-1645-48DD-99E3-D470155456C5}"/>
              </a:ext>
            </a:extLst>
          </p:cNvPr>
          <p:cNvPicPr>
            <a:picLocks noChangeAspect="1"/>
          </p:cNvPicPr>
          <p:nvPr/>
        </p:nvPicPr>
        <p:blipFill>
          <a:blip r:embed="rId2"/>
          <a:stretch>
            <a:fillRect/>
          </a:stretch>
        </p:blipFill>
        <p:spPr>
          <a:xfrm>
            <a:off x="2259096" y="1815525"/>
            <a:ext cx="7673807" cy="2503556"/>
          </a:xfrm>
          <a:prstGeom prst="rect">
            <a:avLst/>
          </a:prstGeom>
        </p:spPr>
      </p:pic>
      <p:pic>
        <p:nvPicPr>
          <p:cNvPr id="7" name="Picture 6">
            <a:extLst>
              <a:ext uri="{FF2B5EF4-FFF2-40B4-BE49-F238E27FC236}">
                <a16:creationId xmlns:a16="http://schemas.microsoft.com/office/drawing/2014/main" id="{AAF08132-A8FE-4383-89B8-E0698143ED90}"/>
              </a:ext>
            </a:extLst>
          </p:cNvPr>
          <p:cNvPicPr>
            <a:picLocks noChangeAspect="1"/>
          </p:cNvPicPr>
          <p:nvPr/>
        </p:nvPicPr>
        <p:blipFill>
          <a:blip r:embed="rId3"/>
          <a:stretch>
            <a:fillRect/>
          </a:stretch>
        </p:blipFill>
        <p:spPr>
          <a:xfrm>
            <a:off x="2259096" y="4319081"/>
            <a:ext cx="7673806" cy="2140085"/>
          </a:xfrm>
          <a:prstGeom prst="rect">
            <a:avLst/>
          </a:prstGeom>
        </p:spPr>
      </p:pic>
    </p:spTree>
    <p:extLst>
      <p:ext uri="{BB962C8B-B14F-4D97-AF65-F5344CB8AC3E}">
        <p14:creationId xmlns:p14="http://schemas.microsoft.com/office/powerpoint/2010/main" val="18138267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Regression Decision Tree</a:t>
            </a:r>
          </a:p>
        </p:txBody>
      </p:sp>
      <p:pic>
        <p:nvPicPr>
          <p:cNvPr id="3" name="Picture 2">
            <a:extLst>
              <a:ext uri="{FF2B5EF4-FFF2-40B4-BE49-F238E27FC236}">
                <a16:creationId xmlns:a16="http://schemas.microsoft.com/office/drawing/2014/main" id="{EF9430C9-921C-4ED1-800C-3816C004082A}"/>
              </a:ext>
            </a:extLst>
          </p:cNvPr>
          <p:cNvPicPr>
            <a:picLocks noChangeAspect="1"/>
          </p:cNvPicPr>
          <p:nvPr/>
        </p:nvPicPr>
        <p:blipFill>
          <a:blip r:embed="rId2"/>
          <a:stretch>
            <a:fillRect/>
          </a:stretch>
        </p:blipFill>
        <p:spPr>
          <a:xfrm>
            <a:off x="838200" y="1910269"/>
            <a:ext cx="5362575" cy="4457700"/>
          </a:xfrm>
          <a:prstGeom prst="rect">
            <a:avLst/>
          </a:prstGeom>
        </p:spPr>
      </p:pic>
      <p:pic>
        <p:nvPicPr>
          <p:cNvPr id="8" name="Picture 7">
            <a:extLst>
              <a:ext uri="{FF2B5EF4-FFF2-40B4-BE49-F238E27FC236}">
                <a16:creationId xmlns:a16="http://schemas.microsoft.com/office/drawing/2014/main" id="{F41E0309-240B-459C-AD01-7100B22F7C12}"/>
              </a:ext>
            </a:extLst>
          </p:cNvPr>
          <p:cNvPicPr>
            <a:picLocks noChangeAspect="1"/>
          </p:cNvPicPr>
          <p:nvPr/>
        </p:nvPicPr>
        <p:blipFill>
          <a:blip r:embed="rId3"/>
          <a:stretch>
            <a:fillRect/>
          </a:stretch>
        </p:blipFill>
        <p:spPr>
          <a:xfrm>
            <a:off x="6272111" y="3154194"/>
            <a:ext cx="5919889" cy="1485900"/>
          </a:xfrm>
          <a:prstGeom prst="rect">
            <a:avLst/>
          </a:prstGeom>
        </p:spPr>
      </p:pic>
    </p:spTree>
    <p:extLst>
      <p:ext uri="{BB962C8B-B14F-4D97-AF65-F5344CB8AC3E}">
        <p14:creationId xmlns:p14="http://schemas.microsoft.com/office/powerpoint/2010/main" val="24836596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Gradient Boosted Trees</a:t>
            </a:r>
          </a:p>
        </p:txBody>
      </p:sp>
      <p:pic>
        <p:nvPicPr>
          <p:cNvPr id="5" name="Picture 4">
            <a:extLst>
              <a:ext uri="{FF2B5EF4-FFF2-40B4-BE49-F238E27FC236}">
                <a16:creationId xmlns:a16="http://schemas.microsoft.com/office/drawing/2014/main" id="{F926F715-2C54-4AE2-A9BF-4CD02CD85494}"/>
              </a:ext>
            </a:extLst>
          </p:cNvPr>
          <p:cNvPicPr>
            <a:picLocks noChangeAspect="1"/>
          </p:cNvPicPr>
          <p:nvPr/>
        </p:nvPicPr>
        <p:blipFill>
          <a:blip r:embed="rId2"/>
          <a:stretch>
            <a:fillRect/>
          </a:stretch>
        </p:blipFill>
        <p:spPr>
          <a:xfrm>
            <a:off x="2538919" y="1556424"/>
            <a:ext cx="6449438" cy="5184843"/>
          </a:xfrm>
          <a:prstGeom prst="rect">
            <a:avLst/>
          </a:prstGeom>
        </p:spPr>
      </p:pic>
    </p:spTree>
    <p:extLst>
      <p:ext uri="{BB962C8B-B14F-4D97-AF65-F5344CB8AC3E}">
        <p14:creationId xmlns:p14="http://schemas.microsoft.com/office/powerpoint/2010/main" val="34941391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Gradient Boosted Trees</a:t>
            </a:r>
          </a:p>
        </p:txBody>
      </p:sp>
      <p:pic>
        <p:nvPicPr>
          <p:cNvPr id="3" name="Picture 2">
            <a:extLst>
              <a:ext uri="{FF2B5EF4-FFF2-40B4-BE49-F238E27FC236}">
                <a16:creationId xmlns:a16="http://schemas.microsoft.com/office/drawing/2014/main" id="{8594B33A-2B4D-4561-9539-77846A95A31F}"/>
              </a:ext>
            </a:extLst>
          </p:cNvPr>
          <p:cNvPicPr>
            <a:picLocks noChangeAspect="1"/>
          </p:cNvPicPr>
          <p:nvPr/>
        </p:nvPicPr>
        <p:blipFill>
          <a:blip r:embed="rId2"/>
          <a:stretch>
            <a:fillRect/>
          </a:stretch>
        </p:blipFill>
        <p:spPr>
          <a:xfrm>
            <a:off x="2587557" y="1536970"/>
            <a:ext cx="7179013" cy="5126477"/>
          </a:xfrm>
          <a:prstGeom prst="rect">
            <a:avLst/>
          </a:prstGeom>
        </p:spPr>
      </p:pic>
    </p:spTree>
    <p:extLst>
      <p:ext uri="{BB962C8B-B14F-4D97-AF65-F5344CB8AC3E}">
        <p14:creationId xmlns:p14="http://schemas.microsoft.com/office/powerpoint/2010/main" val="36515128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Gradient Boosted Trees</a:t>
            </a:r>
          </a:p>
        </p:txBody>
      </p:sp>
      <p:pic>
        <p:nvPicPr>
          <p:cNvPr id="5" name="Picture 4">
            <a:extLst>
              <a:ext uri="{FF2B5EF4-FFF2-40B4-BE49-F238E27FC236}">
                <a16:creationId xmlns:a16="http://schemas.microsoft.com/office/drawing/2014/main" id="{D9557B15-0EDF-4053-AA1C-360E062973E0}"/>
              </a:ext>
            </a:extLst>
          </p:cNvPr>
          <p:cNvPicPr>
            <a:picLocks noChangeAspect="1"/>
          </p:cNvPicPr>
          <p:nvPr/>
        </p:nvPicPr>
        <p:blipFill>
          <a:blip r:embed="rId2"/>
          <a:stretch>
            <a:fillRect/>
          </a:stretch>
        </p:blipFill>
        <p:spPr>
          <a:xfrm>
            <a:off x="2354095" y="2356626"/>
            <a:ext cx="7743216" cy="1152525"/>
          </a:xfrm>
          <a:prstGeom prst="rect">
            <a:avLst/>
          </a:prstGeom>
        </p:spPr>
      </p:pic>
      <p:pic>
        <p:nvPicPr>
          <p:cNvPr id="7" name="Picture 6">
            <a:extLst>
              <a:ext uri="{FF2B5EF4-FFF2-40B4-BE49-F238E27FC236}">
                <a16:creationId xmlns:a16="http://schemas.microsoft.com/office/drawing/2014/main" id="{E9947F2B-FD70-4AD7-A9EF-90D67722C956}"/>
              </a:ext>
            </a:extLst>
          </p:cNvPr>
          <p:cNvPicPr>
            <a:picLocks noChangeAspect="1"/>
          </p:cNvPicPr>
          <p:nvPr/>
        </p:nvPicPr>
        <p:blipFill>
          <a:blip r:embed="rId3"/>
          <a:stretch>
            <a:fillRect/>
          </a:stretch>
        </p:blipFill>
        <p:spPr>
          <a:xfrm>
            <a:off x="2354095" y="3429000"/>
            <a:ext cx="7743217" cy="2724150"/>
          </a:xfrm>
          <a:prstGeom prst="rect">
            <a:avLst/>
          </a:prstGeom>
        </p:spPr>
      </p:pic>
    </p:spTree>
    <p:extLst>
      <p:ext uri="{BB962C8B-B14F-4D97-AF65-F5344CB8AC3E}">
        <p14:creationId xmlns:p14="http://schemas.microsoft.com/office/powerpoint/2010/main" val="15200849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Gradient Boosted Trees</a:t>
            </a:r>
          </a:p>
        </p:txBody>
      </p:sp>
      <p:pic>
        <p:nvPicPr>
          <p:cNvPr id="3" name="Picture 2">
            <a:extLst>
              <a:ext uri="{FF2B5EF4-FFF2-40B4-BE49-F238E27FC236}">
                <a16:creationId xmlns:a16="http://schemas.microsoft.com/office/drawing/2014/main" id="{40EAD3E1-6A6D-4926-8C34-B295994B824B}"/>
              </a:ext>
            </a:extLst>
          </p:cNvPr>
          <p:cNvPicPr>
            <a:picLocks noChangeAspect="1"/>
          </p:cNvPicPr>
          <p:nvPr/>
        </p:nvPicPr>
        <p:blipFill>
          <a:blip r:embed="rId2"/>
          <a:stretch>
            <a:fillRect/>
          </a:stretch>
        </p:blipFill>
        <p:spPr>
          <a:xfrm>
            <a:off x="745180" y="2097914"/>
            <a:ext cx="5597254" cy="2958525"/>
          </a:xfrm>
          <a:prstGeom prst="rect">
            <a:avLst/>
          </a:prstGeom>
        </p:spPr>
      </p:pic>
      <p:pic>
        <p:nvPicPr>
          <p:cNvPr id="8" name="Picture 7">
            <a:extLst>
              <a:ext uri="{FF2B5EF4-FFF2-40B4-BE49-F238E27FC236}">
                <a16:creationId xmlns:a16="http://schemas.microsoft.com/office/drawing/2014/main" id="{60905BC9-B431-4602-B06E-C03548005810}"/>
              </a:ext>
            </a:extLst>
          </p:cNvPr>
          <p:cNvPicPr>
            <a:picLocks noChangeAspect="1"/>
          </p:cNvPicPr>
          <p:nvPr/>
        </p:nvPicPr>
        <p:blipFill>
          <a:blip r:embed="rId3"/>
          <a:stretch>
            <a:fillRect/>
          </a:stretch>
        </p:blipFill>
        <p:spPr>
          <a:xfrm>
            <a:off x="6527158" y="1434019"/>
            <a:ext cx="5324475" cy="4495800"/>
          </a:xfrm>
          <a:prstGeom prst="rect">
            <a:avLst/>
          </a:prstGeom>
        </p:spPr>
      </p:pic>
    </p:spTree>
    <p:extLst>
      <p:ext uri="{BB962C8B-B14F-4D97-AF65-F5344CB8AC3E}">
        <p14:creationId xmlns:p14="http://schemas.microsoft.com/office/powerpoint/2010/main" val="3067343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Gradient Boosted Trees</a:t>
            </a:r>
          </a:p>
        </p:txBody>
      </p:sp>
      <p:pic>
        <p:nvPicPr>
          <p:cNvPr id="5" name="Picture 4">
            <a:extLst>
              <a:ext uri="{FF2B5EF4-FFF2-40B4-BE49-F238E27FC236}">
                <a16:creationId xmlns:a16="http://schemas.microsoft.com/office/drawing/2014/main" id="{98AA6F84-E819-4EE2-B07D-8E2D4A8FEC2E}"/>
              </a:ext>
            </a:extLst>
          </p:cNvPr>
          <p:cNvPicPr>
            <a:picLocks noChangeAspect="1"/>
          </p:cNvPicPr>
          <p:nvPr/>
        </p:nvPicPr>
        <p:blipFill>
          <a:blip r:embed="rId2"/>
          <a:stretch>
            <a:fillRect/>
          </a:stretch>
        </p:blipFill>
        <p:spPr>
          <a:xfrm>
            <a:off x="2925796" y="1893651"/>
            <a:ext cx="6496050" cy="2895600"/>
          </a:xfrm>
          <a:prstGeom prst="rect">
            <a:avLst/>
          </a:prstGeom>
        </p:spPr>
      </p:pic>
      <p:pic>
        <p:nvPicPr>
          <p:cNvPr id="7" name="Picture 6">
            <a:extLst>
              <a:ext uri="{FF2B5EF4-FFF2-40B4-BE49-F238E27FC236}">
                <a16:creationId xmlns:a16="http://schemas.microsoft.com/office/drawing/2014/main" id="{4170C8A5-8930-4D6C-962A-A83720BE06C6}"/>
              </a:ext>
            </a:extLst>
          </p:cNvPr>
          <p:cNvPicPr>
            <a:picLocks noChangeAspect="1"/>
          </p:cNvPicPr>
          <p:nvPr/>
        </p:nvPicPr>
        <p:blipFill>
          <a:blip r:embed="rId3"/>
          <a:stretch>
            <a:fillRect/>
          </a:stretch>
        </p:blipFill>
        <p:spPr>
          <a:xfrm>
            <a:off x="2925796" y="4789251"/>
            <a:ext cx="5876925" cy="962025"/>
          </a:xfrm>
          <a:prstGeom prst="rect">
            <a:avLst/>
          </a:prstGeom>
        </p:spPr>
      </p:pic>
    </p:spTree>
    <p:extLst>
      <p:ext uri="{BB962C8B-B14F-4D97-AF65-F5344CB8AC3E}">
        <p14:creationId xmlns:p14="http://schemas.microsoft.com/office/powerpoint/2010/main" val="37389076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Gradient Boosted Trees</a:t>
            </a:r>
          </a:p>
        </p:txBody>
      </p:sp>
      <p:pic>
        <p:nvPicPr>
          <p:cNvPr id="3" name="Picture 2">
            <a:extLst>
              <a:ext uri="{FF2B5EF4-FFF2-40B4-BE49-F238E27FC236}">
                <a16:creationId xmlns:a16="http://schemas.microsoft.com/office/drawing/2014/main" id="{D2B1E637-1267-4918-AF4E-39EE35589BC9}"/>
              </a:ext>
            </a:extLst>
          </p:cNvPr>
          <p:cNvPicPr>
            <a:picLocks noChangeAspect="1"/>
          </p:cNvPicPr>
          <p:nvPr/>
        </p:nvPicPr>
        <p:blipFill>
          <a:blip r:embed="rId2"/>
          <a:stretch>
            <a:fillRect/>
          </a:stretch>
        </p:blipFill>
        <p:spPr>
          <a:xfrm>
            <a:off x="3017905" y="2316399"/>
            <a:ext cx="6467475" cy="3314700"/>
          </a:xfrm>
          <a:prstGeom prst="rect">
            <a:avLst/>
          </a:prstGeom>
        </p:spPr>
      </p:pic>
    </p:spTree>
    <p:extLst>
      <p:ext uri="{BB962C8B-B14F-4D97-AF65-F5344CB8AC3E}">
        <p14:creationId xmlns:p14="http://schemas.microsoft.com/office/powerpoint/2010/main" val="36940248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Gradient Boosted Trees</a:t>
            </a:r>
          </a:p>
        </p:txBody>
      </p:sp>
      <p:pic>
        <p:nvPicPr>
          <p:cNvPr id="5" name="Picture 4">
            <a:extLst>
              <a:ext uri="{FF2B5EF4-FFF2-40B4-BE49-F238E27FC236}">
                <a16:creationId xmlns:a16="http://schemas.microsoft.com/office/drawing/2014/main" id="{C141A3FF-726B-4F79-B0C2-BA37C488E8D4}"/>
              </a:ext>
            </a:extLst>
          </p:cNvPr>
          <p:cNvPicPr>
            <a:picLocks noChangeAspect="1"/>
          </p:cNvPicPr>
          <p:nvPr/>
        </p:nvPicPr>
        <p:blipFill>
          <a:blip r:embed="rId2"/>
          <a:stretch>
            <a:fillRect/>
          </a:stretch>
        </p:blipFill>
        <p:spPr>
          <a:xfrm>
            <a:off x="3066138" y="2706316"/>
            <a:ext cx="6429375" cy="2476500"/>
          </a:xfrm>
          <a:prstGeom prst="rect">
            <a:avLst/>
          </a:prstGeom>
        </p:spPr>
      </p:pic>
    </p:spTree>
    <p:extLst>
      <p:ext uri="{BB962C8B-B14F-4D97-AF65-F5344CB8AC3E}">
        <p14:creationId xmlns:p14="http://schemas.microsoft.com/office/powerpoint/2010/main" val="15587573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Gradient Boosted Trees</a:t>
            </a:r>
          </a:p>
        </p:txBody>
      </p:sp>
      <p:pic>
        <p:nvPicPr>
          <p:cNvPr id="3" name="Picture 2">
            <a:extLst>
              <a:ext uri="{FF2B5EF4-FFF2-40B4-BE49-F238E27FC236}">
                <a16:creationId xmlns:a16="http://schemas.microsoft.com/office/drawing/2014/main" id="{6079EC13-1395-47C8-977E-2784641722A5}"/>
              </a:ext>
            </a:extLst>
          </p:cNvPr>
          <p:cNvPicPr>
            <a:picLocks noChangeAspect="1"/>
          </p:cNvPicPr>
          <p:nvPr/>
        </p:nvPicPr>
        <p:blipFill>
          <a:blip r:embed="rId2"/>
          <a:stretch>
            <a:fillRect/>
          </a:stretch>
        </p:blipFill>
        <p:spPr>
          <a:xfrm>
            <a:off x="3000375" y="1488333"/>
            <a:ext cx="5890706" cy="5175116"/>
          </a:xfrm>
          <a:prstGeom prst="rect">
            <a:avLst/>
          </a:prstGeom>
        </p:spPr>
      </p:pic>
    </p:spTree>
    <p:extLst>
      <p:ext uri="{BB962C8B-B14F-4D97-AF65-F5344CB8AC3E}">
        <p14:creationId xmlns:p14="http://schemas.microsoft.com/office/powerpoint/2010/main" val="32467332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Gradient Boosted Trees</a:t>
            </a:r>
          </a:p>
        </p:txBody>
      </p:sp>
      <p:pic>
        <p:nvPicPr>
          <p:cNvPr id="5" name="Picture 4">
            <a:extLst>
              <a:ext uri="{FF2B5EF4-FFF2-40B4-BE49-F238E27FC236}">
                <a16:creationId xmlns:a16="http://schemas.microsoft.com/office/drawing/2014/main" id="{ACDB3B75-4AA6-4B7C-B779-5242FDAB430A}"/>
              </a:ext>
            </a:extLst>
          </p:cNvPr>
          <p:cNvPicPr>
            <a:picLocks noChangeAspect="1"/>
          </p:cNvPicPr>
          <p:nvPr/>
        </p:nvPicPr>
        <p:blipFill>
          <a:blip r:embed="rId2"/>
          <a:stretch>
            <a:fillRect/>
          </a:stretch>
        </p:blipFill>
        <p:spPr>
          <a:xfrm>
            <a:off x="604128" y="1543119"/>
            <a:ext cx="5886450" cy="771525"/>
          </a:xfrm>
          <a:prstGeom prst="rect">
            <a:avLst/>
          </a:prstGeom>
        </p:spPr>
      </p:pic>
      <p:pic>
        <p:nvPicPr>
          <p:cNvPr id="7" name="Picture 6">
            <a:extLst>
              <a:ext uri="{FF2B5EF4-FFF2-40B4-BE49-F238E27FC236}">
                <a16:creationId xmlns:a16="http://schemas.microsoft.com/office/drawing/2014/main" id="{CF8F66F4-72E1-4DC8-8F49-0FD127FE88B8}"/>
              </a:ext>
            </a:extLst>
          </p:cNvPr>
          <p:cNvPicPr>
            <a:picLocks noChangeAspect="1"/>
          </p:cNvPicPr>
          <p:nvPr/>
        </p:nvPicPr>
        <p:blipFill>
          <a:blip r:embed="rId3"/>
          <a:stretch>
            <a:fillRect/>
          </a:stretch>
        </p:blipFill>
        <p:spPr>
          <a:xfrm>
            <a:off x="604128" y="2314644"/>
            <a:ext cx="5886450" cy="4178231"/>
          </a:xfrm>
          <a:prstGeom prst="rect">
            <a:avLst/>
          </a:prstGeom>
        </p:spPr>
      </p:pic>
      <p:pic>
        <p:nvPicPr>
          <p:cNvPr id="9" name="Picture 8">
            <a:extLst>
              <a:ext uri="{FF2B5EF4-FFF2-40B4-BE49-F238E27FC236}">
                <a16:creationId xmlns:a16="http://schemas.microsoft.com/office/drawing/2014/main" id="{7D1A3937-B17B-4D9B-8598-DF7541BA4863}"/>
              </a:ext>
            </a:extLst>
          </p:cNvPr>
          <p:cNvPicPr>
            <a:picLocks noChangeAspect="1"/>
          </p:cNvPicPr>
          <p:nvPr/>
        </p:nvPicPr>
        <p:blipFill>
          <a:blip r:embed="rId4"/>
          <a:stretch>
            <a:fillRect/>
          </a:stretch>
        </p:blipFill>
        <p:spPr>
          <a:xfrm>
            <a:off x="6571642" y="2948327"/>
            <a:ext cx="5519839" cy="2400300"/>
          </a:xfrm>
          <a:prstGeom prst="rect">
            <a:avLst/>
          </a:prstGeom>
        </p:spPr>
      </p:pic>
    </p:spTree>
    <p:extLst>
      <p:ext uri="{BB962C8B-B14F-4D97-AF65-F5344CB8AC3E}">
        <p14:creationId xmlns:p14="http://schemas.microsoft.com/office/powerpoint/2010/main" val="37933966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Gradient Boosted Trees</a:t>
            </a:r>
          </a:p>
        </p:txBody>
      </p:sp>
      <p:pic>
        <p:nvPicPr>
          <p:cNvPr id="3" name="Picture 2">
            <a:extLst>
              <a:ext uri="{FF2B5EF4-FFF2-40B4-BE49-F238E27FC236}">
                <a16:creationId xmlns:a16="http://schemas.microsoft.com/office/drawing/2014/main" id="{02E5D2C4-C1DE-457F-9F81-47426E1EAD17}"/>
              </a:ext>
            </a:extLst>
          </p:cNvPr>
          <p:cNvPicPr>
            <a:picLocks noChangeAspect="1"/>
          </p:cNvPicPr>
          <p:nvPr/>
        </p:nvPicPr>
        <p:blipFill>
          <a:blip r:embed="rId2"/>
          <a:stretch>
            <a:fillRect/>
          </a:stretch>
        </p:blipFill>
        <p:spPr>
          <a:xfrm>
            <a:off x="2130357" y="2547330"/>
            <a:ext cx="8132323" cy="2880704"/>
          </a:xfrm>
          <a:prstGeom prst="rect">
            <a:avLst/>
          </a:prstGeom>
        </p:spPr>
      </p:pic>
    </p:spTree>
    <p:extLst>
      <p:ext uri="{BB962C8B-B14F-4D97-AF65-F5344CB8AC3E}">
        <p14:creationId xmlns:p14="http://schemas.microsoft.com/office/powerpoint/2010/main" val="24042247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Gradient Boosted Trees</a:t>
            </a:r>
          </a:p>
        </p:txBody>
      </p:sp>
      <p:pic>
        <p:nvPicPr>
          <p:cNvPr id="5" name="Picture 4">
            <a:extLst>
              <a:ext uri="{FF2B5EF4-FFF2-40B4-BE49-F238E27FC236}">
                <a16:creationId xmlns:a16="http://schemas.microsoft.com/office/drawing/2014/main" id="{99CE855C-16E9-498B-ACC4-A6F1C789C4DA}"/>
              </a:ext>
            </a:extLst>
          </p:cNvPr>
          <p:cNvPicPr>
            <a:picLocks noChangeAspect="1"/>
          </p:cNvPicPr>
          <p:nvPr/>
        </p:nvPicPr>
        <p:blipFill>
          <a:blip r:embed="rId2"/>
          <a:stretch>
            <a:fillRect/>
          </a:stretch>
        </p:blipFill>
        <p:spPr>
          <a:xfrm>
            <a:off x="2871787" y="1767697"/>
            <a:ext cx="6448425" cy="1571625"/>
          </a:xfrm>
          <a:prstGeom prst="rect">
            <a:avLst/>
          </a:prstGeom>
        </p:spPr>
      </p:pic>
      <p:pic>
        <p:nvPicPr>
          <p:cNvPr id="7" name="Picture 6">
            <a:extLst>
              <a:ext uri="{FF2B5EF4-FFF2-40B4-BE49-F238E27FC236}">
                <a16:creationId xmlns:a16="http://schemas.microsoft.com/office/drawing/2014/main" id="{4BDC4EAD-5235-460F-8302-7088BB0A05FA}"/>
              </a:ext>
            </a:extLst>
          </p:cNvPr>
          <p:cNvPicPr>
            <a:picLocks noChangeAspect="1"/>
          </p:cNvPicPr>
          <p:nvPr/>
        </p:nvPicPr>
        <p:blipFill>
          <a:blip r:embed="rId3"/>
          <a:stretch>
            <a:fillRect/>
          </a:stretch>
        </p:blipFill>
        <p:spPr>
          <a:xfrm>
            <a:off x="3492229" y="3518679"/>
            <a:ext cx="5207540" cy="3179022"/>
          </a:xfrm>
          <a:prstGeom prst="rect">
            <a:avLst/>
          </a:prstGeom>
        </p:spPr>
      </p:pic>
    </p:spTree>
    <p:extLst>
      <p:ext uri="{BB962C8B-B14F-4D97-AF65-F5344CB8AC3E}">
        <p14:creationId xmlns:p14="http://schemas.microsoft.com/office/powerpoint/2010/main" val="10477889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Gradient Boosted Trees</a:t>
            </a:r>
          </a:p>
        </p:txBody>
      </p:sp>
      <p:pic>
        <p:nvPicPr>
          <p:cNvPr id="3" name="Picture 2">
            <a:extLst>
              <a:ext uri="{FF2B5EF4-FFF2-40B4-BE49-F238E27FC236}">
                <a16:creationId xmlns:a16="http://schemas.microsoft.com/office/drawing/2014/main" id="{019227F6-FDDB-4AC8-AB24-CEAE53D36AD2}"/>
              </a:ext>
            </a:extLst>
          </p:cNvPr>
          <p:cNvPicPr>
            <a:picLocks noChangeAspect="1"/>
          </p:cNvPicPr>
          <p:nvPr/>
        </p:nvPicPr>
        <p:blipFill>
          <a:blip r:embed="rId2"/>
          <a:stretch>
            <a:fillRect/>
          </a:stretch>
        </p:blipFill>
        <p:spPr>
          <a:xfrm>
            <a:off x="2120630" y="2334638"/>
            <a:ext cx="7928041" cy="3424136"/>
          </a:xfrm>
          <a:prstGeom prst="rect">
            <a:avLst/>
          </a:prstGeom>
        </p:spPr>
      </p:pic>
    </p:spTree>
    <p:extLst>
      <p:ext uri="{BB962C8B-B14F-4D97-AF65-F5344CB8AC3E}">
        <p14:creationId xmlns:p14="http://schemas.microsoft.com/office/powerpoint/2010/main" val="13478518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Gradient Boosted Trees</a:t>
            </a:r>
          </a:p>
        </p:txBody>
      </p:sp>
      <p:pic>
        <p:nvPicPr>
          <p:cNvPr id="5" name="Picture 4">
            <a:extLst>
              <a:ext uri="{FF2B5EF4-FFF2-40B4-BE49-F238E27FC236}">
                <a16:creationId xmlns:a16="http://schemas.microsoft.com/office/drawing/2014/main" id="{B5A78A5A-81B8-4ABD-86A2-F397857214C1}"/>
              </a:ext>
            </a:extLst>
          </p:cNvPr>
          <p:cNvPicPr>
            <a:picLocks noChangeAspect="1"/>
          </p:cNvPicPr>
          <p:nvPr/>
        </p:nvPicPr>
        <p:blipFill>
          <a:blip r:embed="rId2"/>
          <a:stretch>
            <a:fillRect/>
          </a:stretch>
        </p:blipFill>
        <p:spPr>
          <a:xfrm>
            <a:off x="2991864" y="1690688"/>
            <a:ext cx="6346690" cy="1738311"/>
          </a:xfrm>
          <a:prstGeom prst="rect">
            <a:avLst/>
          </a:prstGeom>
        </p:spPr>
      </p:pic>
      <p:pic>
        <p:nvPicPr>
          <p:cNvPr id="7" name="Picture 6">
            <a:extLst>
              <a:ext uri="{FF2B5EF4-FFF2-40B4-BE49-F238E27FC236}">
                <a16:creationId xmlns:a16="http://schemas.microsoft.com/office/drawing/2014/main" id="{F29FE047-4DB3-479D-8401-63C2094E7F01}"/>
              </a:ext>
            </a:extLst>
          </p:cNvPr>
          <p:cNvPicPr>
            <a:picLocks noChangeAspect="1"/>
          </p:cNvPicPr>
          <p:nvPr/>
        </p:nvPicPr>
        <p:blipFill>
          <a:blip r:embed="rId3"/>
          <a:stretch>
            <a:fillRect/>
          </a:stretch>
        </p:blipFill>
        <p:spPr>
          <a:xfrm>
            <a:off x="3959158" y="3537929"/>
            <a:ext cx="4737370" cy="3258766"/>
          </a:xfrm>
          <a:prstGeom prst="rect">
            <a:avLst/>
          </a:prstGeom>
        </p:spPr>
      </p:pic>
    </p:spTree>
    <p:extLst>
      <p:ext uri="{BB962C8B-B14F-4D97-AF65-F5344CB8AC3E}">
        <p14:creationId xmlns:p14="http://schemas.microsoft.com/office/powerpoint/2010/main" val="32843861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Gradient Boosted Trees</a:t>
            </a:r>
          </a:p>
        </p:txBody>
      </p:sp>
      <p:pic>
        <p:nvPicPr>
          <p:cNvPr id="3" name="Picture 2">
            <a:extLst>
              <a:ext uri="{FF2B5EF4-FFF2-40B4-BE49-F238E27FC236}">
                <a16:creationId xmlns:a16="http://schemas.microsoft.com/office/drawing/2014/main" id="{EA7DD2D2-4107-49FA-8F27-4C05C0B5482B}"/>
              </a:ext>
            </a:extLst>
          </p:cNvPr>
          <p:cNvPicPr>
            <a:picLocks noChangeAspect="1"/>
          </p:cNvPicPr>
          <p:nvPr/>
        </p:nvPicPr>
        <p:blipFill>
          <a:blip r:embed="rId2"/>
          <a:stretch>
            <a:fillRect/>
          </a:stretch>
        </p:blipFill>
        <p:spPr>
          <a:xfrm>
            <a:off x="3006961" y="1690688"/>
            <a:ext cx="6353175" cy="1524000"/>
          </a:xfrm>
          <a:prstGeom prst="rect">
            <a:avLst/>
          </a:prstGeom>
        </p:spPr>
      </p:pic>
      <p:pic>
        <p:nvPicPr>
          <p:cNvPr id="8" name="Picture 7">
            <a:extLst>
              <a:ext uri="{FF2B5EF4-FFF2-40B4-BE49-F238E27FC236}">
                <a16:creationId xmlns:a16="http://schemas.microsoft.com/office/drawing/2014/main" id="{7C93175D-395C-422D-A7BB-C0C0E40246D5}"/>
              </a:ext>
            </a:extLst>
          </p:cNvPr>
          <p:cNvPicPr>
            <a:picLocks noChangeAspect="1"/>
          </p:cNvPicPr>
          <p:nvPr/>
        </p:nvPicPr>
        <p:blipFill>
          <a:blip r:embed="rId3"/>
          <a:stretch>
            <a:fillRect/>
          </a:stretch>
        </p:blipFill>
        <p:spPr>
          <a:xfrm>
            <a:off x="3692255" y="3341722"/>
            <a:ext cx="5391150" cy="3448861"/>
          </a:xfrm>
          <a:prstGeom prst="rect">
            <a:avLst/>
          </a:prstGeom>
        </p:spPr>
      </p:pic>
    </p:spTree>
    <p:extLst>
      <p:ext uri="{BB962C8B-B14F-4D97-AF65-F5344CB8AC3E}">
        <p14:creationId xmlns:p14="http://schemas.microsoft.com/office/powerpoint/2010/main" val="17125088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Gradient Boosted Trees</a:t>
            </a:r>
          </a:p>
        </p:txBody>
      </p:sp>
      <p:pic>
        <p:nvPicPr>
          <p:cNvPr id="3" name="Picture 2">
            <a:extLst>
              <a:ext uri="{FF2B5EF4-FFF2-40B4-BE49-F238E27FC236}">
                <a16:creationId xmlns:a16="http://schemas.microsoft.com/office/drawing/2014/main" id="{18DEB5D4-4828-4741-BA38-76632B692B7F}"/>
              </a:ext>
            </a:extLst>
          </p:cNvPr>
          <p:cNvPicPr>
            <a:picLocks noChangeAspect="1"/>
          </p:cNvPicPr>
          <p:nvPr/>
        </p:nvPicPr>
        <p:blipFill>
          <a:blip r:embed="rId2"/>
          <a:stretch>
            <a:fillRect/>
          </a:stretch>
        </p:blipFill>
        <p:spPr>
          <a:xfrm>
            <a:off x="2480554" y="1690688"/>
            <a:ext cx="6819090" cy="5079763"/>
          </a:xfrm>
          <a:prstGeom prst="rect">
            <a:avLst/>
          </a:prstGeom>
        </p:spPr>
      </p:pic>
    </p:spTree>
    <p:extLst>
      <p:ext uri="{BB962C8B-B14F-4D97-AF65-F5344CB8AC3E}">
        <p14:creationId xmlns:p14="http://schemas.microsoft.com/office/powerpoint/2010/main" val="14714014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Gradient Boosted Trees</a:t>
            </a:r>
          </a:p>
        </p:txBody>
      </p:sp>
      <p:pic>
        <p:nvPicPr>
          <p:cNvPr id="5" name="Picture 4">
            <a:extLst>
              <a:ext uri="{FF2B5EF4-FFF2-40B4-BE49-F238E27FC236}">
                <a16:creationId xmlns:a16="http://schemas.microsoft.com/office/drawing/2014/main" id="{388D125B-8C12-4EE4-A570-068AF6D73800}"/>
              </a:ext>
            </a:extLst>
          </p:cNvPr>
          <p:cNvPicPr>
            <a:picLocks noChangeAspect="1"/>
          </p:cNvPicPr>
          <p:nvPr/>
        </p:nvPicPr>
        <p:blipFill>
          <a:blip r:embed="rId2"/>
          <a:stretch>
            <a:fillRect/>
          </a:stretch>
        </p:blipFill>
        <p:spPr>
          <a:xfrm>
            <a:off x="838200" y="1646914"/>
            <a:ext cx="3952875" cy="419100"/>
          </a:xfrm>
          <a:prstGeom prst="rect">
            <a:avLst/>
          </a:prstGeom>
        </p:spPr>
      </p:pic>
      <p:pic>
        <p:nvPicPr>
          <p:cNvPr id="7" name="Picture 6">
            <a:extLst>
              <a:ext uri="{FF2B5EF4-FFF2-40B4-BE49-F238E27FC236}">
                <a16:creationId xmlns:a16="http://schemas.microsoft.com/office/drawing/2014/main" id="{42FF4FD3-4E8F-4DF6-8EAA-B8178B12F7BB}"/>
              </a:ext>
            </a:extLst>
          </p:cNvPr>
          <p:cNvPicPr>
            <a:picLocks noChangeAspect="1"/>
          </p:cNvPicPr>
          <p:nvPr/>
        </p:nvPicPr>
        <p:blipFill>
          <a:blip r:embed="rId3"/>
          <a:stretch>
            <a:fillRect/>
          </a:stretch>
        </p:blipFill>
        <p:spPr>
          <a:xfrm>
            <a:off x="3557486" y="2189027"/>
            <a:ext cx="5460054" cy="4484147"/>
          </a:xfrm>
          <a:prstGeom prst="rect">
            <a:avLst/>
          </a:prstGeom>
        </p:spPr>
      </p:pic>
    </p:spTree>
    <p:extLst>
      <p:ext uri="{BB962C8B-B14F-4D97-AF65-F5344CB8AC3E}">
        <p14:creationId xmlns:p14="http://schemas.microsoft.com/office/powerpoint/2010/main" val="23269717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Gradient Boosted Trees</a:t>
            </a:r>
          </a:p>
        </p:txBody>
      </p:sp>
      <p:pic>
        <p:nvPicPr>
          <p:cNvPr id="3" name="Picture 2">
            <a:extLst>
              <a:ext uri="{FF2B5EF4-FFF2-40B4-BE49-F238E27FC236}">
                <a16:creationId xmlns:a16="http://schemas.microsoft.com/office/drawing/2014/main" id="{1AE6AED9-7A20-4A51-A4D9-2701E4B1563A}"/>
              </a:ext>
            </a:extLst>
          </p:cNvPr>
          <p:cNvPicPr>
            <a:picLocks noChangeAspect="1"/>
          </p:cNvPicPr>
          <p:nvPr/>
        </p:nvPicPr>
        <p:blipFill>
          <a:blip r:embed="rId2"/>
          <a:stretch>
            <a:fillRect/>
          </a:stretch>
        </p:blipFill>
        <p:spPr>
          <a:xfrm>
            <a:off x="838200" y="1519238"/>
            <a:ext cx="5305425" cy="342900"/>
          </a:xfrm>
          <a:prstGeom prst="rect">
            <a:avLst/>
          </a:prstGeom>
        </p:spPr>
      </p:pic>
      <p:pic>
        <p:nvPicPr>
          <p:cNvPr id="8" name="Picture 7">
            <a:extLst>
              <a:ext uri="{FF2B5EF4-FFF2-40B4-BE49-F238E27FC236}">
                <a16:creationId xmlns:a16="http://schemas.microsoft.com/office/drawing/2014/main" id="{47C6F068-7783-40BD-9902-3C1FBFBCFF51}"/>
              </a:ext>
            </a:extLst>
          </p:cNvPr>
          <p:cNvPicPr>
            <a:picLocks noChangeAspect="1"/>
          </p:cNvPicPr>
          <p:nvPr/>
        </p:nvPicPr>
        <p:blipFill>
          <a:blip r:embed="rId3"/>
          <a:stretch>
            <a:fillRect/>
          </a:stretch>
        </p:blipFill>
        <p:spPr>
          <a:xfrm>
            <a:off x="3419475" y="1994373"/>
            <a:ext cx="5448300" cy="4630163"/>
          </a:xfrm>
          <a:prstGeom prst="rect">
            <a:avLst/>
          </a:prstGeom>
        </p:spPr>
      </p:pic>
    </p:spTree>
    <p:extLst>
      <p:ext uri="{BB962C8B-B14F-4D97-AF65-F5344CB8AC3E}">
        <p14:creationId xmlns:p14="http://schemas.microsoft.com/office/powerpoint/2010/main" val="15367083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Gradient Boosted Trees</a:t>
            </a:r>
          </a:p>
        </p:txBody>
      </p:sp>
      <p:pic>
        <p:nvPicPr>
          <p:cNvPr id="5" name="Picture 4">
            <a:extLst>
              <a:ext uri="{FF2B5EF4-FFF2-40B4-BE49-F238E27FC236}">
                <a16:creationId xmlns:a16="http://schemas.microsoft.com/office/drawing/2014/main" id="{CC86319D-71E1-4865-B5F4-6DFBE6EA9C33}"/>
              </a:ext>
            </a:extLst>
          </p:cNvPr>
          <p:cNvPicPr>
            <a:picLocks noChangeAspect="1"/>
          </p:cNvPicPr>
          <p:nvPr/>
        </p:nvPicPr>
        <p:blipFill>
          <a:blip r:embed="rId2"/>
          <a:stretch>
            <a:fillRect/>
          </a:stretch>
        </p:blipFill>
        <p:spPr>
          <a:xfrm>
            <a:off x="2986392" y="1690687"/>
            <a:ext cx="6303524" cy="4914393"/>
          </a:xfrm>
          <a:prstGeom prst="rect">
            <a:avLst/>
          </a:prstGeom>
        </p:spPr>
      </p:pic>
    </p:spTree>
    <p:extLst>
      <p:ext uri="{BB962C8B-B14F-4D97-AF65-F5344CB8AC3E}">
        <p14:creationId xmlns:p14="http://schemas.microsoft.com/office/powerpoint/2010/main" val="22728671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330197" y="2025423"/>
            <a:ext cx="9144000" cy="2092745"/>
          </a:xfrm>
        </p:spPr>
        <p:txBody>
          <a:bodyPr>
            <a:noAutofit/>
          </a:bodyPr>
          <a:lstStyle/>
          <a:p>
            <a:r>
              <a:rPr lang="en-US" sz="8000" dirty="0">
                <a:solidFill>
                  <a:srgbClr val="FFFF00"/>
                </a:solidFill>
                <a:highlight>
                  <a:srgbClr val="FF0000"/>
                </a:highlight>
              </a:rPr>
              <a:t>DEMO</a:t>
            </a:r>
          </a:p>
        </p:txBody>
      </p:sp>
    </p:spTree>
    <p:extLst>
      <p:ext uri="{BB962C8B-B14F-4D97-AF65-F5344CB8AC3E}">
        <p14:creationId xmlns:p14="http://schemas.microsoft.com/office/powerpoint/2010/main" val="29060305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Q&amp;A</a:t>
            </a:r>
          </a:p>
        </p:txBody>
      </p:sp>
    </p:spTree>
    <p:extLst>
      <p:ext uri="{BB962C8B-B14F-4D97-AF65-F5344CB8AC3E}">
        <p14:creationId xmlns:p14="http://schemas.microsoft.com/office/powerpoint/2010/main" val="32958331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2502</TotalTime>
  <Words>678</Words>
  <Application>Microsoft Office PowerPoint</Application>
  <PresentationFormat>Widescreen</PresentationFormat>
  <Paragraphs>81</Paragraphs>
  <Slides>33</Slides>
  <Notes>0</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33</vt:i4>
      </vt:variant>
    </vt:vector>
  </HeadingPairs>
  <TitlesOfParts>
    <vt:vector size="38" baseType="lpstr">
      <vt:lpstr>Arial</vt:lpstr>
      <vt:lpstr>Calibri</vt:lpstr>
      <vt:lpstr>Calibri Light</vt:lpstr>
      <vt:lpstr>Office Theme</vt:lpstr>
      <vt:lpstr>1_Office Theme</vt:lpstr>
      <vt:lpstr>Gradient Boosting (XGBOOST) Tree</vt:lpstr>
      <vt:lpstr>Introduction to Gradient Boosting</vt:lpstr>
      <vt:lpstr>Introduction to Gradient Boosting</vt:lpstr>
      <vt:lpstr>Introduction to Gradient Boosting</vt:lpstr>
      <vt:lpstr>Introduction to Gradient Boosting</vt:lpstr>
      <vt:lpstr>Introduction to Gradient Boosting</vt:lpstr>
      <vt:lpstr>Introduction to Gradient Boosting</vt:lpstr>
      <vt:lpstr>Weak Learner</vt:lpstr>
      <vt:lpstr>Regression Decision Tree</vt:lpstr>
      <vt:lpstr>Regression Decision Tree</vt:lpstr>
      <vt:lpstr>Regression Decision Tree</vt:lpstr>
      <vt:lpstr>Regression Decision Tree</vt:lpstr>
      <vt:lpstr>Regression Decision Tree</vt:lpstr>
      <vt:lpstr>Gradient Boosted Trees</vt:lpstr>
      <vt:lpstr>Gradient Boosted Trees</vt:lpstr>
      <vt:lpstr>Gradient Boosted Trees</vt:lpstr>
      <vt:lpstr>Gradient Boosted Trees</vt:lpstr>
      <vt:lpstr>Gradient Boosted Trees</vt:lpstr>
      <vt:lpstr>Gradient Boosted Trees</vt:lpstr>
      <vt:lpstr>Gradient Boosted Trees</vt:lpstr>
      <vt:lpstr>Gradient Boosted Trees</vt:lpstr>
      <vt:lpstr>Gradient Boosted Trees</vt:lpstr>
      <vt:lpstr>Gradient Boosted Trees</vt:lpstr>
      <vt:lpstr>Gradient Boosted Trees</vt:lpstr>
      <vt:lpstr>Gradient Boosted Trees</vt:lpstr>
      <vt:lpstr>Gradient Boosted Trees</vt:lpstr>
      <vt:lpstr>Gradient Boosted Trees</vt:lpstr>
      <vt:lpstr>Gradient Boosted Trees</vt:lpstr>
      <vt:lpstr>Gradient Boosted Trees</vt:lpstr>
      <vt:lpstr>Gradient Boosted Trees</vt:lpstr>
      <vt:lpstr>Gradient Boosted Trees</vt:lpstr>
      <vt:lpstr>DEMO</vt:lpstr>
      <vt:lpstr>Q&amp;A</vt:lpstr>
    </vt:vector>
  </TitlesOfParts>
  <Company>SAS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Analysis by using SAS (Demo)</dc:title>
  <dc:creator>Urvish Shah</dc:creator>
  <cp:lastModifiedBy>Urvish Shah</cp:lastModifiedBy>
  <cp:revision>935</cp:revision>
  <dcterms:created xsi:type="dcterms:W3CDTF">2015-11-18T16:05:43Z</dcterms:created>
  <dcterms:modified xsi:type="dcterms:W3CDTF">2020-08-25T04:51:27Z</dcterms:modified>
</cp:coreProperties>
</file>